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
  </p:notesMasterIdLst>
  <p:sldIdLst>
    <p:sldId id="256" r:id="rId6"/>
  </p:sldIdLst>
  <p:sldSz cx="43891200" cy="34747200"/>
  <p:notesSz cx="6858000" cy="9144000"/>
  <p:embeddedFontLst>
    <p:embeddedFont>
      <p:font typeface="Cambria Bold" charset="1" panose="02040803050406030204"/>
      <p:regular r:id="rId10"/>
    </p:embeddedFont>
    <p:embeddedFont>
      <p:font typeface="Calibri (MS)" charset="1" panose="020F0502020204030204"/>
      <p:regular r:id="rId11"/>
    </p:embeddedFont>
    <p:embeddedFont>
      <p:font typeface="Calibri (MS) Bold" charset="1" panose="020F0702030404030204"/>
      <p:regular r:id="rId12"/>
    </p:embeddedFont>
    <p:embeddedFont>
      <p:font typeface="Cambria Italics" charset="1" panose="020405030504060A0204"/>
      <p:regular r:id="rId13"/>
    </p:embeddedFont>
    <p:embeddedFont>
      <p:font typeface="Calibri (MS) Italics" charset="1" panose="020F05020202040A0204"/>
      <p:regular r:id="rId14"/>
    </p:embeddedFont>
    <p:embeddedFont>
      <p:font typeface="Guild A Display" charset="1" panose="00000000000000000000"/>
      <p:regular r:id="rId15"/>
    </p:embeddedFont>
    <p:embeddedFont>
      <p:font typeface="Guild A Display Bold"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10.png" Type="http://schemas.openxmlformats.org/officeDocument/2006/relationships/image"/><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8FB"/>
        </a:solidFill>
      </p:bgPr>
    </p:bg>
    <p:spTree>
      <p:nvGrpSpPr>
        <p:cNvPr id="1" name=""/>
        <p:cNvGrpSpPr/>
        <p:nvPr/>
      </p:nvGrpSpPr>
      <p:grpSpPr>
        <a:xfrm>
          <a:off x="0" y="0"/>
          <a:ext cx="0" cy="0"/>
          <a:chOff x="0" y="0"/>
          <a:chExt cx="0" cy="0"/>
        </a:xfrm>
      </p:grpSpPr>
      <p:grpSp>
        <p:nvGrpSpPr>
          <p:cNvPr name="Group 2" id="2"/>
          <p:cNvGrpSpPr/>
          <p:nvPr/>
        </p:nvGrpSpPr>
        <p:grpSpPr>
          <a:xfrm rot="0">
            <a:off x="0" y="0"/>
            <a:ext cx="43891200" cy="3200400"/>
            <a:chOff x="0" y="0"/>
            <a:chExt cx="58521600" cy="4267200"/>
          </a:xfrm>
        </p:grpSpPr>
        <p:sp>
          <p:nvSpPr>
            <p:cNvPr name="Freeform 3" id="3"/>
            <p:cNvSpPr/>
            <p:nvPr/>
          </p:nvSpPr>
          <p:spPr>
            <a:xfrm flipH="false" flipV="false" rot="0">
              <a:off x="0" y="0"/>
              <a:ext cx="58521600" cy="4267200"/>
            </a:xfrm>
            <a:custGeom>
              <a:avLst/>
              <a:gdLst/>
              <a:ahLst/>
              <a:cxnLst/>
              <a:rect r="r" b="b" t="t" l="l"/>
              <a:pathLst>
                <a:path h="4267200" w="58521600">
                  <a:moveTo>
                    <a:pt x="0" y="0"/>
                  </a:moveTo>
                  <a:lnTo>
                    <a:pt x="58521600" y="0"/>
                  </a:lnTo>
                  <a:lnTo>
                    <a:pt x="58521600" y="4267200"/>
                  </a:lnTo>
                  <a:lnTo>
                    <a:pt x="0" y="4267200"/>
                  </a:lnTo>
                  <a:close/>
                </a:path>
              </a:pathLst>
            </a:custGeom>
            <a:solidFill>
              <a:srgbClr val="B9A9D6"/>
            </a:solidFill>
          </p:spPr>
        </p:sp>
      </p:grpSp>
      <p:grpSp>
        <p:nvGrpSpPr>
          <p:cNvPr name="Group 4" id="4"/>
          <p:cNvGrpSpPr/>
          <p:nvPr/>
        </p:nvGrpSpPr>
        <p:grpSpPr>
          <a:xfrm rot="0">
            <a:off x="0" y="3200400"/>
            <a:ext cx="43891200" cy="82296"/>
            <a:chOff x="0" y="0"/>
            <a:chExt cx="58521600" cy="109728"/>
          </a:xfrm>
        </p:grpSpPr>
        <p:sp>
          <p:nvSpPr>
            <p:cNvPr name="Freeform 5" id="5"/>
            <p:cNvSpPr/>
            <p:nvPr/>
          </p:nvSpPr>
          <p:spPr>
            <a:xfrm flipH="false" flipV="false" rot="0">
              <a:off x="0" y="0"/>
              <a:ext cx="58521600" cy="109728"/>
            </a:xfrm>
            <a:custGeom>
              <a:avLst/>
              <a:gdLst/>
              <a:ahLst/>
              <a:cxnLst/>
              <a:rect r="r" b="b" t="t" l="l"/>
              <a:pathLst>
                <a:path h="109728" w="58521600">
                  <a:moveTo>
                    <a:pt x="0" y="0"/>
                  </a:moveTo>
                  <a:lnTo>
                    <a:pt x="58521600" y="0"/>
                  </a:lnTo>
                  <a:lnTo>
                    <a:pt x="58521600" y="109728"/>
                  </a:lnTo>
                  <a:lnTo>
                    <a:pt x="0" y="109728"/>
                  </a:lnTo>
                  <a:close/>
                </a:path>
              </a:pathLst>
            </a:custGeom>
            <a:solidFill>
              <a:srgbClr val="C98A0A"/>
            </a:solidFill>
          </p:spPr>
        </p:sp>
      </p:grpSp>
      <p:grpSp>
        <p:nvGrpSpPr>
          <p:cNvPr name="Group 6" id="6"/>
          <p:cNvGrpSpPr/>
          <p:nvPr/>
        </p:nvGrpSpPr>
        <p:grpSpPr>
          <a:xfrm rot="0">
            <a:off x="496567" y="-271183"/>
            <a:ext cx="42519600" cy="3889554"/>
            <a:chOff x="0" y="0"/>
            <a:chExt cx="56692800" cy="5186072"/>
          </a:xfrm>
        </p:grpSpPr>
        <p:sp>
          <p:nvSpPr>
            <p:cNvPr name="Freeform 7" id="7"/>
            <p:cNvSpPr/>
            <p:nvPr/>
          </p:nvSpPr>
          <p:spPr>
            <a:xfrm flipH="false" flipV="false" rot="0">
              <a:off x="0" y="0"/>
              <a:ext cx="56692800" cy="5186073"/>
            </a:xfrm>
            <a:custGeom>
              <a:avLst/>
              <a:gdLst/>
              <a:ahLst/>
              <a:cxnLst/>
              <a:rect r="r" b="b" t="t" l="l"/>
              <a:pathLst>
                <a:path h="5186073" w="56692800">
                  <a:moveTo>
                    <a:pt x="0" y="0"/>
                  </a:moveTo>
                  <a:lnTo>
                    <a:pt x="56692800" y="0"/>
                  </a:lnTo>
                  <a:lnTo>
                    <a:pt x="56692800" y="5186073"/>
                  </a:lnTo>
                  <a:lnTo>
                    <a:pt x="0" y="5186073"/>
                  </a:lnTo>
                  <a:close/>
                </a:path>
              </a:pathLst>
            </a:custGeom>
            <a:blipFill>
              <a:blip r:embed="rId3">
                <a:alphaModFix amt="0"/>
              </a:blip>
              <a:stretch>
                <a:fillRect l="0" t="-126480" r="29032" b="-75849"/>
              </a:stretch>
            </a:blipFill>
          </p:spPr>
        </p:sp>
        <p:sp>
          <p:nvSpPr>
            <p:cNvPr name="TextBox 8" id="8"/>
            <p:cNvSpPr txBox="true"/>
            <p:nvPr/>
          </p:nvSpPr>
          <p:spPr>
            <a:xfrm>
              <a:off x="0" y="0"/>
              <a:ext cx="56692800" cy="5186072"/>
            </a:xfrm>
            <a:prstGeom prst="rect">
              <a:avLst/>
            </a:prstGeom>
          </p:spPr>
          <p:txBody>
            <a:bodyPr anchor="ctr" rtlCol="false" tIns="0" lIns="0" bIns="0" rIns="0"/>
            <a:lstStyle/>
            <a:p>
              <a:pPr algn="ctr">
                <a:lnSpc>
                  <a:spcPts val="6235"/>
                </a:lnSpc>
              </a:pPr>
              <a:r>
                <a:rPr lang="en-US" b="true" sz="5299">
                  <a:solidFill>
                    <a:srgbClr val="000000"/>
                  </a:solidFill>
                  <a:latin typeface="Cambria Bold"/>
                  <a:ea typeface="Cambria Bold"/>
                  <a:cs typeface="Cambria Bold"/>
                  <a:sym typeface="Cambria Bold"/>
                </a:rPr>
                <a:t>STATISTICAL ANALYSIS OF EMPLOYEE SALARY DATA USING MEAN AND VARIANCE</a:t>
              </a:r>
            </a:p>
          </p:txBody>
        </p:sp>
      </p:grpSp>
      <p:grpSp>
        <p:nvGrpSpPr>
          <p:cNvPr name="Group 9" id="9"/>
          <p:cNvGrpSpPr/>
          <p:nvPr/>
        </p:nvGrpSpPr>
        <p:grpSpPr>
          <a:xfrm rot="0">
            <a:off x="542287" y="3651247"/>
            <a:ext cx="10253977" cy="5087617"/>
            <a:chOff x="0" y="0"/>
            <a:chExt cx="13671969" cy="6783489"/>
          </a:xfrm>
        </p:grpSpPr>
        <p:sp>
          <p:nvSpPr>
            <p:cNvPr name="Freeform 10" id="10"/>
            <p:cNvSpPr/>
            <p:nvPr/>
          </p:nvSpPr>
          <p:spPr>
            <a:xfrm flipH="false" flipV="false" rot="0">
              <a:off x="0" y="0"/>
              <a:ext cx="13671931" cy="6783450"/>
            </a:xfrm>
            <a:custGeom>
              <a:avLst/>
              <a:gdLst/>
              <a:ahLst/>
              <a:cxnLst/>
              <a:rect r="r" b="b" t="t" l="l"/>
              <a:pathLst>
                <a:path h="6783450" w="13671931">
                  <a:moveTo>
                    <a:pt x="0" y="109982"/>
                  </a:moveTo>
                  <a:cubicBezTo>
                    <a:pt x="0" y="49276"/>
                    <a:pt x="49276" y="0"/>
                    <a:pt x="109982" y="0"/>
                  </a:cubicBezTo>
                  <a:lnTo>
                    <a:pt x="13561949" y="0"/>
                  </a:lnTo>
                  <a:cubicBezTo>
                    <a:pt x="13622655" y="0"/>
                    <a:pt x="13671931" y="49276"/>
                    <a:pt x="13671931" y="109982"/>
                  </a:cubicBezTo>
                  <a:lnTo>
                    <a:pt x="13671931" y="6673469"/>
                  </a:lnTo>
                  <a:cubicBezTo>
                    <a:pt x="13671931" y="6734175"/>
                    <a:pt x="13622655" y="6783450"/>
                    <a:pt x="13561949" y="6783450"/>
                  </a:cubicBezTo>
                  <a:lnTo>
                    <a:pt x="109982" y="6783450"/>
                  </a:lnTo>
                  <a:cubicBezTo>
                    <a:pt x="49276" y="6783450"/>
                    <a:pt x="0" y="6734175"/>
                    <a:pt x="0" y="6673469"/>
                  </a:cubicBezTo>
                  <a:close/>
                </a:path>
              </a:pathLst>
            </a:custGeom>
            <a:solidFill>
              <a:srgbClr val="E3F5F4"/>
            </a:solidFill>
            <a:ln w="12700" cap="sq">
              <a:solidFill>
                <a:srgbClr val="FFFFFF"/>
              </a:solidFill>
              <a:prstDash val="solid"/>
              <a:miter/>
            </a:ln>
          </p:spPr>
        </p:sp>
      </p:grpSp>
      <p:grpSp>
        <p:nvGrpSpPr>
          <p:cNvPr name="Group 11" id="11"/>
          <p:cNvGrpSpPr/>
          <p:nvPr/>
        </p:nvGrpSpPr>
        <p:grpSpPr>
          <a:xfrm rot="0">
            <a:off x="868680" y="3931920"/>
            <a:ext cx="566928" cy="566928"/>
            <a:chOff x="0" y="0"/>
            <a:chExt cx="755904" cy="755904"/>
          </a:xfrm>
        </p:grpSpPr>
        <p:sp>
          <p:nvSpPr>
            <p:cNvPr name="Freeform 12" id="12"/>
            <p:cNvSpPr/>
            <p:nvPr/>
          </p:nvSpPr>
          <p:spPr>
            <a:xfrm flipH="false" flipV="false" rot="0">
              <a:off x="0" y="0"/>
              <a:ext cx="755904" cy="755904"/>
            </a:xfrm>
            <a:custGeom>
              <a:avLst/>
              <a:gdLst/>
              <a:ahLst/>
              <a:cxnLst/>
              <a:rect r="r" b="b" t="t" l="l"/>
              <a:pathLst>
                <a:path h="755904" w="755904">
                  <a:moveTo>
                    <a:pt x="0" y="377952"/>
                  </a:moveTo>
                  <a:cubicBezTo>
                    <a:pt x="0" y="169164"/>
                    <a:pt x="169164" y="0"/>
                    <a:pt x="377952" y="0"/>
                  </a:cubicBezTo>
                  <a:cubicBezTo>
                    <a:pt x="586740" y="0"/>
                    <a:pt x="755904" y="169164"/>
                    <a:pt x="755904" y="377952"/>
                  </a:cubicBezTo>
                  <a:cubicBezTo>
                    <a:pt x="755904" y="586740"/>
                    <a:pt x="586740" y="755904"/>
                    <a:pt x="377952" y="755904"/>
                  </a:cubicBezTo>
                  <a:cubicBezTo>
                    <a:pt x="169164" y="755904"/>
                    <a:pt x="0" y="586740"/>
                    <a:pt x="0" y="377952"/>
                  </a:cubicBezTo>
                  <a:close/>
                </a:path>
              </a:pathLst>
            </a:custGeom>
            <a:solidFill>
              <a:srgbClr val="0E7C7B"/>
            </a:solidFill>
          </p:spPr>
        </p:sp>
      </p:grpSp>
      <p:grpSp>
        <p:nvGrpSpPr>
          <p:cNvPr name="Group 13" id="13"/>
          <p:cNvGrpSpPr/>
          <p:nvPr/>
        </p:nvGrpSpPr>
        <p:grpSpPr>
          <a:xfrm rot="0">
            <a:off x="868680" y="3931920"/>
            <a:ext cx="566928" cy="566928"/>
            <a:chOff x="0" y="0"/>
            <a:chExt cx="755904" cy="755904"/>
          </a:xfrm>
        </p:grpSpPr>
        <p:sp>
          <p:nvSpPr>
            <p:cNvPr name="Freeform 14" id="14"/>
            <p:cNvSpPr/>
            <p:nvPr/>
          </p:nvSpPr>
          <p:spPr>
            <a:xfrm flipH="false" flipV="false" rot="0">
              <a:off x="0" y="0"/>
              <a:ext cx="755904" cy="755904"/>
            </a:xfrm>
            <a:custGeom>
              <a:avLst/>
              <a:gdLst/>
              <a:ahLst/>
              <a:cxnLst/>
              <a:rect r="r" b="b" t="t" l="l"/>
              <a:pathLst>
                <a:path h="755904" w="755904">
                  <a:moveTo>
                    <a:pt x="0" y="0"/>
                  </a:moveTo>
                  <a:lnTo>
                    <a:pt x="755904" y="0"/>
                  </a:lnTo>
                  <a:lnTo>
                    <a:pt x="755904" y="755904"/>
                  </a:lnTo>
                  <a:lnTo>
                    <a:pt x="0" y="755904"/>
                  </a:lnTo>
                  <a:close/>
                </a:path>
              </a:pathLst>
            </a:custGeom>
            <a:blipFill>
              <a:blip r:embed="rId3">
                <a:alphaModFix amt="0"/>
              </a:blip>
              <a:stretch>
                <a:fillRect l="-78303" t="0" r="-78303" b="0"/>
              </a:stretch>
            </a:blipFill>
          </p:spPr>
        </p:sp>
        <p:sp>
          <p:nvSpPr>
            <p:cNvPr name="TextBox 15" id="15"/>
            <p:cNvSpPr txBox="true"/>
            <p:nvPr/>
          </p:nvSpPr>
          <p:spPr>
            <a:xfrm>
              <a:off x="0" y="-66675"/>
              <a:ext cx="755904" cy="822579"/>
            </a:xfrm>
            <a:prstGeom prst="rect">
              <a:avLst/>
            </a:prstGeom>
          </p:spPr>
          <p:txBody>
            <a:bodyPr anchor="ctr" rtlCol="false" tIns="0" lIns="0" bIns="0" rIns="0"/>
            <a:lstStyle/>
            <a:p>
              <a:pPr algn="ctr">
                <a:lnSpc>
                  <a:spcPts val="3359"/>
                </a:lnSpc>
              </a:pPr>
              <a:r>
                <a:rPr lang="en-US" sz="2799">
                  <a:solidFill>
                    <a:srgbClr val="FFFFFF"/>
                  </a:solidFill>
                  <a:latin typeface="Calibri (MS)"/>
                  <a:ea typeface="Calibri (MS)"/>
                  <a:cs typeface="Calibri (MS)"/>
                  <a:sym typeface="Calibri (MS)"/>
                </a:rPr>
                <a:t>📘</a:t>
              </a:r>
            </a:p>
          </p:txBody>
        </p:sp>
      </p:grpSp>
      <p:grpSp>
        <p:nvGrpSpPr>
          <p:cNvPr name="Group 16" id="16"/>
          <p:cNvGrpSpPr/>
          <p:nvPr/>
        </p:nvGrpSpPr>
        <p:grpSpPr>
          <a:xfrm rot="0">
            <a:off x="1005840" y="2944609"/>
            <a:ext cx="8869680" cy="2559925"/>
            <a:chOff x="0" y="0"/>
            <a:chExt cx="11826240" cy="3413234"/>
          </a:xfrm>
        </p:grpSpPr>
        <p:sp>
          <p:nvSpPr>
            <p:cNvPr name="Freeform 17" id="17"/>
            <p:cNvSpPr/>
            <p:nvPr/>
          </p:nvSpPr>
          <p:spPr>
            <a:xfrm flipH="false" flipV="false" rot="0">
              <a:off x="0" y="0"/>
              <a:ext cx="11826240" cy="3413234"/>
            </a:xfrm>
            <a:custGeom>
              <a:avLst/>
              <a:gdLst/>
              <a:ahLst/>
              <a:cxnLst/>
              <a:rect r="r" b="b" t="t" l="l"/>
              <a:pathLst>
                <a:path h="3413234" w="11826240">
                  <a:moveTo>
                    <a:pt x="0" y="0"/>
                  </a:moveTo>
                  <a:lnTo>
                    <a:pt x="11826240" y="0"/>
                  </a:lnTo>
                  <a:lnTo>
                    <a:pt x="11826240" y="3413234"/>
                  </a:lnTo>
                  <a:lnTo>
                    <a:pt x="0" y="3413234"/>
                  </a:lnTo>
                  <a:close/>
                </a:path>
              </a:pathLst>
            </a:custGeom>
            <a:blipFill>
              <a:blip r:embed="rId3">
                <a:alphaModFix amt="0"/>
              </a:blip>
              <a:stretch>
                <a:fillRect l="0" t="-55367" r="0" b="20343"/>
              </a:stretch>
            </a:blipFill>
          </p:spPr>
        </p:sp>
        <p:sp>
          <p:nvSpPr>
            <p:cNvPr name="TextBox 18" id="18"/>
            <p:cNvSpPr txBox="true"/>
            <p:nvPr/>
          </p:nvSpPr>
          <p:spPr>
            <a:xfrm>
              <a:off x="0" y="-9525"/>
              <a:ext cx="11826240" cy="3422759"/>
            </a:xfrm>
            <a:prstGeom prst="rect">
              <a:avLst/>
            </a:prstGeom>
          </p:spPr>
          <p:txBody>
            <a:bodyPr anchor="ctr" rtlCol="false" tIns="0" lIns="0" bIns="0" rIns="0"/>
            <a:lstStyle/>
            <a:p>
              <a:pPr algn="ctr">
                <a:lnSpc>
                  <a:spcPts val="4199"/>
                </a:lnSpc>
              </a:pPr>
              <a:r>
                <a:rPr lang="en-US" sz="3499" b="true">
                  <a:solidFill>
                    <a:srgbClr val="1B2A4A"/>
                  </a:solidFill>
                  <a:latin typeface="Cambria Bold"/>
                  <a:ea typeface="Cambria Bold"/>
                  <a:cs typeface="Cambria Bold"/>
                  <a:sym typeface="Cambria Bold"/>
                </a:rPr>
                <a:t>Abstract</a:t>
              </a:r>
            </a:p>
          </p:txBody>
        </p:sp>
      </p:grpSp>
      <p:sp>
        <p:nvSpPr>
          <p:cNvPr name="TextBox 19" id="19"/>
          <p:cNvSpPr txBox="true"/>
          <p:nvPr/>
        </p:nvSpPr>
        <p:spPr>
          <a:xfrm rot="0">
            <a:off x="728977" y="4826124"/>
            <a:ext cx="9601200" cy="3789553"/>
          </a:xfrm>
          <a:prstGeom prst="rect">
            <a:avLst/>
          </a:prstGeom>
        </p:spPr>
        <p:txBody>
          <a:bodyPr anchor="t" rtlCol="false" tIns="0" lIns="0" bIns="0" rIns="0">
            <a:spAutoFit/>
          </a:bodyPr>
          <a:lstStyle/>
          <a:p>
            <a:pPr algn="just">
              <a:lnSpc>
                <a:spcPts val="2995"/>
              </a:lnSpc>
            </a:pPr>
            <a:r>
              <a:rPr lang="en-US" sz="2799">
                <a:solidFill>
                  <a:srgbClr val="1B2A4A"/>
                </a:solidFill>
                <a:latin typeface="Calibri (MS)"/>
                <a:ea typeface="Calibri (MS)"/>
                <a:cs typeface="Calibri (MS)"/>
                <a:sym typeface="Calibri (MS)"/>
              </a:rPr>
              <a:t>Employee salary analysis plays an important role in understanding workforce compensation patterns and organizational decision-making. This study analyzes employee salary data using descriptive statistical measures such as mean, variance, median, and standard deviation. The dataset consists of employee demographic and professional attributes including department, education level, age, gender, city, experience, and monthly salary. Various visualizations were created to identify salary trends, departmental differences, and factors influencing employee compensation.</a:t>
            </a:r>
          </a:p>
        </p:txBody>
      </p:sp>
      <p:grpSp>
        <p:nvGrpSpPr>
          <p:cNvPr name="Group 20" id="20"/>
          <p:cNvGrpSpPr/>
          <p:nvPr/>
        </p:nvGrpSpPr>
        <p:grpSpPr>
          <a:xfrm rot="0">
            <a:off x="542287" y="9091927"/>
            <a:ext cx="10253977" cy="6276337"/>
            <a:chOff x="0" y="0"/>
            <a:chExt cx="13671969" cy="8368449"/>
          </a:xfrm>
        </p:grpSpPr>
        <p:sp>
          <p:nvSpPr>
            <p:cNvPr name="Freeform 21" id="21"/>
            <p:cNvSpPr/>
            <p:nvPr/>
          </p:nvSpPr>
          <p:spPr>
            <a:xfrm flipH="false" flipV="false" rot="0">
              <a:off x="0" y="0"/>
              <a:ext cx="13671931" cy="8368411"/>
            </a:xfrm>
            <a:custGeom>
              <a:avLst/>
              <a:gdLst/>
              <a:ahLst/>
              <a:cxnLst/>
              <a:rect r="r" b="b" t="t" l="l"/>
              <a:pathLst>
                <a:path h="8368411" w="13671931">
                  <a:moveTo>
                    <a:pt x="0" y="109982"/>
                  </a:moveTo>
                  <a:cubicBezTo>
                    <a:pt x="0" y="49276"/>
                    <a:pt x="49276" y="0"/>
                    <a:pt x="109982" y="0"/>
                  </a:cubicBezTo>
                  <a:lnTo>
                    <a:pt x="13561949" y="0"/>
                  </a:lnTo>
                  <a:cubicBezTo>
                    <a:pt x="13622655" y="0"/>
                    <a:pt x="13671931" y="49276"/>
                    <a:pt x="13671931" y="109982"/>
                  </a:cubicBezTo>
                  <a:lnTo>
                    <a:pt x="13671931" y="8258429"/>
                  </a:lnTo>
                  <a:cubicBezTo>
                    <a:pt x="13671931" y="8319136"/>
                    <a:pt x="13622655" y="8368411"/>
                    <a:pt x="13561949" y="8368411"/>
                  </a:cubicBezTo>
                  <a:lnTo>
                    <a:pt x="109982" y="8368411"/>
                  </a:lnTo>
                  <a:cubicBezTo>
                    <a:pt x="49276" y="8368411"/>
                    <a:pt x="0" y="8319136"/>
                    <a:pt x="0" y="8258429"/>
                  </a:cubicBezTo>
                  <a:close/>
                </a:path>
              </a:pathLst>
            </a:custGeom>
            <a:solidFill>
              <a:srgbClr val="FCE7E8"/>
            </a:solidFill>
            <a:ln w="12700" cap="sq">
              <a:solidFill>
                <a:srgbClr val="FFFFFF"/>
              </a:solidFill>
              <a:prstDash val="solid"/>
              <a:miter/>
            </a:ln>
          </p:spPr>
        </p:sp>
      </p:grpSp>
      <p:grpSp>
        <p:nvGrpSpPr>
          <p:cNvPr name="Group 22" id="22"/>
          <p:cNvGrpSpPr/>
          <p:nvPr/>
        </p:nvGrpSpPr>
        <p:grpSpPr>
          <a:xfrm rot="0">
            <a:off x="868680" y="9372600"/>
            <a:ext cx="566928" cy="566928"/>
            <a:chOff x="0" y="0"/>
            <a:chExt cx="755904" cy="755904"/>
          </a:xfrm>
        </p:grpSpPr>
        <p:sp>
          <p:nvSpPr>
            <p:cNvPr name="Freeform 23" id="23"/>
            <p:cNvSpPr/>
            <p:nvPr/>
          </p:nvSpPr>
          <p:spPr>
            <a:xfrm flipH="false" flipV="false" rot="0">
              <a:off x="0" y="0"/>
              <a:ext cx="755904" cy="755904"/>
            </a:xfrm>
            <a:custGeom>
              <a:avLst/>
              <a:gdLst/>
              <a:ahLst/>
              <a:cxnLst/>
              <a:rect r="r" b="b" t="t" l="l"/>
              <a:pathLst>
                <a:path h="755904" w="755904">
                  <a:moveTo>
                    <a:pt x="0" y="377952"/>
                  </a:moveTo>
                  <a:cubicBezTo>
                    <a:pt x="0" y="169164"/>
                    <a:pt x="169164" y="0"/>
                    <a:pt x="377952" y="0"/>
                  </a:cubicBezTo>
                  <a:cubicBezTo>
                    <a:pt x="586740" y="0"/>
                    <a:pt x="755904" y="169164"/>
                    <a:pt x="755904" y="377952"/>
                  </a:cubicBezTo>
                  <a:cubicBezTo>
                    <a:pt x="755904" y="586740"/>
                    <a:pt x="586740" y="755904"/>
                    <a:pt x="377952" y="755904"/>
                  </a:cubicBezTo>
                  <a:cubicBezTo>
                    <a:pt x="169164" y="755904"/>
                    <a:pt x="0" y="586740"/>
                    <a:pt x="0" y="377952"/>
                  </a:cubicBezTo>
                  <a:close/>
                </a:path>
              </a:pathLst>
            </a:custGeom>
            <a:solidFill>
              <a:srgbClr val="D64550"/>
            </a:solidFill>
          </p:spPr>
        </p:sp>
      </p:grpSp>
      <p:grpSp>
        <p:nvGrpSpPr>
          <p:cNvPr name="Group 24" id="24"/>
          <p:cNvGrpSpPr/>
          <p:nvPr/>
        </p:nvGrpSpPr>
        <p:grpSpPr>
          <a:xfrm rot="0">
            <a:off x="868680" y="9372600"/>
            <a:ext cx="566928" cy="566928"/>
            <a:chOff x="0" y="0"/>
            <a:chExt cx="755904" cy="755904"/>
          </a:xfrm>
        </p:grpSpPr>
        <p:sp>
          <p:nvSpPr>
            <p:cNvPr name="Freeform 25" id="25"/>
            <p:cNvSpPr/>
            <p:nvPr/>
          </p:nvSpPr>
          <p:spPr>
            <a:xfrm flipH="false" flipV="false" rot="0">
              <a:off x="0" y="0"/>
              <a:ext cx="755904" cy="755904"/>
            </a:xfrm>
            <a:custGeom>
              <a:avLst/>
              <a:gdLst/>
              <a:ahLst/>
              <a:cxnLst/>
              <a:rect r="r" b="b" t="t" l="l"/>
              <a:pathLst>
                <a:path h="755904" w="755904">
                  <a:moveTo>
                    <a:pt x="0" y="0"/>
                  </a:moveTo>
                  <a:lnTo>
                    <a:pt x="755904" y="0"/>
                  </a:lnTo>
                  <a:lnTo>
                    <a:pt x="755904" y="755904"/>
                  </a:lnTo>
                  <a:lnTo>
                    <a:pt x="0" y="755904"/>
                  </a:lnTo>
                  <a:close/>
                </a:path>
              </a:pathLst>
            </a:custGeom>
            <a:blipFill>
              <a:blip r:embed="rId3">
                <a:alphaModFix amt="0"/>
              </a:blip>
              <a:stretch>
                <a:fillRect l="-78303" t="0" r="-78303" b="0"/>
              </a:stretch>
            </a:blipFill>
          </p:spPr>
        </p:sp>
        <p:sp>
          <p:nvSpPr>
            <p:cNvPr name="TextBox 26" id="26"/>
            <p:cNvSpPr txBox="true"/>
            <p:nvPr/>
          </p:nvSpPr>
          <p:spPr>
            <a:xfrm>
              <a:off x="0" y="-66675"/>
              <a:ext cx="755904" cy="822579"/>
            </a:xfrm>
            <a:prstGeom prst="rect">
              <a:avLst/>
            </a:prstGeom>
          </p:spPr>
          <p:txBody>
            <a:bodyPr anchor="ctr" rtlCol="false" tIns="0" lIns="0" bIns="0" rIns="0"/>
            <a:lstStyle/>
            <a:p>
              <a:pPr algn="ctr">
                <a:lnSpc>
                  <a:spcPts val="3359"/>
                </a:lnSpc>
              </a:pPr>
              <a:r>
                <a:rPr lang="en-US" sz="2799">
                  <a:solidFill>
                    <a:srgbClr val="FFFFFF"/>
                  </a:solidFill>
                  <a:latin typeface="Calibri (MS)"/>
                  <a:ea typeface="Calibri (MS)"/>
                  <a:cs typeface="Calibri (MS)"/>
                  <a:sym typeface="Calibri (MS)"/>
                </a:rPr>
                <a:t>💡</a:t>
              </a:r>
            </a:p>
          </p:txBody>
        </p:sp>
      </p:grpSp>
      <p:grpSp>
        <p:nvGrpSpPr>
          <p:cNvPr name="Group 27" id="27"/>
          <p:cNvGrpSpPr/>
          <p:nvPr/>
        </p:nvGrpSpPr>
        <p:grpSpPr>
          <a:xfrm rot="0">
            <a:off x="1120140" y="8382150"/>
            <a:ext cx="8869680" cy="2492228"/>
            <a:chOff x="0" y="0"/>
            <a:chExt cx="11826240" cy="3322971"/>
          </a:xfrm>
        </p:grpSpPr>
        <p:sp>
          <p:nvSpPr>
            <p:cNvPr name="Freeform 28" id="28"/>
            <p:cNvSpPr/>
            <p:nvPr/>
          </p:nvSpPr>
          <p:spPr>
            <a:xfrm flipH="false" flipV="false" rot="0">
              <a:off x="0" y="0"/>
              <a:ext cx="11826240" cy="3322971"/>
            </a:xfrm>
            <a:custGeom>
              <a:avLst/>
              <a:gdLst/>
              <a:ahLst/>
              <a:cxnLst/>
              <a:rect r="r" b="b" t="t" l="l"/>
              <a:pathLst>
                <a:path h="3322971" w="11826240">
                  <a:moveTo>
                    <a:pt x="0" y="0"/>
                  </a:moveTo>
                  <a:lnTo>
                    <a:pt x="11826240" y="0"/>
                  </a:lnTo>
                  <a:lnTo>
                    <a:pt x="11826240" y="3322971"/>
                  </a:lnTo>
                  <a:lnTo>
                    <a:pt x="0" y="3322971"/>
                  </a:lnTo>
                  <a:close/>
                </a:path>
              </a:pathLst>
            </a:custGeom>
            <a:blipFill>
              <a:blip r:embed="rId3">
                <a:alphaModFix amt="0"/>
              </a:blip>
              <a:stretch>
                <a:fillRect l="0" t="-56871" r="0" b="18179"/>
              </a:stretch>
            </a:blipFill>
          </p:spPr>
        </p:sp>
        <p:sp>
          <p:nvSpPr>
            <p:cNvPr name="TextBox 29" id="29"/>
            <p:cNvSpPr txBox="true"/>
            <p:nvPr/>
          </p:nvSpPr>
          <p:spPr>
            <a:xfrm>
              <a:off x="0" y="-9525"/>
              <a:ext cx="11826240" cy="3332496"/>
            </a:xfrm>
            <a:prstGeom prst="rect">
              <a:avLst/>
            </a:prstGeom>
          </p:spPr>
          <p:txBody>
            <a:bodyPr anchor="ctr" rtlCol="false" tIns="0" lIns="0" bIns="0" rIns="0"/>
            <a:lstStyle/>
            <a:p>
              <a:pPr algn="ctr">
                <a:lnSpc>
                  <a:spcPts val="4079"/>
                </a:lnSpc>
              </a:pPr>
              <a:r>
                <a:rPr lang="en-US" sz="3399" b="true">
                  <a:solidFill>
                    <a:srgbClr val="1B2A4A"/>
                  </a:solidFill>
                  <a:latin typeface="Cambria Bold"/>
                  <a:ea typeface="Cambria Bold"/>
                  <a:cs typeface="Cambria Bold"/>
                  <a:sym typeface="Cambria Bold"/>
                </a:rPr>
                <a:t>Introduction</a:t>
              </a:r>
            </a:p>
          </p:txBody>
        </p:sp>
      </p:grpSp>
      <p:sp>
        <p:nvSpPr>
          <p:cNvPr name="TextBox 30" id="30"/>
          <p:cNvSpPr txBox="true"/>
          <p:nvPr/>
        </p:nvSpPr>
        <p:spPr>
          <a:xfrm rot="0">
            <a:off x="868680" y="10154060"/>
            <a:ext cx="9601200" cy="2667457"/>
          </a:xfrm>
          <a:prstGeom prst="rect">
            <a:avLst/>
          </a:prstGeom>
        </p:spPr>
        <p:txBody>
          <a:bodyPr anchor="t" rtlCol="false" tIns="0" lIns="0" bIns="0" rIns="0">
            <a:spAutoFit/>
          </a:bodyPr>
          <a:lstStyle/>
          <a:p>
            <a:pPr algn="l">
              <a:lnSpc>
                <a:spcPts val="4166"/>
              </a:lnSpc>
            </a:pPr>
            <a:r>
              <a:rPr lang="en-US" sz="3099">
                <a:solidFill>
                  <a:srgbClr val="1B2A4A"/>
                </a:solidFill>
                <a:latin typeface="Calibri (MS)"/>
                <a:ea typeface="Calibri (MS)"/>
                <a:cs typeface="Calibri (MS)"/>
                <a:sym typeface="Calibri (MS)"/>
              </a:rPr>
              <a:t>Salary analysis is a fundamental application of data science in human resource management. Organizations use statistical methods to evaluate compensation, identify disparities, and support strategic workforce planning. This project applies core statistical concepts to understand:</a:t>
            </a:r>
          </a:p>
        </p:txBody>
      </p:sp>
      <p:sp>
        <p:nvSpPr>
          <p:cNvPr name="TextBox 31" id="31"/>
          <p:cNvSpPr txBox="true"/>
          <p:nvPr/>
        </p:nvSpPr>
        <p:spPr>
          <a:xfrm rot="0">
            <a:off x="894078" y="12865103"/>
            <a:ext cx="9550403" cy="2594991"/>
          </a:xfrm>
          <a:prstGeom prst="rect">
            <a:avLst/>
          </a:prstGeom>
        </p:spPr>
        <p:txBody>
          <a:bodyPr anchor="t" rtlCol="false" tIns="0" lIns="0" bIns="0" rIns="0">
            <a:spAutoFit/>
          </a:bodyPr>
          <a:lstStyle/>
          <a:p>
            <a:pPr algn="l" marL="386078" indent="-193039" lvl="1">
              <a:lnSpc>
                <a:spcPts val="4031"/>
              </a:lnSpc>
              <a:buFont typeface="Arial"/>
              <a:buChar char="•"/>
            </a:pPr>
            <a:r>
              <a:rPr lang="en-US" sz="3199">
                <a:solidFill>
                  <a:srgbClr val="5A6B85"/>
                </a:solidFill>
                <a:latin typeface="Calibri (MS)"/>
                <a:ea typeface="Calibri (MS)"/>
                <a:cs typeface="Calibri (MS)"/>
                <a:sym typeface="Calibri (MS)"/>
              </a:rPr>
              <a:t>Average salary levels</a:t>
            </a:r>
          </a:p>
          <a:p>
            <a:pPr algn="l" marL="386078" indent="-193039" lvl="1">
              <a:lnSpc>
                <a:spcPts val="4031"/>
              </a:lnSpc>
              <a:buFont typeface="Arial"/>
              <a:buChar char="•"/>
            </a:pPr>
            <a:r>
              <a:rPr lang="en-US" sz="3199">
                <a:solidFill>
                  <a:srgbClr val="5A6B85"/>
                </a:solidFill>
                <a:latin typeface="Calibri (MS)"/>
                <a:ea typeface="Calibri (MS)"/>
                <a:cs typeface="Calibri (MS)"/>
                <a:sym typeface="Calibri (MS)"/>
              </a:rPr>
              <a:t>Salary variation among employees</a:t>
            </a:r>
          </a:p>
          <a:p>
            <a:pPr algn="l" marL="386078" indent="-193039" lvl="1">
              <a:lnSpc>
                <a:spcPts val="4031"/>
              </a:lnSpc>
              <a:buFont typeface="Arial"/>
              <a:buChar char="•"/>
            </a:pPr>
            <a:r>
              <a:rPr lang="en-US" sz="3199">
                <a:solidFill>
                  <a:srgbClr val="5A6B85"/>
                </a:solidFill>
                <a:latin typeface="Calibri (MS)"/>
                <a:ea typeface="Calibri (MS)"/>
                <a:cs typeface="Calibri (MS)"/>
                <a:sym typeface="Calibri (MS)"/>
              </a:rPr>
              <a:t>Impact of experience on salary</a:t>
            </a:r>
          </a:p>
          <a:p>
            <a:pPr algn="l" marL="386078" indent="-193039" lvl="1">
              <a:lnSpc>
                <a:spcPts val="4031"/>
              </a:lnSpc>
              <a:buFont typeface="Arial"/>
              <a:buChar char="•"/>
            </a:pPr>
            <a:r>
              <a:rPr lang="en-US" sz="3199">
                <a:solidFill>
                  <a:srgbClr val="5A6B85"/>
                </a:solidFill>
                <a:latin typeface="Calibri (MS)"/>
                <a:ea typeface="Calibri (MS)"/>
                <a:cs typeface="Calibri (MS)"/>
                <a:sym typeface="Calibri (MS)"/>
              </a:rPr>
              <a:t>Department-wise salary differences</a:t>
            </a:r>
          </a:p>
          <a:p>
            <a:pPr algn="l" marL="386078" indent="-193039" lvl="1">
              <a:lnSpc>
                <a:spcPts val="4031"/>
              </a:lnSpc>
              <a:buFont typeface="Arial"/>
              <a:buChar char="•"/>
            </a:pPr>
            <a:r>
              <a:rPr lang="en-US" sz="3199">
                <a:solidFill>
                  <a:srgbClr val="5A6B85"/>
                </a:solidFill>
                <a:latin typeface="Calibri (MS)"/>
                <a:ea typeface="Calibri (MS)"/>
                <a:cs typeface="Calibri (MS)"/>
                <a:sym typeface="Calibri (MS)"/>
              </a:rPr>
              <a:t>Educational influence on compensation</a:t>
            </a:r>
          </a:p>
        </p:txBody>
      </p:sp>
      <p:grpSp>
        <p:nvGrpSpPr>
          <p:cNvPr name="Group 32" id="32"/>
          <p:cNvGrpSpPr/>
          <p:nvPr/>
        </p:nvGrpSpPr>
        <p:grpSpPr>
          <a:xfrm rot="0">
            <a:off x="542287" y="15721327"/>
            <a:ext cx="10253977" cy="8608057"/>
            <a:chOff x="0" y="0"/>
            <a:chExt cx="13671969" cy="11477409"/>
          </a:xfrm>
        </p:grpSpPr>
        <p:sp>
          <p:nvSpPr>
            <p:cNvPr name="Freeform 33" id="33"/>
            <p:cNvSpPr/>
            <p:nvPr/>
          </p:nvSpPr>
          <p:spPr>
            <a:xfrm flipH="false" flipV="false" rot="0">
              <a:off x="0" y="0"/>
              <a:ext cx="13671931" cy="11477372"/>
            </a:xfrm>
            <a:custGeom>
              <a:avLst/>
              <a:gdLst/>
              <a:ahLst/>
              <a:cxnLst/>
              <a:rect r="r" b="b" t="t" l="l"/>
              <a:pathLst>
                <a:path h="11477372" w="13671931">
                  <a:moveTo>
                    <a:pt x="0" y="109855"/>
                  </a:moveTo>
                  <a:cubicBezTo>
                    <a:pt x="0" y="49149"/>
                    <a:pt x="49149" y="0"/>
                    <a:pt x="109855" y="0"/>
                  </a:cubicBezTo>
                  <a:lnTo>
                    <a:pt x="13562076" y="0"/>
                  </a:lnTo>
                  <a:cubicBezTo>
                    <a:pt x="13622782" y="0"/>
                    <a:pt x="13671931" y="49149"/>
                    <a:pt x="13671931" y="109855"/>
                  </a:cubicBezTo>
                  <a:lnTo>
                    <a:pt x="13671931" y="11367516"/>
                  </a:lnTo>
                  <a:cubicBezTo>
                    <a:pt x="13671931" y="11428223"/>
                    <a:pt x="13622782" y="11477372"/>
                    <a:pt x="13562076" y="11477372"/>
                  </a:cubicBezTo>
                  <a:lnTo>
                    <a:pt x="109855" y="11477372"/>
                  </a:lnTo>
                  <a:cubicBezTo>
                    <a:pt x="49149" y="11477372"/>
                    <a:pt x="0" y="11428223"/>
                    <a:pt x="0" y="11367516"/>
                  </a:cubicBezTo>
                  <a:close/>
                </a:path>
              </a:pathLst>
            </a:custGeom>
            <a:solidFill>
              <a:srgbClr val="FCF1DA"/>
            </a:solidFill>
            <a:ln w="12700" cap="sq">
              <a:solidFill>
                <a:srgbClr val="FFFFFF"/>
              </a:solidFill>
              <a:prstDash val="solid"/>
              <a:miter/>
            </a:ln>
          </p:spPr>
        </p:sp>
      </p:grpSp>
      <p:grpSp>
        <p:nvGrpSpPr>
          <p:cNvPr name="Group 34" id="34"/>
          <p:cNvGrpSpPr/>
          <p:nvPr/>
        </p:nvGrpSpPr>
        <p:grpSpPr>
          <a:xfrm rot="0">
            <a:off x="868680" y="16002000"/>
            <a:ext cx="566928" cy="566928"/>
            <a:chOff x="0" y="0"/>
            <a:chExt cx="755904" cy="755904"/>
          </a:xfrm>
        </p:grpSpPr>
        <p:sp>
          <p:nvSpPr>
            <p:cNvPr name="Freeform 35" id="35"/>
            <p:cNvSpPr/>
            <p:nvPr/>
          </p:nvSpPr>
          <p:spPr>
            <a:xfrm flipH="false" flipV="false" rot="0">
              <a:off x="0" y="0"/>
              <a:ext cx="755904" cy="755904"/>
            </a:xfrm>
            <a:custGeom>
              <a:avLst/>
              <a:gdLst/>
              <a:ahLst/>
              <a:cxnLst/>
              <a:rect r="r" b="b" t="t" l="l"/>
              <a:pathLst>
                <a:path h="755904" w="755904">
                  <a:moveTo>
                    <a:pt x="0" y="377952"/>
                  </a:moveTo>
                  <a:cubicBezTo>
                    <a:pt x="0" y="169164"/>
                    <a:pt x="169164" y="0"/>
                    <a:pt x="377952" y="0"/>
                  </a:cubicBezTo>
                  <a:cubicBezTo>
                    <a:pt x="586740" y="0"/>
                    <a:pt x="755904" y="169164"/>
                    <a:pt x="755904" y="377952"/>
                  </a:cubicBezTo>
                  <a:cubicBezTo>
                    <a:pt x="755904" y="586740"/>
                    <a:pt x="586740" y="755904"/>
                    <a:pt x="377952" y="755904"/>
                  </a:cubicBezTo>
                  <a:cubicBezTo>
                    <a:pt x="169164" y="755904"/>
                    <a:pt x="0" y="586740"/>
                    <a:pt x="0" y="377952"/>
                  </a:cubicBezTo>
                  <a:close/>
                </a:path>
              </a:pathLst>
            </a:custGeom>
            <a:solidFill>
              <a:srgbClr val="C98A0A"/>
            </a:solidFill>
          </p:spPr>
        </p:sp>
      </p:grpSp>
      <p:grpSp>
        <p:nvGrpSpPr>
          <p:cNvPr name="Group 36" id="36"/>
          <p:cNvGrpSpPr/>
          <p:nvPr/>
        </p:nvGrpSpPr>
        <p:grpSpPr>
          <a:xfrm rot="0">
            <a:off x="868680" y="16002000"/>
            <a:ext cx="566928" cy="696422"/>
            <a:chOff x="0" y="0"/>
            <a:chExt cx="755904" cy="928562"/>
          </a:xfrm>
        </p:grpSpPr>
        <p:sp>
          <p:nvSpPr>
            <p:cNvPr name="Freeform 37" id="37"/>
            <p:cNvSpPr/>
            <p:nvPr/>
          </p:nvSpPr>
          <p:spPr>
            <a:xfrm flipH="false" flipV="false" rot="0">
              <a:off x="0" y="0"/>
              <a:ext cx="755904" cy="928562"/>
            </a:xfrm>
            <a:custGeom>
              <a:avLst/>
              <a:gdLst/>
              <a:ahLst/>
              <a:cxnLst/>
              <a:rect r="r" b="b" t="t" l="l"/>
              <a:pathLst>
                <a:path h="928562" w="755904">
                  <a:moveTo>
                    <a:pt x="0" y="0"/>
                  </a:moveTo>
                  <a:lnTo>
                    <a:pt x="755904" y="0"/>
                  </a:lnTo>
                  <a:lnTo>
                    <a:pt x="755904" y="928562"/>
                  </a:lnTo>
                  <a:lnTo>
                    <a:pt x="0" y="928562"/>
                  </a:lnTo>
                  <a:close/>
                </a:path>
              </a:pathLst>
            </a:custGeom>
            <a:blipFill>
              <a:blip r:embed="rId3">
                <a:alphaModFix amt="0"/>
              </a:blip>
              <a:stretch>
                <a:fillRect l="-78303" t="0" r="-78303" b="18594"/>
              </a:stretch>
            </a:blipFill>
          </p:spPr>
        </p:sp>
        <p:sp>
          <p:nvSpPr>
            <p:cNvPr name="TextBox 38" id="38"/>
            <p:cNvSpPr txBox="true"/>
            <p:nvPr/>
          </p:nvSpPr>
          <p:spPr>
            <a:xfrm>
              <a:off x="0" y="-66675"/>
              <a:ext cx="755904" cy="995237"/>
            </a:xfrm>
            <a:prstGeom prst="rect">
              <a:avLst/>
            </a:prstGeom>
          </p:spPr>
          <p:txBody>
            <a:bodyPr anchor="ctr" rtlCol="false" tIns="0" lIns="0" bIns="0" rIns="0"/>
            <a:lstStyle/>
            <a:p>
              <a:pPr algn="ctr">
                <a:lnSpc>
                  <a:spcPts val="4199"/>
                </a:lnSpc>
              </a:pPr>
              <a:r>
                <a:rPr lang="en-US" sz="3499">
                  <a:solidFill>
                    <a:srgbClr val="FFFFFF"/>
                  </a:solidFill>
                  <a:latin typeface="Calibri (MS)"/>
                  <a:ea typeface="Calibri (MS)"/>
                  <a:cs typeface="Calibri (MS)"/>
                  <a:sym typeface="Calibri (MS)"/>
                </a:rPr>
                <a:t>🎯</a:t>
              </a:r>
            </a:p>
          </p:txBody>
        </p:sp>
      </p:grpSp>
      <p:grpSp>
        <p:nvGrpSpPr>
          <p:cNvPr name="Group 39" id="39"/>
          <p:cNvGrpSpPr/>
          <p:nvPr/>
        </p:nvGrpSpPr>
        <p:grpSpPr>
          <a:xfrm rot="0">
            <a:off x="1094737" y="15206105"/>
            <a:ext cx="8869680" cy="2559925"/>
            <a:chOff x="0" y="0"/>
            <a:chExt cx="11826240" cy="3413234"/>
          </a:xfrm>
        </p:grpSpPr>
        <p:sp>
          <p:nvSpPr>
            <p:cNvPr name="Freeform 40" id="40"/>
            <p:cNvSpPr/>
            <p:nvPr/>
          </p:nvSpPr>
          <p:spPr>
            <a:xfrm flipH="false" flipV="false" rot="0">
              <a:off x="0" y="0"/>
              <a:ext cx="11826240" cy="3413234"/>
            </a:xfrm>
            <a:custGeom>
              <a:avLst/>
              <a:gdLst/>
              <a:ahLst/>
              <a:cxnLst/>
              <a:rect r="r" b="b" t="t" l="l"/>
              <a:pathLst>
                <a:path h="3413234" w="11826240">
                  <a:moveTo>
                    <a:pt x="0" y="0"/>
                  </a:moveTo>
                  <a:lnTo>
                    <a:pt x="11826240" y="0"/>
                  </a:lnTo>
                  <a:lnTo>
                    <a:pt x="11826240" y="3413234"/>
                  </a:lnTo>
                  <a:lnTo>
                    <a:pt x="0" y="3413234"/>
                  </a:lnTo>
                  <a:close/>
                </a:path>
              </a:pathLst>
            </a:custGeom>
            <a:blipFill>
              <a:blip r:embed="rId3">
                <a:alphaModFix amt="0"/>
              </a:blip>
              <a:stretch>
                <a:fillRect l="0" t="-55367" r="0" b="20343"/>
              </a:stretch>
            </a:blipFill>
          </p:spPr>
        </p:sp>
        <p:sp>
          <p:nvSpPr>
            <p:cNvPr name="TextBox 41" id="41"/>
            <p:cNvSpPr txBox="true"/>
            <p:nvPr/>
          </p:nvSpPr>
          <p:spPr>
            <a:xfrm>
              <a:off x="0" y="-9525"/>
              <a:ext cx="11826240" cy="3422759"/>
            </a:xfrm>
            <a:prstGeom prst="rect">
              <a:avLst/>
            </a:prstGeom>
          </p:spPr>
          <p:txBody>
            <a:bodyPr anchor="ctr" rtlCol="false" tIns="0" lIns="0" bIns="0" rIns="0"/>
            <a:lstStyle/>
            <a:p>
              <a:pPr algn="ctr">
                <a:lnSpc>
                  <a:spcPts val="4199"/>
                </a:lnSpc>
              </a:pPr>
              <a:r>
                <a:rPr lang="en-US" sz="3499" b="true">
                  <a:solidFill>
                    <a:srgbClr val="1B2A4A"/>
                  </a:solidFill>
                  <a:latin typeface="Cambria Bold"/>
                  <a:ea typeface="Cambria Bold"/>
                  <a:cs typeface="Cambria Bold"/>
                  <a:sym typeface="Cambria Bold"/>
                </a:rPr>
                <a:t>Objectives</a:t>
              </a:r>
            </a:p>
          </p:txBody>
        </p:sp>
      </p:grpSp>
      <p:grpSp>
        <p:nvGrpSpPr>
          <p:cNvPr name="Group 42" id="42"/>
          <p:cNvGrpSpPr/>
          <p:nvPr/>
        </p:nvGrpSpPr>
        <p:grpSpPr>
          <a:xfrm rot="0">
            <a:off x="868680" y="17259300"/>
            <a:ext cx="502920" cy="502920"/>
            <a:chOff x="0" y="0"/>
            <a:chExt cx="670560" cy="670560"/>
          </a:xfrm>
        </p:grpSpPr>
        <p:sp>
          <p:nvSpPr>
            <p:cNvPr name="Freeform 43" id="43"/>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C98A0A"/>
            </a:solidFill>
          </p:spPr>
        </p:sp>
      </p:grpSp>
      <p:grpSp>
        <p:nvGrpSpPr>
          <p:cNvPr name="Group 44" id="44"/>
          <p:cNvGrpSpPr/>
          <p:nvPr/>
        </p:nvGrpSpPr>
        <p:grpSpPr>
          <a:xfrm rot="0">
            <a:off x="868680" y="16194024"/>
            <a:ext cx="502920" cy="2559925"/>
            <a:chOff x="0" y="0"/>
            <a:chExt cx="670560" cy="3413234"/>
          </a:xfrm>
        </p:grpSpPr>
        <p:sp>
          <p:nvSpPr>
            <p:cNvPr name="Freeform 45" id="45"/>
            <p:cNvSpPr/>
            <p:nvPr/>
          </p:nvSpPr>
          <p:spPr>
            <a:xfrm flipH="false" flipV="false" rot="0">
              <a:off x="0" y="0"/>
              <a:ext cx="670560" cy="3413234"/>
            </a:xfrm>
            <a:custGeom>
              <a:avLst/>
              <a:gdLst/>
              <a:ahLst/>
              <a:cxnLst/>
              <a:rect r="r" b="b" t="t" l="l"/>
              <a:pathLst>
                <a:path h="3413234" w="670560">
                  <a:moveTo>
                    <a:pt x="0" y="0"/>
                  </a:moveTo>
                  <a:lnTo>
                    <a:pt x="670560" y="0"/>
                  </a:lnTo>
                  <a:lnTo>
                    <a:pt x="670560" y="3413234"/>
                  </a:lnTo>
                  <a:lnTo>
                    <a:pt x="0" y="3413234"/>
                  </a:lnTo>
                  <a:close/>
                </a:path>
              </a:pathLst>
            </a:custGeom>
            <a:blipFill>
              <a:blip r:embed="rId3">
                <a:alphaModFix amt="0"/>
              </a:blip>
              <a:stretch>
                <a:fillRect l="-78303" t="0" r="-78303" b="80354"/>
              </a:stretch>
            </a:blipFill>
          </p:spPr>
        </p:sp>
        <p:sp>
          <p:nvSpPr>
            <p:cNvPr name="TextBox 46" id="46"/>
            <p:cNvSpPr txBox="true"/>
            <p:nvPr/>
          </p:nvSpPr>
          <p:spPr>
            <a:xfrm>
              <a:off x="0" y="-9525"/>
              <a:ext cx="670560" cy="3422759"/>
            </a:xfrm>
            <a:prstGeom prst="rect">
              <a:avLst/>
            </a:prstGeom>
          </p:spPr>
          <p:txBody>
            <a:bodyPr anchor="ctr" rtlCol="false" tIns="0" lIns="0" bIns="0" rIns="0"/>
            <a:lstStyle/>
            <a:p>
              <a:pPr algn="ctr">
                <a:lnSpc>
                  <a:spcPts val="4199"/>
                </a:lnSpc>
              </a:pPr>
              <a:r>
                <a:rPr lang="en-US" sz="3499" b="true">
                  <a:solidFill>
                    <a:srgbClr val="FFFFFF"/>
                  </a:solidFill>
                  <a:latin typeface="Cambria Bold"/>
                  <a:ea typeface="Cambria Bold"/>
                  <a:cs typeface="Cambria Bold"/>
                  <a:sym typeface="Cambria Bold"/>
                </a:rPr>
                <a:t>1</a:t>
              </a:r>
            </a:p>
          </p:txBody>
        </p:sp>
      </p:grpSp>
      <p:grpSp>
        <p:nvGrpSpPr>
          <p:cNvPr name="Group 47" id="47"/>
          <p:cNvGrpSpPr/>
          <p:nvPr/>
        </p:nvGrpSpPr>
        <p:grpSpPr>
          <a:xfrm rot="0">
            <a:off x="1554480" y="16779240"/>
            <a:ext cx="8915400" cy="1463040"/>
            <a:chOff x="0" y="0"/>
            <a:chExt cx="11887200" cy="1950720"/>
          </a:xfrm>
        </p:grpSpPr>
        <p:sp>
          <p:nvSpPr>
            <p:cNvPr name="Freeform 48" id="48"/>
            <p:cNvSpPr/>
            <p:nvPr/>
          </p:nvSpPr>
          <p:spPr>
            <a:xfrm flipH="false" flipV="false" rot="0">
              <a:off x="0" y="0"/>
              <a:ext cx="11887200" cy="1950720"/>
            </a:xfrm>
            <a:custGeom>
              <a:avLst/>
              <a:gdLst/>
              <a:ahLst/>
              <a:cxnLst/>
              <a:rect r="r" b="b" t="t" l="l"/>
              <a:pathLst>
                <a:path h="1950720" w="11887200">
                  <a:moveTo>
                    <a:pt x="0" y="0"/>
                  </a:moveTo>
                  <a:lnTo>
                    <a:pt x="11887200" y="0"/>
                  </a:lnTo>
                  <a:lnTo>
                    <a:pt x="11887200" y="1950720"/>
                  </a:lnTo>
                  <a:lnTo>
                    <a:pt x="0" y="1950720"/>
                  </a:lnTo>
                  <a:close/>
                </a:path>
              </a:pathLst>
            </a:custGeom>
            <a:blipFill>
              <a:blip r:embed="rId3">
                <a:alphaModFix amt="0"/>
              </a:blip>
              <a:stretch>
                <a:fillRect l="0" t="-68736" r="0" b="-68736"/>
              </a:stretch>
            </a:blipFill>
          </p:spPr>
        </p:sp>
        <p:sp>
          <p:nvSpPr>
            <p:cNvPr name="TextBox 49" id="49"/>
            <p:cNvSpPr txBox="true"/>
            <p:nvPr/>
          </p:nvSpPr>
          <p:spPr>
            <a:xfrm>
              <a:off x="0" y="-114300"/>
              <a:ext cx="11887200" cy="2065020"/>
            </a:xfrm>
            <a:prstGeom prst="rect">
              <a:avLst/>
            </a:prstGeom>
          </p:spPr>
          <p:txBody>
            <a:bodyPr anchor="ctr" rtlCol="false" tIns="0" lIns="0" bIns="0" rIns="0"/>
            <a:lstStyle/>
            <a:p>
              <a:pPr algn="l">
                <a:lnSpc>
                  <a:spcPts val="4619"/>
                </a:lnSpc>
              </a:pPr>
              <a:r>
                <a:rPr lang="en-US" sz="3499">
                  <a:solidFill>
                    <a:srgbClr val="1B2A4A"/>
                  </a:solidFill>
                  <a:latin typeface="Calibri (MS)"/>
                  <a:ea typeface="Calibri (MS)"/>
                  <a:cs typeface="Calibri (MS)"/>
                  <a:sym typeface="Calibri (MS)"/>
                </a:rPr>
                <a:t>Calculate the mean monthly salary of employees</a:t>
              </a:r>
            </a:p>
          </p:txBody>
        </p:sp>
      </p:grpSp>
      <p:grpSp>
        <p:nvGrpSpPr>
          <p:cNvPr name="Group 50" id="50"/>
          <p:cNvGrpSpPr/>
          <p:nvPr/>
        </p:nvGrpSpPr>
        <p:grpSpPr>
          <a:xfrm rot="0">
            <a:off x="868680" y="18722340"/>
            <a:ext cx="502920" cy="502920"/>
            <a:chOff x="0" y="0"/>
            <a:chExt cx="670560" cy="670560"/>
          </a:xfrm>
        </p:grpSpPr>
        <p:sp>
          <p:nvSpPr>
            <p:cNvPr name="Freeform 51" id="51"/>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C98A0A"/>
            </a:solidFill>
          </p:spPr>
        </p:sp>
      </p:grpSp>
      <p:grpSp>
        <p:nvGrpSpPr>
          <p:cNvPr name="Group 52" id="52"/>
          <p:cNvGrpSpPr/>
          <p:nvPr/>
        </p:nvGrpSpPr>
        <p:grpSpPr>
          <a:xfrm rot="0">
            <a:off x="822960" y="17716500"/>
            <a:ext cx="502920" cy="2559925"/>
            <a:chOff x="0" y="0"/>
            <a:chExt cx="670560" cy="3413234"/>
          </a:xfrm>
        </p:grpSpPr>
        <p:sp>
          <p:nvSpPr>
            <p:cNvPr name="Freeform 53" id="53"/>
            <p:cNvSpPr/>
            <p:nvPr/>
          </p:nvSpPr>
          <p:spPr>
            <a:xfrm flipH="false" flipV="false" rot="0">
              <a:off x="0" y="0"/>
              <a:ext cx="670560" cy="3413234"/>
            </a:xfrm>
            <a:custGeom>
              <a:avLst/>
              <a:gdLst/>
              <a:ahLst/>
              <a:cxnLst/>
              <a:rect r="r" b="b" t="t" l="l"/>
              <a:pathLst>
                <a:path h="3413234" w="670560">
                  <a:moveTo>
                    <a:pt x="0" y="0"/>
                  </a:moveTo>
                  <a:lnTo>
                    <a:pt x="670560" y="0"/>
                  </a:lnTo>
                  <a:lnTo>
                    <a:pt x="670560" y="3413234"/>
                  </a:lnTo>
                  <a:lnTo>
                    <a:pt x="0" y="3413234"/>
                  </a:lnTo>
                  <a:close/>
                </a:path>
              </a:pathLst>
            </a:custGeom>
            <a:blipFill>
              <a:blip r:embed="rId3">
                <a:alphaModFix amt="0"/>
              </a:blip>
              <a:stretch>
                <a:fillRect l="-78303" t="0" r="-78303" b="80354"/>
              </a:stretch>
            </a:blipFill>
          </p:spPr>
        </p:sp>
        <p:sp>
          <p:nvSpPr>
            <p:cNvPr name="TextBox 54" id="54"/>
            <p:cNvSpPr txBox="true"/>
            <p:nvPr/>
          </p:nvSpPr>
          <p:spPr>
            <a:xfrm>
              <a:off x="0" y="-9525"/>
              <a:ext cx="670560" cy="3422759"/>
            </a:xfrm>
            <a:prstGeom prst="rect">
              <a:avLst/>
            </a:prstGeom>
          </p:spPr>
          <p:txBody>
            <a:bodyPr anchor="ctr" rtlCol="false" tIns="0" lIns="0" bIns="0" rIns="0"/>
            <a:lstStyle/>
            <a:p>
              <a:pPr algn="ctr">
                <a:lnSpc>
                  <a:spcPts val="4199"/>
                </a:lnSpc>
              </a:pPr>
              <a:r>
                <a:rPr lang="en-US" sz="3499" b="true">
                  <a:solidFill>
                    <a:srgbClr val="FFFFFF"/>
                  </a:solidFill>
                  <a:latin typeface="Cambria Bold"/>
                  <a:ea typeface="Cambria Bold"/>
                  <a:cs typeface="Cambria Bold"/>
                  <a:sym typeface="Cambria Bold"/>
                </a:rPr>
                <a:t>2</a:t>
              </a:r>
            </a:p>
          </p:txBody>
        </p:sp>
      </p:grpSp>
      <p:grpSp>
        <p:nvGrpSpPr>
          <p:cNvPr name="Group 55" id="55"/>
          <p:cNvGrpSpPr/>
          <p:nvPr/>
        </p:nvGrpSpPr>
        <p:grpSpPr>
          <a:xfrm rot="0">
            <a:off x="1554480" y="18242280"/>
            <a:ext cx="8915400" cy="1463040"/>
            <a:chOff x="0" y="0"/>
            <a:chExt cx="11887200" cy="1950720"/>
          </a:xfrm>
        </p:grpSpPr>
        <p:sp>
          <p:nvSpPr>
            <p:cNvPr name="Freeform 56" id="56"/>
            <p:cNvSpPr/>
            <p:nvPr/>
          </p:nvSpPr>
          <p:spPr>
            <a:xfrm flipH="false" flipV="false" rot="0">
              <a:off x="0" y="0"/>
              <a:ext cx="11887200" cy="1950720"/>
            </a:xfrm>
            <a:custGeom>
              <a:avLst/>
              <a:gdLst/>
              <a:ahLst/>
              <a:cxnLst/>
              <a:rect r="r" b="b" t="t" l="l"/>
              <a:pathLst>
                <a:path h="1950720" w="11887200">
                  <a:moveTo>
                    <a:pt x="0" y="0"/>
                  </a:moveTo>
                  <a:lnTo>
                    <a:pt x="11887200" y="0"/>
                  </a:lnTo>
                  <a:lnTo>
                    <a:pt x="11887200" y="1950720"/>
                  </a:lnTo>
                  <a:lnTo>
                    <a:pt x="0" y="1950720"/>
                  </a:lnTo>
                  <a:close/>
                </a:path>
              </a:pathLst>
            </a:custGeom>
            <a:blipFill>
              <a:blip r:embed="rId3">
                <a:alphaModFix amt="0"/>
              </a:blip>
              <a:stretch>
                <a:fillRect l="0" t="-68736" r="0" b="-68736"/>
              </a:stretch>
            </a:blipFill>
          </p:spPr>
        </p:sp>
        <p:sp>
          <p:nvSpPr>
            <p:cNvPr name="TextBox 57" id="57"/>
            <p:cNvSpPr txBox="true"/>
            <p:nvPr/>
          </p:nvSpPr>
          <p:spPr>
            <a:xfrm>
              <a:off x="0" y="-114300"/>
              <a:ext cx="11887200" cy="2065020"/>
            </a:xfrm>
            <a:prstGeom prst="rect">
              <a:avLst/>
            </a:prstGeom>
          </p:spPr>
          <p:txBody>
            <a:bodyPr anchor="ctr" rtlCol="false" tIns="0" lIns="0" bIns="0" rIns="0"/>
            <a:lstStyle/>
            <a:p>
              <a:pPr algn="l">
                <a:lnSpc>
                  <a:spcPts val="4619"/>
                </a:lnSpc>
              </a:pPr>
              <a:r>
                <a:rPr lang="en-US" sz="3499">
                  <a:solidFill>
                    <a:srgbClr val="1B2A4A"/>
                  </a:solidFill>
                  <a:latin typeface="Calibri (MS)"/>
                  <a:ea typeface="Calibri (MS)"/>
                  <a:cs typeface="Calibri (MS)"/>
                  <a:sym typeface="Calibri (MS)"/>
                </a:rPr>
                <a:t>Determine salary variance and standard deviation</a:t>
              </a:r>
            </a:p>
          </p:txBody>
        </p:sp>
      </p:grpSp>
      <p:grpSp>
        <p:nvGrpSpPr>
          <p:cNvPr name="Group 58" id="58"/>
          <p:cNvGrpSpPr/>
          <p:nvPr/>
        </p:nvGrpSpPr>
        <p:grpSpPr>
          <a:xfrm rot="0">
            <a:off x="868680" y="20185380"/>
            <a:ext cx="502920" cy="502920"/>
            <a:chOff x="0" y="0"/>
            <a:chExt cx="670560" cy="670560"/>
          </a:xfrm>
        </p:grpSpPr>
        <p:sp>
          <p:nvSpPr>
            <p:cNvPr name="Freeform 59" id="59"/>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C98A0A"/>
            </a:solidFill>
          </p:spPr>
        </p:sp>
      </p:grpSp>
      <p:grpSp>
        <p:nvGrpSpPr>
          <p:cNvPr name="Group 60" id="60"/>
          <p:cNvGrpSpPr/>
          <p:nvPr/>
        </p:nvGrpSpPr>
        <p:grpSpPr>
          <a:xfrm rot="0">
            <a:off x="868680" y="19156877"/>
            <a:ext cx="502920" cy="2559925"/>
            <a:chOff x="0" y="0"/>
            <a:chExt cx="670560" cy="3413234"/>
          </a:xfrm>
        </p:grpSpPr>
        <p:sp>
          <p:nvSpPr>
            <p:cNvPr name="Freeform 61" id="61"/>
            <p:cNvSpPr/>
            <p:nvPr/>
          </p:nvSpPr>
          <p:spPr>
            <a:xfrm flipH="false" flipV="false" rot="0">
              <a:off x="0" y="0"/>
              <a:ext cx="670560" cy="3413234"/>
            </a:xfrm>
            <a:custGeom>
              <a:avLst/>
              <a:gdLst/>
              <a:ahLst/>
              <a:cxnLst/>
              <a:rect r="r" b="b" t="t" l="l"/>
              <a:pathLst>
                <a:path h="3413234" w="670560">
                  <a:moveTo>
                    <a:pt x="0" y="0"/>
                  </a:moveTo>
                  <a:lnTo>
                    <a:pt x="670560" y="0"/>
                  </a:lnTo>
                  <a:lnTo>
                    <a:pt x="670560" y="3413234"/>
                  </a:lnTo>
                  <a:lnTo>
                    <a:pt x="0" y="3413234"/>
                  </a:lnTo>
                  <a:close/>
                </a:path>
              </a:pathLst>
            </a:custGeom>
            <a:blipFill>
              <a:blip r:embed="rId3">
                <a:alphaModFix amt="0"/>
              </a:blip>
              <a:stretch>
                <a:fillRect l="-78303" t="0" r="-78303" b="80354"/>
              </a:stretch>
            </a:blipFill>
          </p:spPr>
        </p:sp>
        <p:sp>
          <p:nvSpPr>
            <p:cNvPr name="TextBox 62" id="62"/>
            <p:cNvSpPr txBox="true"/>
            <p:nvPr/>
          </p:nvSpPr>
          <p:spPr>
            <a:xfrm>
              <a:off x="0" y="-9525"/>
              <a:ext cx="670560" cy="3422759"/>
            </a:xfrm>
            <a:prstGeom prst="rect">
              <a:avLst/>
            </a:prstGeom>
          </p:spPr>
          <p:txBody>
            <a:bodyPr anchor="ctr" rtlCol="false" tIns="0" lIns="0" bIns="0" rIns="0"/>
            <a:lstStyle/>
            <a:p>
              <a:pPr algn="ctr">
                <a:lnSpc>
                  <a:spcPts val="4199"/>
                </a:lnSpc>
              </a:pPr>
              <a:r>
                <a:rPr lang="en-US" sz="3499" b="true">
                  <a:solidFill>
                    <a:srgbClr val="FFFFFF"/>
                  </a:solidFill>
                  <a:latin typeface="Cambria Bold"/>
                  <a:ea typeface="Cambria Bold"/>
                  <a:cs typeface="Cambria Bold"/>
                  <a:sym typeface="Cambria Bold"/>
                </a:rPr>
                <a:t>3</a:t>
              </a:r>
            </a:p>
          </p:txBody>
        </p:sp>
      </p:grpSp>
      <p:grpSp>
        <p:nvGrpSpPr>
          <p:cNvPr name="Group 63" id="63"/>
          <p:cNvGrpSpPr/>
          <p:nvPr/>
        </p:nvGrpSpPr>
        <p:grpSpPr>
          <a:xfrm rot="0">
            <a:off x="1554480" y="19705320"/>
            <a:ext cx="8915400" cy="1463040"/>
            <a:chOff x="0" y="0"/>
            <a:chExt cx="11887200" cy="1950720"/>
          </a:xfrm>
        </p:grpSpPr>
        <p:sp>
          <p:nvSpPr>
            <p:cNvPr name="Freeform 64" id="64"/>
            <p:cNvSpPr/>
            <p:nvPr/>
          </p:nvSpPr>
          <p:spPr>
            <a:xfrm flipH="false" flipV="false" rot="0">
              <a:off x="0" y="0"/>
              <a:ext cx="11887200" cy="1950720"/>
            </a:xfrm>
            <a:custGeom>
              <a:avLst/>
              <a:gdLst/>
              <a:ahLst/>
              <a:cxnLst/>
              <a:rect r="r" b="b" t="t" l="l"/>
              <a:pathLst>
                <a:path h="1950720" w="11887200">
                  <a:moveTo>
                    <a:pt x="0" y="0"/>
                  </a:moveTo>
                  <a:lnTo>
                    <a:pt x="11887200" y="0"/>
                  </a:lnTo>
                  <a:lnTo>
                    <a:pt x="11887200" y="1950720"/>
                  </a:lnTo>
                  <a:lnTo>
                    <a:pt x="0" y="1950720"/>
                  </a:lnTo>
                  <a:close/>
                </a:path>
              </a:pathLst>
            </a:custGeom>
            <a:blipFill>
              <a:blip r:embed="rId3">
                <a:alphaModFix amt="0"/>
              </a:blip>
              <a:stretch>
                <a:fillRect l="0" t="-68736" r="0" b="-68736"/>
              </a:stretch>
            </a:blipFill>
          </p:spPr>
        </p:sp>
        <p:sp>
          <p:nvSpPr>
            <p:cNvPr name="TextBox 65" id="65"/>
            <p:cNvSpPr txBox="true"/>
            <p:nvPr/>
          </p:nvSpPr>
          <p:spPr>
            <a:xfrm>
              <a:off x="0" y="-114300"/>
              <a:ext cx="11887200" cy="2065020"/>
            </a:xfrm>
            <a:prstGeom prst="rect">
              <a:avLst/>
            </a:prstGeom>
          </p:spPr>
          <p:txBody>
            <a:bodyPr anchor="ctr" rtlCol="false" tIns="0" lIns="0" bIns="0" rIns="0"/>
            <a:lstStyle/>
            <a:p>
              <a:pPr algn="l">
                <a:lnSpc>
                  <a:spcPts val="4619"/>
                </a:lnSpc>
              </a:pPr>
              <a:r>
                <a:rPr lang="en-US" sz="3499">
                  <a:solidFill>
                    <a:srgbClr val="1B2A4A"/>
                  </a:solidFill>
                  <a:latin typeface="Calibri (MS)"/>
                  <a:ea typeface="Calibri (MS)"/>
                  <a:cs typeface="Calibri (MS)"/>
                  <a:sym typeface="Calibri (MS)"/>
                </a:rPr>
                <a:t>Analyze salary distribution patterns</a:t>
              </a:r>
            </a:p>
          </p:txBody>
        </p:sp>
      </p:grpSp>
      <p:grpSp>
        <p:nvGrpSpPr>
          <p:cNvPr name="Group 66" id="66"/>
          <p:cNvGrpSpPr/>
          <p:nvPr/>
        </p:nvGrpSpPr>
        <p:grpSpPr>
          <a:xfrm rot="0">
            <a:off x="868680" y="21648420"/>
            <a:ext cx="502920" cy="502920"/>
            <a:chOff x="0" y="0"/>
            <a:chExt cx="670560" cy="670560"/>
          </a:xfrm>
        </p:grpSpPr>
        <p:sp>
          <p:nvSpPr>
            <p:cNvPr name="Freeform 67" id="67"/>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C98A0A"/>
            </a:solidFill>
          </p:spPr>
        </p:sp>
      </p:grpSp>
      <p:grpSp>
        <p:nvGrpSpPr>
          <p:cNvPr name="Group 68" id="68"/>
          <p:cNvGrpSpPr/>
          <p:nvPr/>
        </p:nvGrpSpPr>
        <p:grpSpPr>
          <a:xfrm rot="0">
            <a:off x="822960" y="20665637"/>
            <a:ext cx="521208" cy="2559925"/>
            <a:chOff x="0" y="0"/>
            <a:chExt cx="681079" cy="3345136"/>
          </a:xfrm>
        </p:grpSpPr>
        <p:sp>
          <p:nvSpPr>
            <p:cNvPr name="Freeform 69" id="69"/>
            <p:cNvSpPr/>
            <p:nvPr/>
          </p:nvSpPr>
          <p:spPr>
            <a:xfrm flipH="false" flipV="false" rot="0">
              <a:off x="0" y="0"/>
              <a:ext cx="681079" cy="3345136"/>
            </a:xfrm>
            <a:custGeom>
              <a:avLst/>
              <a:gdLst/>
              <a:ahLst/>
              <a:cxnLst/>
              <a:rect r="r" b="b" t="t" l="l"/>
              <a:pathLst>
                <a:path h="3345136" w="681079">
                  <a:moveTo>
                    <a:pt x="0" y="0"/>
                  </a:moveTo>
                  <a:lnTo>
                    <a:pt x="681079" y="0"/>
                  </a:lnTo>
                  <a:lnTo>
                    <a:pt x="681079" y="3345136"/>
                  </a:lnTo>
                  <a:lnTo>
                    <a:pt x="0" y="3345136"/>
                  </a:lnTo>
                  <a:close/>
                </a:path>
              </a:pathLst>
            </a:custGeom>
            <a:blipFill>
              <a:blip r:embed="rId3">
                <a:alphaModFix amt="0"/>
              </a:blip>
              <a:stretch>
                <a:fillRect l="-77094" t="0" r="-75549" b="79954"/>
              </a:stretch>
            </a:blipFill>
          </p:spPr>
        </p:sp>
        <p:sp>
          <p:nvSpPr>
            <p:cNvPr name="TextBox 70" id="70"/>
            <p:cNvSpPr txBox="true"/>
            <p:nvPr/>
          </p:nvSpPr>
          <p:spPr>
            <a:xfrm>
              <a:off x="0" y="-9525"/>
              <a:ext cx="681079" cy="3354661"/>
            </a:xfrm>
            <a:prstGeom prst="rect">
              <a:avLst/>
            </a:prstGeom>
          </p:spPr>
          <p:txBody>
            <a:bodyPr anchor="ctr" rtlCol="false" tIns="0" lIns="0" bIns="0" rIns="0"/>
            <a:lstStyle/>
            <a:p>
              <a:pPr algn="ctr">
                <a:lnSpc>
                  <a:spcPts val="4199"/>
                </a:lnSpc>
              </a:pPr>
              <a:r>
                <a:rPr lang="en-US" sz="3499" b="true">
                  <a:solidFill>
                    <a:srgbClr val="FFFFFF"/>
                  </a:solidFill>
                  <a:latin typeface="Cambria Bold"/>
                  <a:ea typeface="Cambria Bold"/>
                  <a:cs typeface="Cambria Bold"/>
                  <a:sym typeface="Cambria Bold"/>
                </a:rPr>
                <a:t>4</a:t>
              </a:r>
            </a:p>
          </p:txBody>
        </p:sp>
      </p:grpSp>
      <p:grpSp>
        <p:nvGrpSpPr>
          <p:cNvPr name="Group 71" id="71"/>
          <p:cNvGrpSpPr/>
          <p:nvPr/>
        </p:nvGrpSpPr>
        <p:grpSpPr>
          <a:xfrm rot="0">
            <a:off x="1554480" y="21168360"/>
            <a:ext cx="8915400" cy="1463040"/>
            <a:chOff x="0" y="0"/>
            <a:chExt cx="11887200" cy="1950720"/>
          </a:xfrm>
        </p:grpSpPr>
        <p:sp>
          <p:nvSpPr>
            <p:cNvPr name="Freeform 72" id="72"/>
            <p:cNvSpPr/>
            <p:nvPr/>
          </p:nvSpPr>
          <p:spPr>
            <a:xfrm flipH="false" flipV="false" rot="0">
              <a:off x="0" y="0"/>
              <a:ext cx="11887200" cy="1950720"/>
            </a:xfrm>
            <a:custGeom>
              <a:avLst/>
              <a:gdLst/>
              <a:ahLst/>
              <a:cxnLst/>
              <a:rect r="r" b="b" t="t" l="l"/>
              <a:pathLst>
                <a:path h="1950720" w="11887200">
                  <a:moveTo>
                    <a:pt x="0" y="0"/>
                  </a:moveTo>
                  <a:lnTo>
                    <a:pt x="11887200" y="0"/>
                  </a:lnTo>
                  <a:lnTo>
                    <a:pt x="11887200" y="1950720"/>
                  </a:lnTo>
                  <a:lnTo>
                    <a:pt x="0" y="1950720"/>
                  </a:lnTo>
                  <a:close/>
                </a:path>
              </a:pathLst>
            </a:custGeom>
            <a:blipFill>
              <a:blip r:embed="rId3">
                <a:alphaModFix amt="0"/>
              </a:blip>
              <a:stretch>
                <a:fillRect l="0" t="-68736" r="0" b="-68736"/>
              </a:stretch>
            </a:blipFill>
          </p:spPr>
        </p:sp>
        <p:sp>
          <p:nvSpPr>
            <p:cNvPr name="TextBox 73" id="73"/>
            <p:cNvSpPr txBox="true"/>
            <p:nvPr/>
          </p:nvSpPr>
          <p:spPr>
            <a:xfrm>
              <a:off x="0" y="-114300"/>
              <a:ext cx="11887200" cy="2065020"/>
            </a:xfrm>
            <a:prstGeom prst="rect">
              <a:avLst/>
            </a:prstGeom>
          </p:spPr>
          <p:txBody>
            <a:bodyPr anchor="ctr" rtlCol="false" tIns="0" lIns="0" bIns="0" rIns="0"/>
            <a:lstStyle/>
            <a:p>
              <a:pPr algn="l">
                <a:lnSpc>
                  <a:spcPts val="4619"/>
                </a:lnSpc>
              </a:pPr>
              <a:r>
                <a:rPr lang="en-US" sz="3499">
                  <a:solidFill>
                    <a:srgbClr val="1B2A4A"/>
                  </a:solidFill>
                  <a:latin typeface="Calibri (MS)"/>
                  <a:ea typeface="Calibri (MS)"/>
                  <a:cs typeface="Calibri (MS)"/>
                  <a:sym typeface="Calibri (MS)"/>
                </a:rPr>
                <a:t>Compare salaries across departments and education levels</a:t>
              </a:r>
            </a:p>
          </p:txBody>
        </p:sp>
      </p:grpSp>
      <p:grpSp>
        <p:nvGrpSpPr>
          <p:cNvPr name="Group 74" id="74"/>
          <p:cNvGrpSpPr/>
          <p:nvPr/>
        </p:nvGrpSpPr>
        <p:grpSpPr>
          <a:xfrm rot="0">
            <a:off x="868680" y="23111460"/>
            <a:ext cx="502920" cy="502920"/>
            <a:chOff x="0" y="0"/>
            <a:chExt cx="670560" cy="670560"/>
          </a:xfrm>
        </p:grpSpPr>
        <p:sp>
          <p:nvSpPr>
            <p:cNvPr name="Freeform 75" id="75"/>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C98A0A"/>
            </a:solidFill>
          </p:spPr>
        </p:sp>
      </p:grpSp>
      <p:grpSp>
        <p:nvGrpSpPr>
          <p:cNvPr name="Group 76" id="76"/>
          <p:cNvGrpSpPr/>
          <p:nvPr/>
        </p:nvGrpSpPr>
        <p:grpSpPr>
          <a:xfrm rot="0">
            <a:off x="868680" y="22082957"/>
            <a:ext cx="502920" cy="2559925"/>
            <a:chOff x="0" y="0"/>
            <a:chExt cx="670560" cy="3413234"/>
          </a:xfrm>
        </p:grpSpPr>
        <p:sp>
          <p:nvSpPr>
            <p:cNvPr name="Freeform 77" id="77"/>
            <p:cNvSpPr/>
            <p:nvPr/>
          </p:nvSpPr>
          <p:spPr>
            <a:xfrm flipH="false" flipV="false" rot="0">
              <a:off x="0" y="0"/>
              <a:ext cx="670560" cy="3413234"/>
            </a:xfrm>
            <a:custGeom>
              <a:avLst/>
              <a:gdLst/>
              <a:ahLst/>
              <a:cxnLst/>
              <a:rect r="r" b="b" t="t" l="l"/>
              <a:pathLst>
                <a:path h="3413234" w="670560">
                  <a:moveTo>
                    <a:pt x="0" y="0"/>
                  </a:moveTo>
                  <a:lnTo>
                    <a:pt x="670560" y="0"/>
                  </a:lnTo>
                  <a:lnTo>
                    <a:pt x="670560" y="3413234"/>
                  </a:lnTo>
                  <a:lnTo>
                    <a:pt x="0" y="3413234"/>
                  </a:lnTo>
                  <a:close/>
                </a:path>
              </a:pathLst>
            </a:custGeom>
            <a:blipFill>
              <a:blip r:embed="rId3">
                <a:alphaModFix amt="0"/>
              </a:blip>
              <a:stretch>
                <a:fillRect l="-78303" t="0" r="-78303" b="80354"/>
              </a:stretch>
            </a:blipFill>
          </p:spPr>
        </p:sp>
        <p:sp>
          <p:nvSpPr>
            <p:cNvPr name="TextBox 78" id="78"/>
            <p:cNvSpPr txBox="true"/>
            <p:nvPr/>
          </p:nvSpPr>
          <p:spPr>
            <a:xfrm>
              <a:off x="0" y="-9525"/>
              <a:ext cx="670560" cy="3422759"/>
            </a:xfrm>
            <a:prstGeom prst="rect">
              <a:avLst/>
            </a:prstGeom>
          </p:spPr>
          <p:txBody>
            <a:bodyPr anchor="ctr" rtlCol="false" tIns="0" lIns="0" bIns="0" rIns="0"/>
            <a:lstStyle/>
            <a:p>
              <a:pPr algn="ctr">
                <a:lnSpc>
                  <a:spcPts val="4199"/>
                </a:lnSpc>
              </a:pPr>
              <a:r>
                <a:rPr lang="en-US" sz="3499" b="true">
                  <a:solidFill>
                    <a:srgbClr val="FFFFFF"/>
                  </a:solidFill>
                  <a:latin typeface="Cambria Bold"/>
                  <a:ea typeface="Cambria Bold"/>
                  <a:cs typeface="Cambria Bold"/>
                  <a:sym typeface="Cambria Bold"/>
                </a:rPr>
                <a:t>5</a:t>
              </a:r>
            </a:p>
          </p:txBody>
        </p:sp>
      </p:grpSp>
      <p:grpSp>
        <p:nvGrpSpPr>
          <p:cNvPr name="Group 79" id="79"/>
          <p:cNvGrpSpPr/>
          <p:nvPr/>
        </p:nvGrpSpPr>
        <p:grpSpPr>
          <a:xfrm rot="0">
            <a:off x="1554480" y="22631400"/>
            <a:ext cx="8915400" cy="1463040"/>
            <a:chOff x="0" y="0"/>
            <a:chExt cx="11887200" cy="1950720"/>
          </a:xfrm>
        </p:grpSpPr>
        <p:sp>
          <p:nvSpPr>
            <p:cNvPr name="Freeform 80" id="80"/>
            <p:cNvSpPr/>
            <p:nvPr/>
          </p:nvSpPr>
          <p:spPr>
            <a:xfrm flipH="false" flipV="false" rot="0">
              <a:off x="0" y="0"/>
              <a:ext cx="11887200" cy="1950720"/>
            </a:xfrm>
            <a:custGeom>
              <a:avLst/>
              <a:gdLst/>
              <a:ahLst/>
              <a:cxnLst/>
              <a:rect r="r" b="b" t="t" l="l"/>
              <a:pathLst>
                <a:path h="1950720" w="11887200">
                  <a:moveTo>
                    <a:pt x="0" y="0"/>
                  </a:moveTo>
                  <a:lnTo>
                    <a:pt x="11887200" y="0"/>
                  </a:lnTo>
                  <a:lnTo>
                    <a:pt x="11887200" y="1950720"/>
                  </a:lnTo>
                  <a:lnTo>
                    <a:pt x="0" y="1950720"/>
                  </a:lnTo>
                  <a:close/>
                </a:path>
              </a:pathLst>
            </a:custGeom>
            <a:blipFill>
              <a:blip r:embed="rId3">
                <a:alphaModFix amt="0"/>
              </a:blip>
              <a:stretch>
                <a:fillRect l="0" t="-68736" r="0" b="-68736"/>
              </a:stretch>
            </a:blipFill>
          </p:spPr>
        </p:sp>
        <p:sp>
          <p:nvSpPr>
            <p:cNvPr name="TextBox 81" id="81"/>
            <p:cNvSpPr txBox="true"/>
            <p:nvPr/>
          </p:nvSpPr>
          <p:spPr>
            <a:xfrm>
              <a:off x="0" y="-114300"/>
              <a:ext cx="11887200" cy="2065020"/>
            </a:xfrm>
            <a:prstGeom prst="rect">
              <a:avLst/>
            </a:prstGeom>
          </p:spPr>
          <p:txBody>
            <a:bodyPr anchor="ctr" rtlCol="false" tIns="0" lIns="0" bIns="0" rIns="0"/>
            <a:lstStyle/>
            <a:p>
              <a:pPr algn="l">
                <a:lnSpc>
                  <a:spcPts val="4619"/>
                </a:lnSpc>
              </a:pPr>
              <a:r>
                <a:rPr lang="en-US" sz="3499">
                  <a:solidFill>
                    <a:srgbClr val="1B2A4A"/>
                  </a:solidFill>
                  <a:latin typeface="Calibri (MS)"/>
                  <a:ea typeface="Calibri (MS)"/>
                  <a:cs typeface="Calibri (MS)"/>
                  <a:sym typeface="Calibri (MS)"/>
                </a:rPr>
                <a:t>Identify relationships between experience and salary</a:t>
              </a:r>
            </a:p>
          </p:txBody>
        </p:sp>
      </p:grpSp>
      <p:grpSp>
        <p:nvGrpSpPr>
          <p:cNvPr name="Group 82" id="82"/>
          <p:cNvGrpSpPr/>
          <p:nvPr/>
        </p:nvGrpSpPr>
        <p:grpSpPr>
          <a:xfrm rot="0">
            <a:off x="11149327" y="3651247"/>
            <a:ext cx="10253977" cy="6047737"/>
            <a:chOff x="0" y="0"/>
            <a:chExt cx="13671969" cy="8063649"/>
          </a:xfrm>
        </p:grpSpPr>
        <p:sp>
          <p:nvSpPr>
            <p:cNvPr name="Freeform 83" id="83"/>
            <p:cNvSpPr/>
            <p:nvPr/>
          </p:nvSpPr>
          <p:spPr>
            <a:xfrm flipH="false" flipV="false" rot="0">
              <a:off x="0" y="0"/>
              <a:ext cx="13671931" cy="8063611"/>
            </a:xfrm>
            <a:custGeom>
              <a:avLst/>
              <a:gdLst/>
              <a:ahLst/>
              <a:cxnLst/>
              <a:rect r="r" b="b" t="t" l="l"/>
              <a:pathLst>
                <a:path h="8063611" w="13671931">
                  <a:moveTo>
                    <a:pt x="0" y="109982"/>
                  </a:moveTo>
                  <a:cubicBezTo>
                    <a:pt x="0" y="49276"/>
                    <a:pt x="49276" y="0"/>
                    <a:pt x="109982" y="0"/>
                  </a:cubicBezTo>
                  <a:lnTo>
                    <a:pt x="13561949" y="0"/>
                  </a:lnTo>
                  <a:cubicBezTo>
                    <a:pt x="13622655" y="0"/>
                    <a:pt x="13671931" y="49276"/>
                    <a:pt x="13671931" y="109982"/>
                  </a:cubicBezTo>
                  <a:lnTo>
                    <a:pt x="13671931" y="7953629"/>
                  </a:lnTo>
                  <a:cubicBezTo>
                    <a:pt x="13671931" y="8014336"/>
                    <a:pt x="13622655" y="8063611"/>
                    <a:pt x="13561949" y="8063611"/>
                  </a:cubicBezTo>
                  <a:lnTo>
                    <a:pt x="109982" y="8063611"/>
                  </a:lnTo>
                  <a:cubicBezTo>
                    <a:pt x="49276" y="8063611"/>
                    <a:pt x="0" y="8014336"/>
                    <a:pt x="0" y="7953629"/>
                  </a:cubicBezTo>
                  <a:close/>
                </a:path>
              </a:pathLst>
            </a:custGeom>
            <a:solidFill>
              <a:srgbClr val="E1F5EA"/>
            </a:solidFill>
            <a:ln w="12700" cap="sq">
              <a:solidFill>
                <a:srgbClr val="FFFFFF"/>
              </a:solidFill>
              <a:prstDash val="solid"/>
              <a:miter/>
            </a:ln>
          </p:spPr>
        </p:sp>
      </p:grpSp>
      <p:grpSp>
        <p:nvGrpSpPr>
          <p:cNvPr name="Group 84" id="84"/>
          <p:cNvGrpSpPr/>
          <p:nvPr/>
        </p:nvGrpSpPr>
        <p:grpSpPr>
          <a:xfrm rot="0">
            <a:off x="11475720" y="3931920"/>
            <a:ext cx="566928" cy="566928"/>
            <a:chOff x="0" y="0"/>
            <a:chExt cx="755904" cy="755904"/>
          </a:xfrm>
        </p:grpSpPr>
        <p:sp>
          <p:nvSpPr>
            <p:cNvPr name="Freeform 85" id="85"/>
            <p:cNvSpPr/>
            <p:nvPr/>
          </p:nvSpPr>
          <p:spPr>
            <a:xfrm flipH="false" flipV="false" rot="0">
              <a:off x="0" y="0"/>
              <a:ext cx="755904" cy="755904"/>
            </a:xfrm>
            <a:custGeom>
              <a:avLst/>
              <a:gdLst/>
              <a:ahLst/>
              <a:cxnLst/>
              <a:rect r="r" b="b" t="t" l="l"/>
              <a:pathLst>
                <a:path h="755904" w="755904">
                  <a:moveTo>
                    <a:pt x="0" y="377952"/>
                  </a:moveTo>
                  <a:cubicBezTo>
                    <a:pt x="0" y="169164"/>
                    <a:pt x="169164" y="0"/>
                    <a:pt x="377952" y="0"/>
                  </a:cubicBezTo>
                  <a:cubicBezTo>
                    <a:pt x="586740" y="0"/>
                    <a:pt x="755904" y="169164"/>
                    <a:pt x="755904" y="377952"/>
                  </a:cubicBezTo>
                  <a:cubicBezTo>
                    <a:pt x="755904" y="586740"/>
                    <a:pt x="586740" y="755904"/>
                    <a:pt x="377952" y="755904"/>
                  </a:cubicBezTo>
                  <a:cubicBezTo>
                    <a:pt x="169164" y="755904"/>
                    <a:pt x="0" y="586740"/>
                    <a:pt x="0" y="377952"/>
                  </a:cubicBezTo>
                  <a:close/>
                </a:path>
              </a:pathLst>
            </a:custGeom>
            <a:solidFill>
              <a:srgbClr val="1E8E5A"/>
            </a:solidFill>
          </p:spPr>
        </p:sp>
      </p:grpSp>
      <p:grpSp>
        <p:nvGrpSpPr>
          <p:cNvPr name="Group 86" id="86"/>
          <p:cNvGrpSpPr/>
          <p:nvPr/>
        </p:nvGrpSpPr>
        <p:grpSpPr>
          <a:xfrm rot="0">
            <a:off x="11475720" y="3931920"/>
            <a:ext cx="566928" cy="566928"/>
            <a:chOff x="0" y="0"/>
            <a:chExt cx="755904" cy="755904"/>
          </a:xfrm>
        </p:grpSpPr>
        <p:sp>
          <p:nvSpPr>
            <p:cNvPr name="Freeform 87" id="87"/>
            <p:cNvSpPr/>
            <p:nvPr/>
          </p:nvSpPr>
          <p:spPr>
            <a:xfrm flipH="false" flipV="false" rot="0">
              <a:off x="0" y="0"/>
              <a:ext cx="755904" cy="755904"/>
            </a:xfrm>
            <a:custGeom>
              <a:avLst/>
              <a:gdLst/>
              <a:ahLst/>
              <a:cxnLst/>
              <a:rect r="r" b="b" t="t" l="l"/>
              <a:pathLst>
                <a:path h="755904" w="755904">
                  <a:moveTo>
                    <a:pt x="0" y="0"/>
                  </a:moveTo>
                  <a:lnTo>
                    <a:pt x="755904" y="0"/>
                  </a:lnTo>
                  <a:lnTo>
                    <a:pt x="755904" y="755904"/>
                  </a:lnTo>
                  <a:lnTo>
                    <a:pt x="0" y="755904"/>
                  </a:lnTo>
                  <a:close/>
                </a:path>
              </a:pathLst>
            </a:custGeom>
            <a:blipFill>
              <a:blip r:embed="rId3">
                <a:alphaModFix amt="0"/>
              </a:blip>
              <a:stretch>
                <a:fillRect l="-78303" t="0" r="-78303" b="0"/>
              </a:stretch>
            </a:blipFill>
          </p:spPr>
        </p:sp>
        <p:sp>
          <p:nvSpPr>
            <p:cNvPr name="TextBox 88" id="88"/>
            <p:cNvSpPr txBox="true"/>
            <p:nvPr/>
          </p:nvSpPr>
          <p:spPr>
            <a:xfrm>
              <a:off x="0" y="-66675"/>
              <a:ext cx="755904" cy="822579"/>
            </a:xfrm>
            <a:prstGeom prst="rect">
              <a:avLst/>
            </a:prstGeom>
          </p:spPr>
          <p:txBody>
            <a:bodyPr anchor="ctr" rtlCol="false" tIns="0" lIns="0" bIns="0" rIns="0"/>
            <a:lstStyle/>
            <a:p>
              <a:pPr algn="ctr">
                <a:lnSpc>
                  <a:spcPts val="3359"/>
                </a:lnSpc>
              </a:pPr>
              <a:r>
                <a:rPr lang="en-US" sz="2799">
                  <a:solidFill>
                    <a:srgbClr val="FFFFFF"/>
                  </a:solidFill>
                  <a:latin typeface="Calibri (MS)"/>
                  <a:ea typeface="Calibri (MS)"/>
                  <a:cs typeface="Calibri (MS)"/>
                  <a:sym typeface="Calibri (MS)"/>
                </a:rPr>
                <a:t>📁</a:t>
              </a:r>
            </a:p>
          </p:txBody>
        </p:sp>
      </p:grpSp>
      <p:grpSp>
        <p:nvGrpSpPr>
          <p:cNvPr name="Group 89" id="89"/>
          <p:cNvGrpSpPr/>
          <p:nvPr/>
        </p:nvGrpSpPr>
        <p:grpSpPr>
          <a:xfrm rot="0">
            <a:off x="12207240" y="2917090"/>
            <a:ext cx="8869680" cy="2415007"/>
            <a:chOff x="0" y="0"/>
            <a:chExt cx="11826240" cy="3220009"/>
          </a:xfrm>
        </p:grpSpPr>
        <p:sp>
          <p:nvSpPr>
            <p:cNvPr name="Freeform 90" id="90"/>
            <p:cNvSpPr/>
            <p:nvPr/>
          </p:nvSpPr>
          <p:spPr>
            <a:xfrm flipH="false" flipV="false" rot="0">
              <a:off x="0" y="0"/>
              <a:ext cx="11826240" cy="3220009"/>
            </a:xfrm>
            <a:custGeom>
              <a:avLst/>
              <a:gdLst/>
              <a:ahLst/>
              <a:cxnLst/>
              <a:rect r="r" b="b" t="t" l="l"/>
              <a:pathLst>
                <a:path h="3220009" w="11826240">
                  <a:moveTo>
                    <a:pt x="0" y="0"/>
                  </a:moveTo>
                  <a:lnTo>
                    <a:pt x="11826240" y="0"/>
                  </a:lnTo>
                  <a:lnTo>
                    <a:pt x="11826240" y="3220009"/>
                  </a:lnTo>
                  <a:lnTo>
                    <a:pt x="0" y="3220009"/>
                  </a:lnTo>
                  <a:close/>
                </a:path>
              </a:pathLst>
            </a:custGeom>
            <a:blipFill>
              <a:blip r:embed="rId3">
                <a:alphaModFix amt="0"/>
              </a:blip>
              <a:stretch>
                <a:fillRect l="0" t="-58689" r="0" b="15563"/>
              </a:stretch>
            </a:blipFill>
          </p:spPr>
        </p:sp>
        <p:sp>
          <p:nvSpPr>
            <p:cNvPr name="TextBox 91" id="91"/>
            <p:cNvSpPr txBox="true"/>
            <p:nvPr/>
          </p:nvSpPr>
          <p:spPr>
            <a:xfrm>
              <a:off x="0" y="-9525"/>
              <a:ext cx="11826240" cy="3229534"/>
            </a:xfrm>
            <a:prstGeom prst="rect">
              <a:avLst/>
            </a:prstGeom>
          </p:spPr>
          <p:txBody>
            <a:bodyPr anchor="ctr" rtlCol="false" tIns="0" lIns="0" bIns="0" rIns="0"/>
            <a:lstStyle/>
            <a:p>
              <a:pPr algn="ctr">
                <a:lnSpc>
                  <a:spcPts val="3959"/>
                </a:lnSpc>
              </a:pPr>
              <a:r>
                <a:rPr lang="en-US" sz="3299" b="true">
                  <a:solidFill>
                    <a:srgbClr val="1B2A4A"/>
                  </a:solidFill>
                  <a:latin typeface="Cambria Bold"/>
                  <a:ea typeface="Cambria Bold"/>
                  <a:cs typeface="Cambria Bold"/>
                  <a:sym typeface="Cambria Bold"/>
                </a:rPr>
                <a:t>Dataset Description</a:t>
              </a:r>
            </a:p>
          </p:txBody>
        </p:sp>
      </p:grpSp>
      <p:sp>
        <p:nvSpPr>
          <p:cNvPr name="TextBox 92" id="92"/>
          <p:cNvSpPr txBox="true"/>
          <p:nvPr/>
        </p:nvSpPr>
        <p:spPr>
          <a:xfrm rot="0">
            <a:off x="11759184" y="4397121"/>
            <a:ext cx="9601200" cy="2131695"/>
          </a:xfrm>
          <a:prstGeom prst="rect">
            <a:avLst/>
          </a:prstGeom>
        </p:spPr>
        <p:txBody>
          <a:bodyPr anchor="t" rtlCol="false" tIns="0" lIns="0" bIns="0" rIns="0">
            <a:spAutoFit/>
          </a:bodyPr>
          <a:lstStyle/>
          <a:p>
            <a:pPr algn="l">
              <a:lnSpc>
                <a:spcPts val="4199"/>
              </a:lnSpc>
            </a:pPr>
            <a:r>
              <a:rPr lang="en-US" sz="2799" b="true">
                <a:solidFill>
                  <a:srgbClr val="1E8E5A"/>
                </a:solidFill>
                <a:latin typeface="Calibri (MS) Bold"/>
                <a:ea typeface="Calibri (MS) Bold"/>
                <a:cs typeface="Calibri (MS) Bold"/>
                <a:sym typeface="Calibri (MS) Bold"/>
              </a:rPr>
              <a:t>Dataset:  </a:t>
            </a:r>
            <a:r>
              <a:rPr lang="en-US" sz="2799">
                <a:solidFill>
                  <a:srgbClr val="1B2A4A"/>
                </a:solidFill>
                <a:latin typeface="Calibri (MS)"/>
                <a:ea typeface="Calibri (MS)"/>
                <a:cs typeface="Calibri (MS)"/>
                <a:sym typeface="Calibri (MS)"/>
              </a:rPr>
              <a:t>Employee Salary Dataset</a:t>
            </a:r>
          </a:p>
          <a:p>
            <a:pPr algn="l">
              <a:lnSpc>
                <a:spcPts val="4199"/>
              </a:lnSpc>
            </a:pPr>
            <a:r>
              <a:rPr lang="en-US" sz="2799" b="true">
                <a:solidFill>
                  <a:srgbClr val="1E8E5A"/>
                </a:solidFill>
                <a:latin typeface="Calibri (MS) Bold"/>
                <a:ea typeface="Calibri (MS) Bold"/>
                <a:cs typeface="Calibri (MS) Bold"/>
                <a:sym typeface="Calibri (MS) Bold"/>
              </a:rPr>
              <a:t>Records:  </a:t>
            </a:r>
            <a:r>
              <a:rPr lang="en-US" sz="2799">
                <a:solidFill>
                  <a:srgbClr val="1B2A4A"/>
                </a:solidFill>
                <a:latin typeface="Calibri (MS)"/>
                <a:ea typeface="Calibri (MS)"/>
                <a:cs typeface="Calibri (MS)"/>
                <a:sym typeface="Calibri (MS)"/>
              </a:rPr>
              <a:t>50 employees, 9 attributes</a:t>
            </a:r>
          </a:p>
          <a:p>
            <a:pPr algn="l">
              <a:lnSpc>
                <a:spcPts val="4199"/>
              </a:lnSpc>
            </a:pPr>
            <a:r>
              <a:rPr lang="en-US" sz="2799" b="true">
                <a:solidFill>
                  <a:srgbClr val="1E8E5A"/>
                </a:solidFill>
                <a:latin typeface="Calibri (MS) Bold"/>
                <a:ea typeface="Calibri (MS) Bold"/>
                <a:cs typeface="Calibri (MS) Bold"/>
                <a:sym typeface="Calibri (MS) Bold"/>
              </a:rPr>
              <a:t>Departments:  </a:t>
            </a:r>
            <a:r>
              <a:rPr lang="en-US" sz="2799">
                <a:solidFill>
                  <a:srgbClr val="1B2A4A"/>
                </a:solidFill>
                <a:latin typeface="Calibri (MS)"/>
                <a:ea typeface="Calibri (MS)"/>
                <a:cs typeface="Calibri (MS)"/>
                <a:sym typeface="Calibri (MS)"/>
              </a:rPr>
              <a:t>IT, HR, Finance, Marketing, Operations</a:t>
            </a:r>
          </a:p>
          <a:p>
            <a:pPr algn="l">
              <a:lnSpc>
                <a:spcPts val="4199"/>
              </a:lnSpc>
            </a:pPr>
            <a:r>
              <a:rPr lang="en-US" sz="2799" b="true">
                <a:solidFill>
                  <a:srgbClr val="1E8E5A"/>
                </a:solidFill>
                <a:latin typeface="Calibri (MS) Bold"/>
                <a:ea typeface="Calibri (MS) Bold"/>
                <a:cs typeface="Calibri (MS) Bold"/>
                <a:sym typeface="Calibri (MS) Bold"/>
              </a:rPr>
              <a:t>Education levels:  </a:t>
            </a:r>
            <a:r>
              <a:rPr lang="en-US" sz="2799">
                <a:solidFill>
                  <a:srgbClr val="1B2A4A"/>
                </a:solidFill>
                <a:latin typeface="Calibri (MS)"/>
                <a:ea typeface="Calibri (MS)"/>
                <a:cs typeface="Calibri (MS)"/>
                <a:sym typeface="Calibri (MS)"/>
              </a:rPr>
              <a:t>High School, Bachelor's, Master's, PhD</a:t>
            </a:r>
          </a:p>
        </p:txBody>
      </p:sp>
      <p:graphicFrame>
        <p:nvGraphicFramePr>
          <p:cNvPr name="Table 93" id="93"/>
          <p:cNvGraphicFramePr>
            <a:graphicFrameLocks noGrp="true"/>
          </p:cNvGraphicFramePr>
          <p:nvPr/>
        </p:nvGraphicFramePr>
        <p:xfrm>
          <a:off x="12136755" y="6600822"/>
          <a:ext cx="6791325" cy="3327400"/>
        </p:xfrm>
        <a:graphic>
          <a:graphicData uri="http://schemas.openxmlformats.org/drawingml/2006/table">
            <a:tbl>
              <a:tblPr/>
              <a:tblGrid>
                <a:gridCol w="1597842"/>
                <a:gridCol w="1342565"/>
                <a:gridCol w="661828"/>
                <a:gridCol w="1342565"/>
                <a:gridCol w="1846524"/>
              </a:tblGrid>
              <a:tr h="554567">
                <a:tc>
                  <a:txBody>
                    <a:bodyPr anchor="t" rtlCol="false"/>
                    <a:lstStyle/>
                    <a:p>
                      <a:pPr algn="ctr">
                        <a:lnSpc>
                          <a:spcPts val="2159"/>
                        </a:lnSpc>
                        <a:defRPr/>
                      </a:pPr>
                      <a:r>
                        <a:rPr lang="en-US" sz="1799" b="true">
                          <a:solidFill>
                            <a:srgbClr val="FFFFFF"/>
                          </a:solidFill>
                          <a:latin typeface="Calibri (MS) Bold"/>
                          <a:ea typeface="Calibri (MS) Bold"/>
                          <a:cs typeface="Calibri (MS) Bold"/>
                          <a:sym typeface="Calibri (MS) Bold"/>
                        </a:rPr>
                        <a:t>Name</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1E8E5A"/>
                    </a:solidFill>
                  </a:tcPr>
                </a:tc>
                <a:tc>
                  <a:txBody>
                    <a:bodyPr anchor="t" rtlCol="false"/>
                    <a:lstStyle/>
                    <a:p>
                      <a:pPr algn="ctr">
                        <a:lnSpc>
                          <a:spcPts val="2159"/>
                        </a:lnSpc>
                        <a:defRPr/>
                      </a:pPr>
                      <a:r>
                        <a:rPr lang="en-US" sz="1799" b="true">
                          <a:solidFill>
                            <a:srgbClr val="FFFFFF"/>
                          </a:solidFill>
                          <a:latin typeface="Calibri (MS) Bold"/>
                          <a:ea typeface="Calibri (MS) Bold"/>
                          <a:cs typeface="Calibri (MS) Bold"/>
                          <a:sym typeface="Calibri (MS) Bold"/>
                        </a:rPr>
                        <a:t>Dept.</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1E8E5A"/>
                    </a:solidFill>
                  </a:tcPr>
                </a:tc>
                <a:tc>
                  <a:txBody>
                    <a:bodyPr anchor="t" rtlCol="false"/>
                    <a:lstStyle/>
                    <a:p>
                      <a:pPr algn="ctr">
                        <a:lnSpc>
                          <a:spcPts val="2159"/>
                        </a:lnSpc>
                        <a:defRPr/>
                      </a:pPr>
                      <a:r>
                        <a:rPr lang="en-US" sz="1799" b="true">
                          <a:solidFill>
                            <a:srgbClr val="FFFFFF"/>
                          </a:solidFill>
                          <a:latin typeface="Calibri (MS) Bold"/>
                          <a:ea typeface="Calibri (MS) Bold"/>
                          <a:cs typeface="Calibri (MS) Bold"/>
                          <a:sym typeface="Calibri (MS) Bold"/>
                        </a:rPr>
                        <a:t>Exp.</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1E8E5A"/>
                    </a:solidFill>
                  </a:tcPr>
                </a:tc>
                <a:tc>
                  <a:txBody>
                    <a:bodyPr anchor="t" rtlCol="false"/>
                    <a:lstStyle/>
                    <a:p>
                      <a:pPr algn="ctr">
                        <a:lnSpc>
                          <a:spcPts val="2159"/>
                        </a:lnSpc>
                        <a:defRPr/>
                      </a:pPr>
                      <a:r>
                        <a:rPr lang="en-US" sz="1799" b="true">
                          <a:solidFill>
                            <a:srgbClr val="FFFFFF"/>
                          </a:solidFill>
                          <a:latin typeface="Calibri (MS) Bold"/>
                          <a:ea typeface="Calibri (MS) Bold"/>
                          <a:cs typeface="Calibri (MS) Bold"/>
                          <a:sym typeface="Calibri (MS) Bold"/>
                        </a:rPr>
                        <a:t>Education</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1E8E5A"/>
                    </a:solidFill>
                  </a:tcPr>
                </a:tc>
                <a:tc>
                  <a:txBody>
                    <a:bodyPr anchor="t" rtlCol="false"/>
                    <a:lstStyle/>
                    <a:p>
                      <a:pPr algn="ctr">
                        <a:lnSpc>
                          <a:spcPts val="2159"/>
                        </a:lnSpc>
                        <a:defRPr/>
                      </a:pPr>
                      <a:r>
                        <a:rPr lang="en-US" sz="1799" b="true">
                          <a:solidFill>
                            <a:srgbClr val="FFFFFF"/>
                          </a:solidFill>
                          <a:latin typeface="Calibri (MS) Bold"/>
                          <a:ea typeface="Calibri (MS) Bold"/>
                          <a:cs typeface="Calibri (MS) Bold"/>
                          <a:sym typeface="Calibri (MS) Bold"/>
                        </a:rPr>
                        <a:t>Salary</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1E8E5A"/>
                    </a:solidFill>
                  </a:tcPr>
                </a:tc>
              </a:tr>
              <a:tr h="554567">
                <a:tc>
                  <a:txBody>
                    <a:bodyPr anchor="t" rtlCol="false"/>
                    <a:lstStyle/>
                    <a:p>
                      <a:pPr algn="l">
                        <a:lnSpc>
                          <a:spcPts val="2159"/>
                        </a:lnSpc>
                        <a:defRPr/>
                      </a:pPr>
                      <a:r>
                        <a:rPr lang="en-US" sz="1799">
                          <a:solidFill>
                            <a:srgbClr val="1B2A4A"/>
                          </a:solidFill>
                          <a:latin typeface="Calibri (MS)"/>
                          <a:ea typeface="Calibri (MS)"/>
                          <a:cs typeface="Calibri (MS)"/>
                          <a:sym typeface="Calibri (MS)"/>
                        </a:rPr>
                        <a:t>Employee_1</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Marketing</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15</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Master</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₹111,416</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r>
              <a:tr h="554567">
                <a:tc>
                  <a:txBody>
                    <a:bodyPr anchor="t" rtlCol="false"/>
                    <a:lstStyle/>
                    <a:p>
                      <a:pPr algn="l">
                        <a:lnSpc>
                          <a:spcPts val="2159"/>
                        </a:lnSpc>
                        <a:defRPr/>
                      </a:pPr>
                      <a:r>
                        <a:rPr lang="en-US" sz="1799">
                          <a:solidFill>
                            <a:srgbClr val="1B2A4A"/>
                          </a:solidFill>
                          <a:latin typeface="Calibri (MS)"/>
                          <a:ea typeface="Calibri (MS)"/>
                          <a:cs typeface="Calibri (MS)"/>
                          <a:sym typeface="Calibri (MS)"/>
                        </a:rPr>
                        <a:t>Employee_2</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Operations</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7</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Bachelor</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₹95,271</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solidFill>
                  </a:tcPr>
                </a:tc>
              </a:tr>
              <a:tr h="554567">
                <a:tc>
                  <a:txBody>
                    <a:bodyPr anchor="t" rtlCol="false"/>
                    <a:lstStyle/>
                    <a:p>
                      <a:pPr algn="l">
                        <a:lnSpc>
                          <a:spcPts val="2159"/>
                        </a:lnSpc>
                        <a:defRPr/>
                      </a:pPr>
                      <a:r>
                        <a:rPr lang="en-US" sz="1799">
                          <a:solidFill>
                            <a:srgbClr val="1B2A4A"/>
                          </a:solidFill>
                          <a:latin typeface="Calibri (MS)"/>
                          <a:ea typeface="Calibri (MS)"/>
                          <a:cs typeface="Calibri (MS)"/>
                          <a:sym typeface="Calibri (MS)"/>
                        </a:rPr>
                        <a:t>Employee_3</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IT</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12</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High School</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₹69,064</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r>
              <a:tr h="554567">
                <a:tc>
                  <a:txBody>
                    <a:bodyPr anchor="t" rtlCol="false"/>
                    <a:lstStyle/>
                    <a:p>
                      <a:pPr algn="l">
                        <a:lnSpc>
                          <a:spcPts val="2159"/>
                        </a:lnSpc>
                        <a:defRPr/>
                      </a:pPr>
                      <a:r>
                        <a:rPr lang="en-US" sz="1799">
                          <a:solidFill>
                            <a:srgbClr val="1B2A4A"/>
                          </a:solidFill>
                          <a:latin typeface="Calibri (MS)"/>
                          <a:ea typeface="Calibri (MS)"/>
                          <a:cs typeface="Calibri (MS)"/>
                          <a:sym typeface="Calibri (MS)"/>
                        </a:rPr>
                        <a:t>Employee_4</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Operations</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8</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PhD</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₹95,091</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solidFill>
                  </a:tcPr>
                </a:tc>
              </a:tr>
              <a:tr h="554567">
                <a:tc>
                  <a:txBody>
                    <a:bodyPr anchor="t" rtlCol="false"/>
                    <a:lstStyle/>
                    <a:p>
                      <a:pPr algn="l">
                        <a:lnSpc>
                          <a:spcPts val="2159"/>
                        </a:lnSpc>
                        <a:defRPr/>
                      </a:pPr>
                      <a:r>
                        <a:rPr lang="en-US" sz="1799">
                          <a:solidFill>
                            <a:srgbClr val="1B2A4A"/>
                          </a:solidFill>
                          <a:latin typeface="Calibri (MS)"/>
                          <a:ea typeface="Calibri (MS)"/>
                          <a:cs typeface="Calibri (MS)"/>
                          <a:sym typeface="Calibri (MS)"/>
                        </a:rPr>
                        <a:t>Employee_5</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Operations</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15</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Master</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c>
                  <a:txBody>
                    <a:bodyPr anchor="t" rtlCol="false"/>
                    <a:lstStyle/>
                    <a:p>
                      <a:pPr algn="l">
                        <a:lnSpc>
                          <a:spcPts val="2159"/>
                        </a:lnSpc>
                        <a:defRPr/>
                      </a:pPr>
                      <a:r>
                        <a:rPr lang="en-US" sz="1799">
                          <a:solidFill>
                            <a:srgbClr val="1B2A4A"/>
                          </a:solidFill>
                          <a:latin typeface="Calibri (MS)"/>
                          <a:ea typeface="Calibri (MS)"/>
                          <a:cs typeface="Calibri (MS)"/>
                          <a:sym typeface="Calibri (MS)"/>
                        </a:rPr>
                        <a:t>₹132,450</a:t>
                      </a:r>
                      <a:endParaRPr lang="en-US" sz="1100"/>
                    </a:p>
                  </a:txBody>
                  <a:tcPr marL="91440" marR="91440" marT="91440" marB="9144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0F8F3"/>
                    </a:solidFill>
                  </a:tcPr>
                </a:tc>
              </a:tr>
            </a:tbl>
          </a:graphicData>
        </a:graphic>
      </p:graphicFrame>
      <p:grpSp>
        <p:nvGrpSpPr>
          <p:cNvPr name="Group 94" id="94"/>
          <p:cNvGrpSpPr/>
          <p:nvPr/>
        </p:nvGrpSpPr>
        <p:grpSpPr>
          <a:xfrm rot="0">
            <a:off x="11149327" y="10052047"/>
            <a:ext cx="10253977" cy="7236457"/>
            <a:chOff x="0" y="0"/>
            <a:chExt cx="13671969" cy="9648609"/>
          </a:xfrm>
        </p:grpSpPr>
        <p:sp>
          <p:nvSpPr>
            <p:cNvPr name="Freeform 95" id="95"/>
            <p:cNvSpPr/>
            <p:nvPr/>
          </p:nvSpPr>
          <p:spPr>
            <a:xfrm flipH="false" flipV="false" rot="0">
              <a:off x="0" y="0"/>
              <a:ext cx="13671931" cy="9648572"/>
            </a:xfrm>
            <a:custGeom>
              <a:avLst/>
              <a:gdLst/>
              <a:ahLst/>
              <a:cxnLst/>
              <a:rect r="r" b="b" t="t" l="l"/>
              <a:pathLst>
                <a:path h="9648572" w="13671931">
                  <a:moveTo>
                    <a:pt x="0" y="109855"/>
                  </a:moveTo>
                  <a:cubicBezTo>
                    <a:pt x="0" y="49149"/>
                    <a:pt x="49149" y="0"/>
                    <a:pt x="109855" y="0"/>
                  </a:cubicBezTo>
                  <a:lnTo>
                    <a:pt x="13562076" y="0"/>
                  </a:lnTo>
                  <a:cubicBezTo>
                    <a:pt x="13622782" y="0"/>
                    <a:pt x="13671931" y="49149"/>
                    <a:pt x="13671931" y="109855"/>
                  </a:cubicBezTo>
                  <a:lnTo>
                    <a:pt x="13671931" y="9538716"/>
                  </a:lnTo>
                  <a:cubicBezTo>
                    <a:pt x="13671931" y="9599423"/>
                    <a:pt x="13622782" y="9648572"/>
                    <a:pt x="13562076" y="9648572"/>
                  </a:cubicBezTo>
                  <a:lnTo>
                    <a:pt x="109855" y="9648572"/>
                  </a:lnTo>
                  <a:cubicBezTo>
                    <a:pt x="49149" y="9648572"/>
                    <a:pt x="0" y="9599423"/>
                    <a:pt x="0" y="9538716"/>
                  </a:cubicBezTo>
                  <a:close/>
                </a:path>
              </a:pathLst>
            </a:custGeom>
            <a:solidFill>
              <a:srgbClr val="E2ECF9"/>
            </a:solidFill>
            <a:ln w="12700" cap="sq">
              <a:solidFill>
                <a:srgbClr val="FFFFFF"/>
              </a:solidFill>
              <a:prstDash val="solid"/>
              <a:miter/>
            </a:ln>
          </p:spPr>
        </p:sp>
      </p:grpSp>
      <p:grpSp>
        <p:nvGrpSpPr>
          <p:cNvPr name="Group 96" id="96"/>
          <p:cNvGrpSpPr/>
          <p:nvPr/>
        </p:nvGrpSpPr>
        <p:grpSpPr>
          <a:xfrm rot="0">
            <a:off x="11475720" y="10332720"/>
            <a:ext cx="566928" cy="566928"/>
            <a:chOff x="0" y="0"/>
            <a:chExt cx="755904" cy="755904"/>
          </a:xfrm>
        </p:grpSpPr>
        <p:sp>
          <p:nvSpPr>
            <p:cNvPr name="Freeform 97" id="97"/>
            <p:cNvSpPr/>
            <p:nvPr/>
          </p:nvSpPr>
          <p:spPr>
            <a:xfrm flipH="false" flipV="false" rot="0">
              <a:off x="0" y="0"/>
              <a:ext cx="755904" cy="755904"/>
            </a:xfrm>
            <a:custGeom>
              <a:avLst/>
              <a:gdLst/>
              <a:ahLst/>
              <a:cxnLst/>
              <a:rect r="r" b="b" t="t" l="l"/>
              <a:pathLst>
                <a:path h="755904" w="755904">
                  <a:moveTo>
                    <a:pt x="0" y="377952"/>
                  </a:moveTo>
                  <a:cubicBezTo>
                    <a:pt x="0" y="169164"/>
                    <a:pt x="169164" y="0"/>
                    <a:pt x="377952" y="0"/>
                  </a:cubicBezTo>
                  <a:cubicBezTo>
                    <a:pt x="586740" y="0"/>
                    <a:pt x="755904" y="169164"/>
                    <a:pt x="755904" y="377952"/>
                  </a:cubicBezTo>
                  <a:cubicBezTo>
                    <a:pt x="755904" y="586740"/>
                    <a:pt x="586740" y="755904"/>
                    <a:pt x="377952" y="755904"/>
                  </a:cubicBezTo>
                  <a:cubicBezTo>
                    <a:pt x="169164" y="755904"/>
                    <a:pt x="0" y="586740"/>
                    <a:pt x="0" y="377952"/>
                  </a:cubicBezTo>
                  <a:close/>
                </a:path>
              </a:pathLst>
            </a:custGeom>
            <a:solidFill>
              <a:srgbClr val="1D5DA6"/>
            </a:solidFill>
          </p:spPr>
        </p:sp>
      </p:grpSp>
      <p:grpSp>
        <p:nvGrpSpPr>
          <p:cNvPr name="Group 98" id="98"/>
          <p:cNvGrpSpPr/>
          <p:nvPr/>
        </p:nvGrpSpPr>
        <p:grpSpPr>
          <a:xfrm rot="0">
            <a:off x="11475720" y="10332720"/>
            <a:ext cx="566928" cy="566928"/>
            <a:chOff x="0" y="0"/>
            <a:chExt cx="755904" cy="755904"/>
          </a:xfrm>
        </p:grpSpPr>
        <p:sp>
          <p:nvSpPr>
            <p:cNvPr name="Freeform 99" id="99"/>
            <p:cNvSpPr/>
            <p:nvPr/>
          </p:nvSpPr>
          <p:spPr>
            <a:xfrm flipH="false" flipV="false" rot="0">
              <a:off x="0" y="0"/>
              <a:ext cx="755904" cy="755904"/>
            </a:xfrm>
            <a:custGeom>
              <a:avLst/>
              <a:gdLst/>
              <a:ahLst/>
              <a:cxnLst/>
              <a:rect r="r" b="b" t="t" l="l"/>
              <a:pathLst>
                <a:path h="755904" w="755904">
                  <a:moveTo>
                    <a:pt x="0" y="0"/>
                  </a:moveTo>
                  <a:lnTo>
                    <a:pt x="755904" y="0"/>
                  </a:lnTo>
                  <a:lnTo>
                    <a:pt x="755904" y="755904"/>
                  </a:lnTo>
                  <a:lnTo>
                    <a:pt x="0" y="755904"/>
                  </a:lnTo>
                  <a:close/>
                </a:path>
              </a:pathLst>
            </a:custGeom>
            <a:blipFill>
              <a:blip r:embed="rId3">
                <a:alphaModFix amt="0"/>
              </a:blip>
              <a:stretch>
                <a:fillRect l="-78303" t="0" r="-78303" b="0"/>
              </a:stretch>
            </a:blipFill>
          </p:spPr>
        </p:sp>
        <p:sp>
          <p:nvSpPr>
            <p:cNvPr name="TextBox 100" id="100"/>
            <p:cNvSpPr txBox="true"/>
            <p:nvPr/>
          </p:nvSpPr>
          <p:spPr>
            <a:xfrm>
              <a:off x="0" y="-66675"/>
              <a:ext cx="755904" cy="822579"/>
            </a:xfrm>
            <a:prstGeom prst="rect">
              <a:avLst/>
            </a:prstGeom>
          </p:spPr>
          <p:txBody>
            <a:bodyPr anchor="ctr" rtlCol="false" tIns="0" lIns="0" bIns="0" rIns="0"/>
            <a:lstStyle/>
            <a:p>
              <a:pPr algn="ctr">
                <a:lnSpc>
                  <a:spcPts val="3359"/>
                </a:lnSpc>
              </a:pPr>
              <a:r>
                <a:rPr lang="en-US" sz="2799">
                  <a:solidFill>
                    <a:srgbClr val="FFFFFF"/>
                  </a:solidFill>
                  <a:latin typeface="Calibri (MS)"/>
                  <a:ea typeface="Calibri (MS)"/>
                  <a:cs typeface="Calibri (MS)"/>
                  <a:sym typeface="Calibri (MS)"/>
                </a:rPr>
                <a:t>🔬</a:t>
              </a:r>
            </a:p>
          </p:txBody>
        </p:sp>
      </p:grpSp>
      <p:grpSp>
        <p:nvGrpSpPr>
          <p:cNvPr name="Group 101" id="101"/>
          <p:cNvGrpSpPr/>
          <p:nvPr/>
        </p:nvGrpSpPr>
        <p:grpSpPr>
          <a:xfrm rot="0">
            <a:off x="11475720" y="9283144"/>
            <a:ext cx="8869680" cy="2415007"/>
            <a:chOff x="0" y="0"/>
            <a:chExt cx="11826240" cy="3220009"/>
          </a:xfrm>
        </p:grpSpPr>
        <p:sp>
          <p:nvSpPr>
            <p:cNvPr name="Freeform 102" id="102"/>
            <p:cNvSpPr/>
            <p:nvPr/>
          </p:nvSpPr>
          <p:spPr>
            <a:xfrm flipH="false" flipV="false" rot="0">
              <a:off x="0" y="0"/>
              <a:ext cx="11826240" cy="3220009"/>
            </a:xfrm>
            <a:custGeom>
              <a:avLst/>
              <a:gdLst/>
              <a:ahLst/>
              <a:cxnLst/>
              <a:rect r="r" b="b" t="t" l="l"/>
              <a:pathLst>
                <a:path h="3220009" w="11826240">
                  <a:moveTo>
                    <a:pt x="0" y="0"/>
                  </a:moveTo>
                  <a:lnTo>
                    <a:pt x="11826240" y="0"/>
                  </a:lnTo>
                  <a:lnTo>
                    <a:pt x="11826240" y="3220009"/>
                  </a:lnTo>
                  <a:lnTo>
                    <a:pt x="0" y="3220009"/>
                  </a:lnTo>
                  <a:close/>
                </a:path>
              </a:pathLst>
            </a:custGeom>
            <a:blipFill>
              <a:blip r:embed="rId3">
                <a:alphaModFix amt="0"/>
              </a:blip>
              <a:stretch>
                <a:fillRect l="0" t="-58689" r="0" b="15563"/>
              </a:stretch>
            </a:blipFill>
          </p:spPr>
        </p:sp>
        <p:sp>
          <p:nvSpPr>
            <p:cNvPr name="TextBox 103" id="103"/>
            <p:cNvSpPr txBox="true"/>
            <p:nvPr/>
          </p:nvSpPr>
          <p:spPr>
            <a:xfrm>
              <a:off x="0" y="-9525"/>
              <a:ext cx="11826240" cy="3229534"/>
            </a:xfrm>
            <a:prstGeom prst="rect">
              <a:avLst/>
            </a:prstGeom>
          </p:spPr>
          <p:txBody>
            <a:bodyPr anchor="ctr" rtlCol="false" tIns="0" lIns="0" bIns="0" rIns="0"/>
            <a:lstStyle/>
            <a:p>
              <a:pPr algn="ctr">
                <a:lnSpc>
                  <a:spcPts val="3959"/>
                </a:lnSpc>
              </a:pPr>
              <a:r>
                <a:rPr lang="en-US" sz="3299" b="true">
                  <a:solidFill>
                    <a:srgbClr val="1B2A4A"/>
                  </a:solidFill>
                  <a:latin typeface="Cambria Bold"/>
                  <a:ea typeface="Cambria Bold"/>
                  <a:cs typeface="Cambria Bold"/>
                  <a:sym typeface="Cambria Bold"/>
                </a:rPr>
                <a:t>Methodology</a:t>
              </a:r>
            </a:p>
          </p:txBody>
        </p:sp>
      </p:grpSp>
      <p:sp>
        <p:nvSpPr>
          <p:cNvPr name="TextBox 104" id="104"/>
          <p:cNvSpPr txBox="true"/>
          <p:nvPr/>
        </p:nvSpPr>
        <p:spPr>
          <a:xfrm rot="0">
            <a:off x="11475720" y="10906125"/>
            <a:ext cx="9921240" cy="3419475"/>
          </a:xfrm>
          <a:prstGeom prst="rect">
            <a:avLst/>
          </a:prstGeom>
        </p:spPr>
        <p:txBody>
          <a:bodyPr anchor="t" rtlCol="false" tIns="0" lIns="0" bIns="0" rIns="0">
            <a:spAutoFit/>
          </a:bodyPr>
          <a:lstStyle/>
          <a:p>
            <a:pPr algn="l">
              <a:lnSpc>
                <a:spcPts val="3359"/>
              </a:lnSpc>
            </a:pPr>
            <a:r>
              <a:rPr lang="en-US" sz="2799" b="true">
                <a:solidFill>
                  <a:srgbClr val="1D5DA6"/>
                </a:solidFill>
                <a:latin typeface="Calibri (MS) Bold"/>
                <a:ea typeface="Calibri (MS) Bold"/>
                <a:cs typeface="Calibri (MS) Bold"/>
                <a:sym typeface="Calibri (MS) Bold"/>
              </a:rPr>
              <a:t>Step 1 — Data Collection</a:t>
            </a:r>
          </a:p>
          <a:p>
            <a:pPr algn="l">
              <a:lnSpc>
                <a:spcPts val="3359"/>
              </a:lnSpc>
            </a:pPr>
            <a:r>
              <a:rPr lang="en-US" sz="2799">
                <a:solidFill>
                  <a:srgbClr val="1B2A4A"/>
                </a:solidFill>
                <a:latin typeface="Calibri (MS)"/>
                <a:ea typeface="Calibri (MS)"/>
                <a:cs typeface="Calibri (MS)"/>
                <a:sym typeface="Calibri (MS)"/>
              </a:rPr>
              <a:t>Employee salary data collected from a structured dataset of demographic and professional information.</a:t>
            </a:r>
          </a:p>
          <a:p>
            <a:pPr algn="l">
              <a:lnSpc>
                <a:spcPts val="3359"/>
              </a:lnSpc>
            </a:pPr>
            <a:r>
              <a:rPr lang="en-US" sz="2799" b="true">
                <a:solidFill>
                  <a:srgbClr val="1D5DA6"/>
                </a:solidFill>
                <a:latin typeface="Calibri (MS) Bold"/>
                <a:ea typeface="Calibri (MS) Bold"/>
                <a:cs typeface="Calibri (MS) Bold"/>
                <a:sym typeface="Calibri (MS) Bold"/>
              </a:rPr>
              <a:t>Step 2 — Data Cleaning</a:t>
            </a:r>
          </a:p>
          <a:p>
            <a:pPr algn="l">
              <a:lnSpc>
                <a:spcPts val="3359"/>
              </a:lnSpc>
            </a:pPr>
            <a:r>
              <a:rPr lang="en-US" sz="2799">
                <a:solidFill>
                  <a:srgbClr val="1B2A4A"/>
                </a:solidFill>
                <a:latin typeface="Calibri (MS)"/>
                <a:ea typeface="Calibri (MS)"/>
                <a:cs typeface="Calibri (MS)"/>
                <a:sym typeface="Calibri (MS)"/>
              </a:rPr>
              <a:t>Checked for missing values • verified salary records • ensured data consistency</a:t>
            </a:r>
          </a:p>
          <a:p>
            <a:pPr algn="l">
              <a:lnSpc>
                <a:spcPts val="3359"/>
              </a:lnSpc>
            </a:pPr>
            <a:r>
              <a:rPr lang="en-US" sz="2799" b="true">
                <a:solidFill>
                  <a:srgbClr val="1D5DA6"/>
                </a:solidFill>
                <a:latin typeface="Calibri (MS) Bold"/>
                <a:ea typeface="Calibri (MS) Bold"/>
                <a:cs typeface="Calibri (MS) Bold"/>
                <a:sym typeface="Calibri (MS) Bold"/>
              </a:rPr>
              <a:t>Step 3 — Statistical Analysis</a:t>
            </a:r>
          </a:p>
          <a:p>
            <a:pPr algn="l">
              <a:lnSpc>
                <a:spcPts val="3359"/>
              </a:lnSpc>
            </a:pPr>
          </a:p>
        </p:txBody>
      </p:sp>
      <p:grpSp>
        <p:nvGrpSpPr>
          <p:cNvPr name="Group 105" id="105"/>
          <p:cNvGrpSpPr/>
          <p:nvPr/>
        </p:nvGrpSpPr>
        <p:grpSpPr>
          <a:xfrm rot="0">
            <a:off x="11475720" y="14036040"/>
            <a:ext cx="9601200" cy="932688"/>
            <a:chOff x="0" y="0"/>
            <a:chExt cx="12801600" cy="1243584"/>
          </a:xfrm>
        </p:grpSpPr>
        <p:sp>
          <p:nvSpPr>
            <p:cNvPr name="Freeform 106" id="106"/>
            <p:cNvSpPr/>
            <p:nvPr/>
          </p:nvSpPr>
          <p:spPr>
            <a:xfrm flipH="false" flipV="false" rot="0">
              <a:off x="0" y="0"/>
              <a:ext cx="12801600" cy="1243584"/>
            </a:xfrm>
            <a:custGeom>
              <a:avLst/>
              <a:gdLst/>
              <a:ahLst/>
              <a:cxnLst/>
              <a:rect r="r" b="b" t="t" l="l"/>
              <a:pathLst>
                <a:path h="1243584" w="12801600">
                  <a:moveTo>
                    <a:pt x="0" y="85344"/>
                  </a:moveTo>
                  <a:cubicBezTo>
                    <a:pt x="0" y="38227"/>
                    <a:pt x="38227" y="0"/>
                    <a:pt x="85344" y="0"/>
                  </a:cubicBezTo>
                  <a:lnTo>
                    <a:pt x="12716256" y="0"/>
                  </a:lnTo>
                  <a:cubicBezTo>
                    <a:pt x="12763373" y="0"/>
                    <a:pt x="12801600" y="38227"/>
                    <a:pt x="12801600" y="85344"/>
                  </a:cubicBezTo>
                  <a:lnTo>
                    <a:pt x="12801600" y="1158240"/>
                  </a:lnTo>
                  <a:cubicBezTo>
                    <a:pt x="12801600" y="1205357"/>
                    <a:pt x="12763373" y="1243584"/>
                    <a:pt x="12716256" y="1243584"/>
                  </a:cubicBezTo>
                  <a:lnTo>
                    <a:pt x="85344" y="1243584"/>
                  </a:lnTo>
                  <a:cubicBezTo>
                    <a:pt x="38227" y="1243584"/>
                    <a:pt x="0" y="1205357"/>
                    <a:pt x="0" y="1158240"/>
                  </a:cubicBezTo>
                  <a:close/>
                </a:path>
              </a:pathLst>
            </a:custGeom>
            <a:solidFill>
              <a:srgbClr val="FFFFFF"/>
            </a:solidFill>
          </p:spPr>
        </p:sp>
      </p:grpSp>
      <p:grpSp>
        <p:nvGrpSpPr>
          <p:cNvPr name="Group 107" id="107"/>
          <p:cNvGrpSpPr/>
          <p:nvPr/>
        </p:nvGrpSpPr>
        <p:grpSpPr>
          <a:xfrm rot="0">
            <a:off x="11612880" y="14036040"/>
            <a:ext cx="2286000" cy="932688"/>
            <a:chOff x="0" y="0"/>
            <a:chExt cx="3048000" cy="1243584"/>
          </a:xfrm>
        </p:grpSpPr>
        <p:sp>
          <p:nvSpPr>
            <p:cNvPr name="Freeform 108" id="108"/>
            <p:cNvSpPr/>
            <p:nvPr/>
          </p:nvSpPr>
          <p:spPr>
            <a:xfrm flipH="false" flipV="false" rot="0">
              <a:off x="0" y="0"/>
              <a:ext cx="3048000" cy="1243584"/>
            </a:xfrm>
            <a:custGeom>
              <a:avLst/>
              <a:gdLst/>
              <a:ahLst/>
              <a:cxnLst/>
              <a:rect r="r" b="b" t="t" l="l"/>
              <a:pathLst>
                <a:path h="1243584" w="3048000">
                  <a:moveTo>
                    <a:pt x="0" y="0"/>
                  </a:moveTo>
                  <a:lnTo>
                    <a:pt x="3048000" y="0"/>
                  </a:lnTo>
                  <a:lnTo>
                    <a:pt x="3048000" y="1243584"/>
                  </a:lnTo>
                  <a:lnTo>
                    <a:pt x="0" y="1243584"/>
                  </a:lnTo>
                  <a:close/>
                </a:path>
              </a:pathLst>
            </a:custGeom>
            <a:blipFill>
              <a:blip r:embed="rId3">
                <a:alphaModFix amt="0"/>
              </a:blip>
              <a:stretch>
                <a:fillRect l="-2347" t="0" r="-2347" b="0"/>
              </a:stretch>
            </a:blipFill>
          </p:spPr>
        </p:sp>
        <p:sp>
          <p:nvSpPr>
            <p:cNvPr name="TextBox 109" id="109"/>
            <p:cNvSpPr txBox="true"/>
            <p:nvPr/>
          </p:nvSpPr>
          <p:spPr>
            <a:xfrm>
              <a:off x="0" y="-66675"/>
              <a:ext cx="3048000" cy="1310259"/>
            </a:xfrm>
            <a:prstGeom prst="rect">
              <a:avLst/>
            </a:prstGeom>
          </p:spPr>
          <p:txBody>
            <a:bodyPr anchor="ctr" rtlCol="false" tIns="0" lIns="0" bIns="0" rIns="0"/>
            <a:lstStyle/>
            <a:p>
              <a:pPr algn="l">
                <a:lnSpc>
                  <a:spcPts val="3359"/>
                </a:lnSpc>
              </a:pPr>
              <a:r>
                <a:rPr lang="en-US" sz="2799" b="true">
                  <a:solidFill>
                    <a:srgbClr val="1D5DA6"/>
                  </a:solidFill>
                  <a:latin typeface="Calibri (MS) Bold"/>
                  <a:ea typeface="Calibri (MS) Bold"/>
                  <a:cs typeface="Calibri (MS) Bold"/>
                  <a:sym typeface="Calibri (MS) Bold"/>
                </a:rPr>
                <a:t>Mean</a:t>
              </a:r>
            </a:p>
          </p:txBody>
        </p:sp>
      </p:grpSp>
      <p:grpSp>
        <p:nvGrpSpPr>
          <p:cNvPr name="Group 110" id="110"/>
          <p:cNvGrpSpPr/>
          <p:nvPr/>
        </p:nvGrpSpPr>
        <p:grpSpPr>
          <a:xfrm rot="0">
            <a:off x="16559784" y="13403126"/>
            <a:ext cx="7132320" cy="2047948"/>
            <a:chOff x="0" y="0"/>
            <a:chExt cx="9509760" cy="2730597"/>
          </a:xfrm>
        </p:grpSpPr>
        <p:sp>
          <p:nvSpPr>
            <p:cNvPr name="Freeform 111" id="111"/>
            <p:cNvSpPr/>
            <p:nvPr/>
          </p:nvSpPr>
          <p:spPr>
            <a:xfrm flipH="false" flipV="false" rot="0">
              <a:off x="0" y="0"/>
              <a:ext cx="9509760" cy="2730597"/>
            </a:xfrm>
            <a:custGeom>
              <a:avLst/>
              <a:gdLst/>
              <a:ahLst/>
              <a:cxnLst/>
              <a:rect r="r" b="b" t="t" l="l"/>
              <a:pathLst>
                <a:path h="2730597" w="9509760">
                  <a:moveTo>
                    <a:pt x="0" y="0"/>
                  </a:moveTo>
                  <a:lnTo>
                    <a:pt x="9509760" y="0"/>
                  </a:lnTo>
                  <a:lnTo>
                    <a:pt x="9509760" y="2730597"/>
                  </a:lnTo>
                  <a:lnTo>
                    <a:pt x="0" y="2730597"/>
                  </a:lnTo>
                  <a:close/>
                </a:path>
              </a:pathLst>
            </a:custGeom>
            <a:blipFill>
              <a:blip r:embed="rId3">
                <a:alphaModFix amt="0"/>
              </a:blip>
              <a:stretch>
                <a:fillRect l="0" t="-54018" r="0" b="18298"/>
              </a:stretch>
            </a:blipFill>
          </p:spPr>
        </p:sp>
        <p:sp>
          <p:nvSpPr>
            <p:cNvPr name="TextBox 112" id="112"/>
            <p:cNvSpPr txBox="true"/>
            <p:nvPr/>
          </p:nvSpPr>
          <p:spPr>
            <a:xfrm>
              <a:off x="0" y="-9525"/>
              <a:ext cx="9509760" cy="2740122"/>
            </a:xfrm>
            <a:prstGeom prst="rect">
              <a:avLst/>
            </a:prstGeom>
          </p:spPr>
          <p:txBody>
            <a:bodyPr anchor="b" rtlCol="false" tIns="0" lIns="0" bIns="0" rIns="0"/>
            <a:lstStyle/>
            <a:p>
              <a:pPr algn="l">
                <a:lnSpc>
                  <a:spcPts val="3359"/>
                </a:lnSpc>
              </a:pPr>
              <a:r>
                <a:rPr lang="en-US" sz="2799" i="true">
                  <a:solidFill>
                    <a:srgbClr val="1B2A4A"/>
                  </a:solidFill>
                  <a:latin typeface="Cambria Italics"/>
                  <a:ea typeface="Cambria Italics"/>
                  <a:cs typeface="Cambria Italics"/>
                  <a:sym typeface="Cambria Italics"/>
                </a:rPr>
                <a:t>Mean = (Σ X) / N</a:t>
              </a:r>
            </a:p>
          </p:txBody>
        </p:sp>
      </p:grpSp>
      <p:sp>
        <p:nvSpPr>
          <p:cNvPr name="TextBox 113" id="113"/>
          <p:cNvSpPr txBox="true"/>
          <p:nvPr/>
        </p:nvSpPr>
        <p:spPr>
          <a:xfrm rot="0">
            <a:off x="13898880" y="14226159"/>
            <a:ext cx="2108359" cy="485775"/>
          </a:xfrm>
          <a:prstGeom prst="rect">
            <a:avLst/>
          </a:prstGeom>
        </p:spPr>
        <p:txBody>
          <a:bodyPr anchor="t" rtlCol="false" tIns="0" lIns="0" bIns="0" rIns="0">
            <a:spAutoFit/>
          </a:bodyPr>
          <a:lstStyle/>
          <a:p>
            <a:pPr algn="l">
              <a:lnSpc>
                <a:spcPts val="3359"/>
              </a:lnSpc>
            </a:pPr>
            <a:r>
              <a:rPr lang="en-US" sz="2799">
                <a:solidFill>
                  <a:srgbClr val="5A6B85"/>
                </a:solidFill>
                <a:latin typeface="Calibri (MS)"/>
                <a:ea typeface="Calibri (MS)"/>
                <a:cs typeface="Calibri (MS)"/>
                <a:sym typeface="Calibri (MS)"/>
              </a:rPr>
              <a:t>Average salary</a:t>
            </a:r>
          </a:p>
        </p:txBody>
      </p:sp>
      <p:grpSp>
        <p:nvGrpSpPr>
          <p:cNvPr name="Group 114" id="114"/>
          <p:cNvGrpSpPr/>
          <p:nvPr/>
        </p:nvGrpSpPr>
        <p:grpSpPr>
          <a:xfrm rot="0">
            <a:off x="11475720" y="15115032"/>
            <a:ext cx="9601200" cy="932688"/>
            <a:chOff x="0" y="0"/>
            <a:chExt cx="12801600" cy="1243584"/>
          </a:xfrm>
        </p:grpSpPr>
        <p:sp>
          <p:nvSpPr>
            <p:cNvPr name="Freeform 115" id="115"/>
            <p:cNvSpPr/>
            <p:nvPr/>
          </p:nvSpPr>
          <p:spPr>
            <a:xfrm flipH="false" flipV="false" rot="0">
              <a:off x="0" y="0"/>
              <a:ext cx="12801600" cy="1243584"/>
            </a:xfrm>
            <a:custGeom>
              <a:avLst/>
              <a:gdLst/>
              <a:ahLst/>
              <a:cxnLst/>
              <a:rect r="r" b="b" t="t" l="l"/>
              <a:pathLst>
                <a:path h="1243584" w="12801600">
                  <a:moveTo>
                    <a:pt x="0" y="85344"/>
                  </a:moveTo>
                  <a:cubicBezTo>
                    <a:pt x="0" y="38227"/>
                    <a:pt x="38227" y="0"/>
                    <a:pt x="85344" y="0"/>
                  </a:cubicBezTo>
                  <a:lnTo>
                    <a:pt x="12716256" y="0"/>
                  </a:lnTo>
                  <a:cubicBezTo>
                    <a:pt x="12763373" y="0"/>
                    <a:pt x="12801600" y="38227"/>
                    <a:pt x="12801600" y="85344"/>
                  </a:cubicBezTo>
                  <a:lnTo>
                    <a:pt x="12801600" y="1158240"/>
                  </a:lnTo>
                  <a:cubicBezTo>
                    <a:pt x="12801600" y="1205357"/>
                    <a:pt x="12763373" y="1243584"/>
                    <a:pt x="12716256" y="1243584"/>
                  </a:cubicBezTo>
                  <a:lnTo>
                    <a:pt x="85344" y="1243584"/>
                  </a:lnTo>
                  <a:cubicBezTo>
                    <a:pt x="38227" y="1243584"/>
                    <a:pt x="0" y="1205357"/>
                    <a:pt x="0" y="1158240"/>
                  </a:cubicBezTo>
                  <a:close/>
                </a:path>
              </a:pathLst>
            </a:custGeom>
            <a:solidFill>
              <a:srgbClr val="FFFFFF"/>
            </a:solidFill>
          </p:spPr>
        </p:sp>
      </p:grpSp>
      <p:grpSp>
        <p:nvGrpSpPr>
          <p:cNvPr name="Group 116" id="116"/>
          <p:cNvGrpSpPr/>
          <p:nvPr/>
        </p:nvGrpSpPr>
        <p:grpSpPr>
          <a:xfrm rot="0">
            <a:off x="11612880" y="15115032"/>
            <a:ext cx="2286000" cy="932688"/>
            <a:chOff x="0" y="0"/>
            <a:chExt cx="3048000" cy="1243584"/>
          </a:xfrm>
        </p:grpSpPr>
        <p:sp>
          <p:nvSpPr>
            <p:cNvPr name="Freeform 117" id="117"/>
            <p:cNvSpPr/>
            <p:nvPr/>
          </p:nvSpPr>
          <p:spPr>
            <a:xfrm flipH="false" flipV="false" rot="0">
              <a:off x="0" y="0"/>
              <a:ext cx="3048000" cy="1243584"/>
            </a:xfrm>
            <a:custGeom>
              <a:avLst/>
              <a:gdLst/>
              <a:ahLst/>
              <a:cxnLst/>
              <a:rect r="r" b="b" t="t" l="l"/>
              <a:pathLst>
                <a:path h="1243584" w="3048000">
                  <a:moveTo>
                    <a:pt x="0" y="0"/>
                  </a:moveTo>
                  <a:lnTo>
                    <a:pt x="3048000" y="0"/>
                  </a:lnTo>
                  <a:lnTo>
                    <a:pt x="3048000" y="1243584"/>
                  </a:lnTo>
                  <a:lnTo>
                    <a:pt x="0" y="1243584"/>
                  </a:lnTo>
                  <a:close/>
                </a:path>
              </a:pathLst>
            </a:custGeom>
            <a:blipFill>
              <a:blip r:embed="rId3">
                <a:alphaModFix amt="0"/>
              </a:blip>
              <a:stretch>
                <a:fillRect l="-2347" t="0" r="-2347" b="0"/>
              </a:stretch>
            </a:blipFill>
          </p:spPr>
        </p:sp>
        <p:sp>
          <p:nvSpPr>
            <p:cNvPr name="TextBox 118" id="118"/>
            <p:cNvSpPr txBox="true"/>
            <p:nvPr/>
          </p:nvSpPr>
          <p:spPr>
            <a:xfrm>
              <a:off x="0" y="-66675"/>
              <a:ext cx="3048000" cy="1310259"/>
            </a:xfrm>
            <a:prstGeom prst="rect">
              <a:avLst/>
            </a:prstGeom>
          </p:spPr>
          <p:txBody>
            <a:bodyPr anchor="ctr" rtlCol="false" tIns="0" lIns="0" bIns="0" rIns="0"/>
            <a:lstStyle/>
            <a:p>
              <a:pPr algn="l">
                <a:lnSpc>
                  <a:spcPts val="3359"/>
                </a:lnSpc>
              </a:pPr>
              <a:r>
                <a:rPr lang="en-US" sz="2799" b="true">
                  <a:solidFill>
                    <a:srgbClr val="1D5DA6"/>
                  </a:solidFill>
                  <a:latin typeface="Calibri (MS) Bold"/>
                  <a:ea typeface="Calibri (MS) Bold"/>
                  <a:cs typeface="Calibri (MS) Bold"/>
                  <a:sym typeface="Calibri (MS) Bold"/>
                </a:rPr>
                <a:t>Variance</a:t>
              </a:r>
            </a:p>
          </p:txBody>
        </p:sp>
      </p:grpSp>
      <p:grpSp>
        <p:nvGrpSpPr>
          <p:cNvPr name="Group 119" id="119"/>
          <p:cNvGrpSpPr/>
          <p:nvPr/>
        </p:nvGrpSpPr>
        <p:grpSpPr>
          <a:xfrm rot="0">
            <a:off x="16559784" y="14466116"/>
            <a:ext cx="7132320" cy="2047948"/>
            <a:chOff x="0" y="0"/>
            <a:chExt cx="9509760" cy="2730597"/>
          </a:xfrm>
        </p:grpSpPr>
        <p:sp>
          <p:nvSpPr>
            <p:cNvPr name="Freeform 120" id="120"/>
            <p:cNvSpPr/>
            <p:nvPr/>
          </p:nvSpPr>
          <p:spPr>
            <a:xfrm flipH="false" flipV="false" rot="0">
              <a:off x="0" y="0"/>
              <a:ext cx="9509760" cy="2730597"/>
            </a:xfrm>
            <a:custGeom>
              <a:avLst/>
              <a:gdLst/>
              <a:ahLst/>
              <a:cxnLst/>
              <a:rect r="r" b="b" t="t" l="l"/>
              <a:pathLst>
                <a:path h="2730597" w="9509760">
                  <a:moveTo>
                    <a:pt x="0" y="0"/>
                  </a:moveTo>
                  <a:lnTo>
                    <a:pt x="9509760" y="0"/>
                  </a:lnTo>
                  <a:lnTo>
                    <a:pt x="9509760" y="2730597"/>
                  </a:lnTo>
                  <a:lnTo>
                    <a:pt x="0" y="2730597"/>
                  </a:lnTo>
                  <a:close/>
                </a:path>
              </a:pathLst>
            </a:custGeom>
            <a:blipFill>
              <a:blip r:embed="rId3">
                <a:alphaModFix amt="0"/>
              </a:blip>
              <a:stretch>
                <a:fillRect l="0" t="-54018" r="0" b="18298"/>
              </a:stretch>
            </a:blipFill>
          </p:spPr>
        </p:sp>
        <p:sp>
          <p:nvSpPr>
            <p:cNvPr name="TextBox 121" id="121"/>
            <p:cNvSpPr txBox="true"/>
            <p:nvPr/>
          </p:nvSpPr>
          <p:spPr>
            <a:xfrm>
              <a:off x="0" y="-9525"/>
              <a:ext cx="9509760" cy="2740122"/>
            </a:xfrm>
            <a:prstGeom prst="rect">
              <a:avLst/>
            </a:prstGeom>
          </p:spPr>
          <p:txBody>
            <a:bodyPr anchor="b" rtlCol="false" tIns="0" lIns="0" bIns="0" rIns="0"/>
            <a:lstStyle/>
            <a:p>
              <a:pPr algn="l">
                <a:lnSpc>
                  <a:spcPts val="3359"/>
                </a:lnSpc>
              </a:pPr>
              <a:r>
                <a:rPr lang="en-US" sz="2799" i="true">
                  <a:solidFill>
                    <a:srgbClr val="1B2A4A"/>
                  </a:solidFill>
                  <a:latin typeface="Cambria Italics"/>
                  <a:ea typeface="Cambria Italics"/>
                  <a:cs typeface="Cambria Italics"/>
                  <a:sym typeface="Cambria Italics"/>
                </a:rPr>
                <a:t>Variance = Σ(X − mean)² / N</a:t>
              </a:r>
            </a:p>
          </p:txBody>
        </p:sp>
      </p:grpSp>
      <p:sp>
        <p:nvSpPr>
          <p:cNvPr name="TextBox 122" id="122"/>
          <p:cNvSpPr txBox="true"/>
          <p:nvPr/>
        </p:nvSpPr>
        <p:spPr>
          <a:xfrm rot="0">
            <a:off x="13898880" y="15305151"/>
            <a:ext cx="2441019" cy="485775"/>
          </a:xfrm>
          <a:prstGeom prst="rect">
            <a:avLst/>
          </a:prstGeom>
        </p:spPr>
        <p:txBody>
          <a:bodyPr anchor="t" rtlCol="false" tIns="0" lIns="0" bIns="0" rIns="0">
            <a:spAutoFit/>
          </a:bodyPr>
          <a:lstStyle/>
          <a:p>
            <a:pPr algn="l">
              <a:lnSpc>
                <a:spcPts val="3359"/>
              </a:lnSpc>
            </a:pPr>
            <a:r>
              <a:rPr lang="en-US" sz="2799">
                <a:solidFill>
                  <a:srgbClr val="5A6B85"/>
                </a:solidFill>
                <a:latin typeface="Calibri (MS)"/>
                <a:ea typeface="Calibri (MS)"/>
                <a:cs typeface="Calibri (MS)"/>
                <a:sym typeface="Calibri (MS)"/>
              </a:rPr>
              <a:t>Salary dispersion</a:t>
            </a:r>
          </a:p>
        </p:txBody>
      </p:sp>
      <p:grpSp>
        <p:nvGrpSpPr>
          <p:cNvPr name="Group 123" id="123"/>
          <p:cNvGrpSpPr/>
          <p:nvPr/>
        </p:nvGrpSpPr>
        <p:grpSpPr>
          <a:xfrm rot="0">
            <a:off x="11475720" y="16194024"/>
            <a:ext cx="9601200" cy="932688"/>
            <a:chOff x="0" y="0"/>
            <a:chExt cx="12801600" cy="1243584"/>
          </a:xfrm>
        </p:grpSpPr>
        <p:sp>
          <p:nvSpPr>
            <p:cNvPr name="Freeform 124" id="124"/>
            <p:cNvSpPr/>
            <p:nvPr/>
          </p:nvSpPr>
          <p:spPr>
            <a:xfrm flipH="false" flipV="false" rot="0">
              <a:off x="0" y="0"/>
              <a:ext cx="12801600" cy="1243584"/>
            </a:xfrm>
            <a:custGeom>
              <a:avLst/>
              <a:gdLst/>
              <a:ahLst/>
              <a:cxnLst/>
              <a:rect r="r" b="b" t="t" l="l"/>
              <a:pathLst>
                <a:path h="1243584" w="12801600">
                  <a:moveTo>
                    <a:pt x="0" y="85344"/>
                  </a:moveTo>
                  <a:cubicBezTo>
                    <a:pt x="0" y="38227"/>
                    <a:pt x="38227" y="0"/>
                    <a:pt x="85344" y="0"/>
                  </a:cubicBezTo>
                  <a:lnTo>
                    <a:pt x="12716256" y="0"/>
                  </a:lnTo>
                  <a:cubicBezTo>
                    <a:pt x="12763373" y="0"/>
                    <a:pt x="12801600" y="38227"/>
                    <a:pt x="12801600" y="85344"/>
                  </a:cubicBezTo>
                  <a:lnTo>
                    <a:pt x="12801600" y="1158240"/>
                  </a:lnTo>
                  <a:cubicBezTo>
                    <a:pt x="12801600" y="1205357"/>
                    <a:pt x="12763373" y="1243584"/>
                    <a:pt x="12716256" y="1243584"/>
                  </a:cubicBezTo>
                  <a:lnTo>
                    <a:pt x="85344" y="1243584"/>
                  </a:lnTo>
                  <a:cubicBezTo>
                    <a:pt x="38227" y="1243584"/>
                    <a:pt x="0" y="1205357"/>
                    <a:pt x="0" y="1158240"/>
                  </a:cubicBezTo>
                  <a:close/>
                </a:path>
              </a:pathLst>
            </a:custGeom>
            <a:solidFill>
              <a:srgbClr val="FFFFFF"/>
            </a:solidFill>
          </p:spPr>
        </p:sp>
      </p:grpSp>
      <p:grpSp>
        <p:nvGrpSpPr>
          <p:cNvPr name="Group 125" id="125"/>
          <p:cNvGrpSpPr/>
          <p:nvPr/>
        </p:nvGrpSpPr>
        <p:grpSpPr>
          <a:xfrm rot="0">
            <a:off x="11612880" y="16194024"/>
            <a:ext cx="2286000" cy="932688"/>
            <a:chOff x="0" y="0"/>
            <a:chExt cx="3048000" cy="1243584"/>
          </a:xfrm>
        </p:grpSpPr>
        <p:sp>
          <p:nvSpPr>
            <p:cNvPr name="Freeform 126" id="126"/>
            <p:cNvSpPr/>
            <p:nvPr/>
          </p:nvSpPr>
          <p:spPr>
            <a:xfrm flipH="false" flipV="false" rot="0">
              <a:off x="0" y="0"/>
              <a:ext cx="3048000" cy="1243584"/>
            </a:xfrm>
            <a:custGeom>
              <a:avLst/>
              <a:gdLst/>
              <a:ahLst/>
              <a:cxnLst/>
              <a:rect r="r" b="b" t="t" l="l"/>
              <a:pathLst>
                <a:path h="1243584" w="3048000">
                  <a:moveTo>
                    <a:pt x="0" y="0"/>
                  </a:moveTo>
                  <a:lnTo>
                    <a:pt x="3048000" y="0"/>
                  </a:lnTo>
                  <a:lnTo>
                    <a:pt x="3048000" y="1243584"/>
                  </a:lnTo>
                  <a:lnTo>
                    <a:pt x="0" y="1243584"/>
                  </a:lnTo>
                  <a:close/>
                </a:path>
              </a:pathLst>
            </a:custGeom>
            <a:blipFill>
              <a:blip r:embed="rId3">
                <a:alphaModFix amt="0"/>
              </a:blip>
              <a:stretch>
                <a:fillRect l="-2347" t="0" r="-2347" b="0"/>
              </a:stretch>
            </a:blipFill>
          </p:spPr>
        </p:sp>
        <p:sp>
          <p:nvSpPr>
            <p:cNvPr name="TextBox 127" id="127"/>
            <p:cNvSpPr txBox="true"/>
            <p:nvPr/>
          </p:nvSpPr>
          <p:spPr>
            <a:xfrm>
              <a:off x="0" y="-66675"/>
              <a:ext cx="3048000" cy="1310259"/>
            </a:xfrm>
            <a:prstGeom prst="rect">
              <a:avLst/>
            </a:prstGeom>
          </p:spPr>
          <p:txBody>
            <a:bodyPr anchor="ctr" rtlCol="false" tIns="0" lIns="0" bIns="0" rIns="0"/>
            <a:lstStyle/>
            <a:p>
              <a:pPr algn="l">
                <a:lnSpc>
                  <a:spcPts val="3359"/>
                </a:lnSpc>
              </a:pPr>
              <a:r>
                <a:rPr lang="en-US" sz="2799" b="true">
                  <a:solidFill>
                    <a:srgbClr val="1D5DA6"/>
                  </a:solidFill>
                  <a:latin typeface="Calibri (MS) Bold"/>
                  <a:ea typeface="Calibri (MS) Bold"/>
                  <a:cs typeface="Calibri (MS) Bold"/>
                  <a:sym typeface="Calibri (MS) Bold"/>
                </a:rPr>
                <a:t>Std. Deviation</a:t>
              </a:r>
            </a:p>
          </p:txBody>
        </p:sp>
      </p:grpSp>
      <p:grpSp>
        <p:nvGrpSpPr>
          <p:cNvPr name="Group 128" id="128"/>
          <p:cNvGrpSpPr/>
          <p:nvPr/>
        </p:nvGrpSpPr>
        <p:grpSpPr>
          <a:xfrm rot="0">
            <a:off x="18126957" y="15581376"/>
            <a:ext cx="7145413" cy="2051707"/>
            <a:chOff x="0" y="0"/>
            <a:chExt cx="9509760" cy="2730597"/>
          </a:xfrm>
        </p:grpSpPr>
        <p:sp>
          <p:nvSpPr>
            <p:cNvPr name="Freeform 129" id="129"/>
            <p:cNvSpPr/>
            <p:nvPr/>
          </p:nvSpPr>
          <p:spPr>
            <a:xfrm flipH="false" flipV="false" rot="0">
              <a:off x="0" y="0"/>
              <a:ext cx="9509760" cy="2730597"/>
            </a:xfrm>
            <a:custGeom>
              <a:avLst/>
              <a:gdLst/>
              <a:ahLst/>
              <a:cxnLst/>
              <a:rect r="r" b="b" t="t" l="l"/>
              <a:pathLst>
                <a:path h="2730597" w="9509760">
                  <a:moveTo>
                    <a:pt x="0" y="0"/>
                  </a:moveTo>
                  <a:lnTo>
                    <a:pt x="9509760" y="0"/>
                  </a:lnTo>
                  <a:lnTo>
                    <a:pt x="9509760" y="2730597"/>
                  </a:lnTo>
                  <a:lnTo>
                    <a:pt x="0" y="2730597"/>
                  </a:lnTo>
                  <a:close/>
                </a:path>
              </a:pathLst>
            </a:custGeom>
            <a:blipFill>
              <a:blip r:embed="rId3">
                <a:alphaModFix amt="0"/>
              </a:blip>
              <a:stretch>
                <a:fillRect l="0" t="-54018" r="0" b="18298"/>
              </a:stretch>
            </a:blipFill>
          </p:spPr>
        </p:sp>
        <p:sp>
          <p:nvSpPr>
            <p:cNvPr name="TextBox 130" id="130"/>
            <p:cNvSpPr txBox="true"/>
            <p:nvPr/>
          </p:nvSpPr>
          <p:spPr>
            <a:xfrm>
              <a:off x="0" y="-9525"/>
              <a:ext cx="9509760" cy="2740122"/>
            </a:xfrm>
            <a:prstGeom prst="rect">
              <a:avLst/>
            </a:prstGeom>
          </p:spPr>
          <p:txBody>
            <a:bodyPr anchor="b" rtlCol="false" tIns="0" lIns="0" bIns="0" rIns="0"/>
            <a:lstStyle/>
            <a:p>
              <a:pPr algn="l">
                <a:lnSpc>
                  <a:spcPts val="3359"/>
                </a:lnSpc>
              </a:pPr>
              <a:r>
                <a:rPr lang="en-US" sz="2799" i="true">
                  <a:solidFill>
                    <a:srgbClr val="1B2A4A"/>
                  </a:solidFill>
                  <a:latin typeface="Cambria Italics"/>
                  <a:ea typeface="Cambria Italics"/>
                  <a:cs typeface="Cambria Italics"/>
                  <a:sym typeface="Cambria Italics"/>
                </a:rPr>
                <a:t>SD = √Variance</a:t>
              </a:r>
            </a:p>
          </p:txBody>
        </p:sp>
      </p:grpSp>
      <p:sp>
        <p:nvSpPr>
          <p:cNvPr name="TextBox 131" id="131"/>
          <p:cNvSpPr txBox="true"/>
          <p:nvPr/>
        </p:nvSpPr>
        <p:spPr>
          <a:xfrm rot="0">
            <a:off x="14138315" y="16352520"/>
            <a:ext cx="3737848" cy="485775"/>
          </a:xfrm>
          <a:prstGeom prst="rect">
            <a:avLst/>
          </a:prstGeom>
        </p:spPr>
        <p:txBody>
          <a:bodyPr anchor="t" rtlCol="false" tIns="0" lIns="0" bIns="0" rIns="0">
            <a:spAutoFit/>
          </a:bodyPr>
          <a:lstStyle/>
          <a:p>
            <a:pPr algn="l">
              <a:lnSpc>
                <a:spcPts val="3359"/>
              </a:lnSpc>
            </a:pPr>
            <a:r>
              <a:rPr lang="en-US" sz="2799">
                <a:solidFill>
                  <a:srgbClr val="5A6B85"/>
                </a:solidFill>
                <a:latin typeface="Calibri (MS)"/>
                <a:ea typeface="Calibri (MS)"/>
                <a:cs typeface="Calibri (MS)"/>
                <a:sym typeface="Calibri (MS)"/>
              </a:rPr>
              <a:t>Avg. deviation from mean</a:t>
            </a:r>
          </a:p>
        </p:txBody>
      </p:sp>
      <p:grpSp>
        <p:nvGrpSpPr>
          <p:cNvPr name="Group 132" id="132"/>
          <p:cNvGrpSpPr/>
          <p:nvPr/>
        </p:nvGrpSpPr>
        <p:grpSpPr>
          <a:xfrm rot="0">
            <a:off x="11212911" y="17380838"/>
            <a:ext cx="10272801" cy="8349036"/>
            <a:chOff x="0" y="0"/>
            <a:chExt cx="13671969" cy="11111649"/>
          </a:xfrm>
        </p:grpSpPr>
        <p:sp>
          <p:nvSpPr>
            <p:cNvPr name="Freeform 133" id="133"/>
            <p:cNvSpPr/>
            <p:nvPr/>
          </p:nvSpPr>
          <p:spPr>
            <a:xfrm flipH="false" flipV="false" rot="0">
              <a:off x="0" y="0"/>
              <a:ext cx="13671931" cy="11111612"/>
            </a:xfrm>
            <a:custGeom>
              <a:avLst/>
              <a:gdLst/>
              <a:ahLst/>
              <a:cxnLst/>
              <a:rect r="r" b="b" t="t" l="l"/>
              <a:pathLst>
                <a:path h="11111612" w="13671931">
                  <a:moveTo>
                    <a:pt x="0" y="109855"/>
                  </a:moveTo>
                  <a:cubicBezTo>
                    <a:pt x="0" y="49149"/>
                    <a:pt x="49149" y="0"/>
                    <a:pt x="109855" y="0"/>
                  </a:cubicBezTo>
                  <a:lnTo>
                    <a:pt x="13562076" y="0"/>
                  </a:lnTo>
                  <a:cubicBezTo>
                    <a:pt x="13622782" y="0"/>
                    <a:pt x="13671931" y="49149"/>
                    <a:pt x="13671931" y="109855"/>
                  </a:cubicBezTo>
                  <a:lnTo>
                    <a:pt x="13671931" y="11001756"/>
                  </a:lnTo>
                  <a:cubicBezTo>
                    <a:pt x="13671931" y="11062463"/>
                    <a:pt x="13622782" y="11111612"/>
                    <a:pt x="13562076" y="11111612"/>
                  </a:cubicBezTo>
                  <a:lnTo>
                    <a:pt x="109855" y="11111612"/>
                  </a:lnTo>
                  <a:cubicBezTo>
                    <a:pt x="49149" y="11111612"/>
                    <a:pt x="0" y="11062463"/>
                    <a:pt x="0" y="11001756"/>
                  </a:cubicBezTo>
                  <a:close/>
                </a:path>
              </a:pathLst>
            </a:custGeom>
            <a:solidFill>
              <a:srgbClr val="EDE6F5"/>
            </a:solidFill>
            <a:ln w="12700" cap="sq">
              <a:solidFill>
                <a:srgbClr val="FFFFFF"/>
              </a:solidFill>
              <a:prstDash val="solid"/>
              <a:miter/>
            </a:ln>
          </p:spPr>
        </p:sp>
      </p:grpSp>
      <p:grpSp>
        <p:nvGrpSpPr>
          <p:cNvPr name="Group 134" id="134"/>
          <p:cNvGrpSpPr/>
          <p:nvPr/>
        </p:nvGrpSpPr>
        <p:grpSpPr>
          <a:xfrm rot="0">
            <a:off x="11476202" y="17907907"/>
            <a:ext cx="567969" cy="567969"/>
            <a:chOff x="0" y="0"/>
            <a:chExt cx="755904" cy="755904"/>
          </a:xfrm>
        </p:grpSpPr>
        <p:sp>
          <p:nvSpPr>
            <p:cNvPr name="Freeform 135" id="135"/>
            <p:cNvSpPr/>
            <p:nvPr/>
          </p:nvSpPr>
          <p:spPr>
            <a:xfrm flipH="false" flipV="false" rot="0">
              <a:off x="0" y="0"/>
              <a:ext cx="755904" cy="755904"/>
            </a:xfrm>
            <a:custGeom>
              <a:avLst/>
              <a:gdLst/>
              <a:ahLst/>
              <a:cxnLst/>
              <a:rect r="r" b="b" t="t" l="l"/>
              <a:pathLst>
                <a:path h="755904" w="755904">
                  <a:moveTo>
                    <a:pt x="0" y="377952"/>
                  </a:moveTo>
                  <a:cubicBezTo>
                    <a:pt x="0" y="169164"/>
                    <a:pt x="169164" y="0"/>
                    <a:pt x="377952" y="0"/>
                  </a:cubicBezTo>
                  <a:cubicBezTo>
                    <a:pt x="586740" y="0"/>
                    <a:pt x="755904" y="169164"/>
                    <a:pt x="755904" y="377952"/>
                  </a:cubicBezTo>
                  <a:cubicBezTo>
                    <a:pt x="755904" y="586740"/>
                    <a:pt x="586740" y="755904"/>
                    <a:pt x="377952" y="755904"/>
                  </a:cubicBezTo>
                  <a:cubicBezTo>
                    <a:pt x="169164" y="755904"/>
                    <a:pt x="0" y="586740"/>
                    <a:pt x="0" y="377952"/>
                  </a:cubicBezTo>
                  <a:close/>
                </a:path>
              </a:pathLst>
            </a:custGeom>
            <a:solidFill>
              <a:srgbClr val="6A4C93"/>
            </a:solidFill>
          </p:spPr>
        </p:sp>
      </p:grpSp>
      <p:grpSp>
        <p:nvGrpSpPr>
          <p:cNvPr name="Group 136" id="136"/>
          <p:cNvGrpSpPr/>
          <p:nvPr/>
        </p:nvGrpSpPr>
        <p:grpSpPr>
          <a:xfrm rot="0">
            <a:off x="11476202" y="17907907"/>
            <a:ext cx="567969" cy="567969"/>
            <a:chOff x="0" y="0"/>
            <a:chExt cx="755904" cy="755904"/>
          </a:xfrm>
        </p:grpSpPr>
        <p:sp>
          <p:nvSpPr>
            <p:cNvPr name="Freeform 137" id="137"/>
            <p:cNvSpPr/>
            <p:nvPr/>
          </p:nvSpPr>
          <p:spPr>
            <a:xfrm flipH="false" flipV="false" rot="0">
              <a:off x="0" y="0"/>
              <a:ext cx="755904" cy="755904"/>
            </a:xfrm>
            <a:custGeom>
              <a:avLst/>
              <a:gdLst/>
              <a:ahLst/>
              <a:cxnLst/>
              <a:rect r="r" b="b" t="t" l="l"/>
              <a:pathLst>
                <a:path h="755904" w="755904">
                  <a:moveTo>
                    <a:pt x="0" y="0"/>
                  </a:moveTo>
                  <a:lnTo>
                    <a:pt x="755904" y="0"/>
                  </a:lnTo>
                  <a:lnTo>
                    <a:pt x="755904" y="755904"/>
                  </a:lnTo>
                  <a:lnTo>
                    <a:pt x="0" y="755904"/>
                  </a:lnTo>
                  <a:close/>
                </a:path>
              </a:pathLst>
            </a:custGeom>
            <a:blipFill>
              <a:blip r:embed="rId3">
                <a:alphaModFix amt="0"/>
              </a:blip>
              <a:stretch>
                <a:fillRect l="-78303" t="0" r="-78303" b="0"/>
              </a:stretch>
            </a:blipFill>
          </p:spPr>
        </p:sp>
        <p:sp>
          <p:nvSpPr>
            <p:cNvPr name="TextBox 138" id="138"/>
            <p:cNvSpPr txBox="true"/>
            <p:nvPr/>
          </p:nvSpPr>
          <p:spPr>
            <a:xfrm>
              <a:off x="0" y="-66675"/>
              <a:ext cx="755904" cy="822579"/>
            </a:xfrm>
            <a:prstGeom prst="rect">
              <a:avLst/>
            </a:prstGeom>
          </p:spPr>
          <p:txBody>
            <a:bodyPr anchor="ctr" rtlCol="false" tIns="0" lIns="0" bIns="0" rIns="0"/>
            <a:lstStyle/>
            <a:p>
              <a:pPr algn="ctr">
                <a:lnSpc>
                  <a:spcPts val="3359"/>
                </a:lnSpc>
              </a:pPr>
              <a:r>
                <a:rPr lang="en-US" sz="2799">
                  <a:solidFill>
                    <a:srgbClr val="FFFFFF"/>
                  </a:solidFill>
                  <a:latin typeface="Calibri (MS)"/>
                  <a:ea typeface="Calibri (MS)"/>
                  <a:cs typeface="Calibri (MS)"/>
                  <a:sym typeface="Calibri (MS)"/>
                </a:rPr>
                <a:t>🔄</a:t>
              </a:r>
            </a:p>
          </p:txBody>
        </p:sp>
      </p:grpSp>
      <p:grpSp>
        <p:nvGrpSpPr>
          <p:cNvPr name="Group 139" id="139"/>
          <p:cNvGrpSpPr/>
          <p:nvPr/>
        </p:nvGrpSpPr>
        <p:grpSpPr>
          <a:xfrm rot="0">
            <a:off x="11934242" y="16826111"/>
            <a:ext cx="8885963" cy="2419440"/>
            <a:chOff x="0" y="0"/>
            <a:chExt cx="11826240" cy="3220009"/>
          </a:xfrm>
        </p:grpSpPr>
        <p:sp>
          <p:nvSpPr>
            <p:cNvPr name="Freeform 140" id="140"/>
            <p:cNvSpPr/>
            <p:nvPr/>
          </p:nvSpPr>
          <p:spPr>
            <a:xfrm flipH="false" flipV="false" rot="0">
              <a:off x="0" y="0"/>
              <a:ext cx="11826240" cy="3220009"/>
            </a:xfrm>
            <a:custGeom>
              <a:avLst/>
              <a:gdLst/>
              <a:ahLst/>
              <a:cxnLst/>
              <a:rect r="r" b="b" t="t" l="l"/>
              <a:pathLst>
                <a:path h="3220009" w="11826240">
                  <a:moveTo>
                    <a:pt x="0" y="0"/>
                  </a:moveTo>
                  <a:lnTo>
                    <a:pt x="11826240" y="0"/>
                  </a:lnTo>
                  <a:lnTo>
                    <a:pt x="11826240" y="3220009"/>
                  </a:lnTo>
                  <a:lnTo>
                    <a:pt x="0" y="3220009"/>
                  </a:lnTo>
                  <a:close/>
                </a:path>
              </a:pathLst>
            </a:custGeom>
            <a:blipFill>
              <a:blip r:embed="rId3">
                <a:alphaModFix amt="0"/>
              </a:blip>
              <a:stretch>
                <a:fillRect l="0" t="-58689" r="0" b="15563"/>
              </a:stretch>
            </a:blipFill>
          </p:spPr>
        </p:sp>
        <p:sp>
          <p:nvSpPr>
            <p:cNvPr name="TextBox 141" id="141"/>
            <p:cNvSpPr txBox="true"/>
            <p:nvPr/>
          </p:nvSpPr>
          <p:spPr>
            <a:xfrm>
              <a:off x="0" y="-9525"/>
              <a:ext cx="11826240" cy="3229534"/>
            </a:xfrm>
            <a:prstGeom prst="rect">
              <a:avLst/>
            </a:prstGeom>
          </p:spPr>
          <p:txBody>
            <a:bodyPr anchor="ctr" rtlCol="false" tIns="0" lIns="0" bIns="0" rIns="0"/>
            <a:lstStyle/>
            <a:p>
              <a:pPr algn="ctr">
                <a:lnSpc>
                  <a:spcPts val="3959"/>
                </a:lnSpc>
              </a:pPr>
              <a:r>
                <a:rPr lang="en-US" sz="3299" b="true">
                  <a:solidFill>
                    <a:srgbClr val="1B2A4A"/>
                  </a:solidFill>
                  <a:latin typeface="Cambria Bold"/>
                  <a:ea typeface="Cambria Bold"/>
                  <a:cs typeface="Cambria Bold"/>
                  <a:sym typeface="Cambria Bold"/>
                </a:rPr>
                <a:t>Data Science Workflow</a:t>
              </a:r>
            </a:p>
          </p:txBody>
        </p:sp>
      </p:grpSp>
      <p:grpSp>
        <p:nvGrpSpPr>
          <p:cNvPr name="Group 142" id="142"/>
          <p:cNvGrpSpPr/>
          <p:nvPr/>
        </p:nvGrpSpPr>
        <p:grpSpPr>
          <a:xfrm rot="0">
            <a:off x="11659418" y="18686574"/>
            <a:ext cx="2748236" cy="1419922"/>
            <a:chOff x="0" y="0"/>
            <a:chExt cx="3657600" cy="1889760"/>
          </a:xfrm>
        </p:grpSpPr>
        <p:sp>
          <p:nvSpPr>
            <p:cNvPr name="Freeform 143" id="143"/>
            <p:cNvSpPr/>
            <p:nvPr/>
          </p:nvSpPr>
          <p:spPr>
            <a:xfrm flipH="false" flipV="false" rot="0">
              <a:off x="0" y="0"/>
              <a:ext cx="3657600" cy="1889760"/>
            </a:xfrm>
            <a:custGeom>
              <a:avLst/>
              <a:gdLst/>
              <a:ahLst/>
              <a:cxnLst/>
              <a:rect r="r" b="b" t="t" l="l"/>
              <a:pathLst>
                <a:path h="1889760" w="3657600">
                  <a:moveTo>
                    <a:pt x="0" y="304800"/>
                  </a:moveTo>
                  <a:cubicBezTo>
                    <a:pt x="0" y="136525"/>
                    <a:pt x="136525" y="0"/>
                    <a:pt x="304800" y="0"/>
                  </a:cubicBezTo>
                  <a:lnTo>
                    <a:pt x="3352800" y="0"/>
                  </a:lnTo>
                  <a:cubicBezTo>
                    <a:pt x="3521075" y="0"/>
                    <a:pt x="3657600" y="136525"/>
                    <a:pt x="3657600" y="304800"/>
                  </a:cubicBezTo>
                  <a:lnTo>
                    <a:pt x="3657600" y="1584960"/>
                  </a:lnTo>
                  <a:cubicBezTo>
                    <a:pt x="3657600" y="1753235"/>
                    <a:pt x="3521075" y="1889760"/>
                    <a:pt x="3352800" y="1889760"/>
                  </a:cubicBezTo>
                  <a:lnTo>
                    <a:pt x="304800" y="1889760"/>
                  </a:lnTo>
                  <a:cubicBezTo>
                    <a:pt x="136525" y="1889760"/>
                    <a:pt x="0" y="1753235"/>
                    <a:pt x="0" y="1584960"/>
                  </a:cubicBezTo>
                  <a:close/>
                </a:path>
              </a:pathLst>
            </a:custGeom>
            <a:solidFill>
              <a:srgbClr val="0E7C7B"/>
            </a:solidFill>
          </p:spPr>
        </p:sp>
      </p:grpSp>
      <p:grpSp>
        <p:nvGrpSpPr>
          <p:cNvPr name="Group 144" id="144"/>
          <p:cNvGrpSpPr/>
          <p:nvPr/>
        </p:nvGrpSpPr>
        <p:grpSpPr>
          <a:xfrm rot="0">
            <a:off x="11751026" y="18686574"/>
            <a:ext cx="732863" cy="1419922"/>
            <a:chOff x="0" y="0"/>
            <a:chExt cx="975360" cy="1889760"/>
          </a:xfrm>
        </p:grpSpPr>
        <p:sp>
          <p:nvSpPr>
            <p:cNvPr name="Freeform 145" id="145"/>
            <p:cNvSpPr/>
            <p:nvPr/>
          </p:nvSpPr>
          <p:spPr>
            <a:xfrm flipH="false" flipV="false" rot="0">
              <a:off x="0" y="0"/>
              <a:ext cx="975360" cy="1889760"/>
            </a:xfrm>
            <a:custGeom>
              <a:avLst/>
              <a:gdLst/>
              <a:ahLst/>
              <a:cxnLst/>
              <a:rect r="r" b="b" t="t" l="l"/>
              <a:pathLst>
                <a:path h="1889760" w="975360">
                  <a:moveTo>
                    <a:pt x="0" y="0"/>
                  </a:moveTo>
                  <a:lnTo>
                    <a:pt x="975360" y="0"/>
                  </a:lnTo>
                  <a:lnTo>
                    <a:pt x="975360" y="1889760"/>
                  </a:lnTo>
                  <a:lnTo>
                    <a:pt x="0" y="1889760"/>
                  </a:lnTo>
                  <a:close/>
                </a:path>
              </a:pathLst>
            </a:custGeom>
            <a:blipFill>
              <a:blip r:embed="rId3">
                <a:alphaModFix amt="0"/>
              </a:blip>
              <a:stretch>
                <a:fillRect l="-198588" t="0" r="-198588" b="0"/>
              </a:stretch>
            </a:blipFill>
          </p:spPr>
        </p:sp>
        <p:sp>
          <p:nvSpPr>
            <p:cNvPr name="TextBox 146" id="146"/>
            <p:cNvSpPr txBox="true"/>
            <p:nvPr/>
          </p:nvSpPr>
          <p:spPr>
            <a:xfrm>
              <a:off x="0" y="-66675"/>
              <a:ext cx="975360" cy="1956435"/>
            </a:xfrm>
            <a:prstGeom prst="rect">
              <a:avLst/>
            </a:prstGeom>
          </p:spPr>
          <p:txBody>
            <a:bodyPr anchor="ctr" rtlCol="false" tIns="0" lIns="0" bIns="0" rIns="0"/>
            <a:lstStyle/>
            <a:p>
              <a:pPr algn="ctr">
                <a:lnSpc>
                  <a:spcPts val="3359"/>
                </a:lnSpc>
              </a:pPr>
              <a:r>
                <a:rPr lang="en-US" sz="2799">
                  <a:solidFill>
                    <a:srgbClr val="000000"/>
                  </a:solidFill>
                  <a:latin typeface="Calibri (MS)"/>
                  <a:ea typeface="Calibri (MS)"/>
                  <a:cs typeface="Calibri (MS)"/>
                  <a:sym typeface="Calibri (MS)"/>
                </a:rPr>
                <a:t>🗃</a:t>
              </a:r>
            </a:p>
          </p:txBody>
        </p:sp>
      </p:grpSp>
      <p:grpSp>
        <p:nvGrpSpPr>
          <p:cNvPr name="Group 147" id="147"/>
          <p:cNvGrpSpPr/>
          <p:nvPr/>
        </p:nvGrpSpPr>
        <p:grpSpPr>
          <a:xfrm rot="0">
            <a:off x="12438085" y="18686574"/>
            <a:ext cx="1877961" cy="1419922"/>
            <a:chOff x="0" y="0"/>
            <a:chExt cx="2499360" cy="1889760"/>
          </a:xfrm>
        </p:grpSpPr>
        <p:sp>
          <p:nvSpPr>
            <p:cNvPr name="Freeform 148" id="148"/>
            <p:cNvSpPr/>
            <p:nvPr/>
          </p:nvSpPr>
          <p:spPr>
            <a:xfrm flipH="false" flipV="false" rot="0">
              <a:off x="0" y="0"/>
              <a:ext cx="2499360" cy="1889760"/>
            </a:xfrm>
            <a:custGeom>
              <a:avLst/>
              <a:gdLst/>
              <a:ahLst/>
              <a:cxnLst/>
              <a:rect r="r" b="b" t="t" l="l"/>
              <a:pathLst>
                <a:path h="1889760" w="2499360">
                  <a:moveTo>
                    <a:pt x="0" y="0"/>
                  </a:moveTo>
                  <a:lnTo>
                    <a:pt x="2499360" y="0"/>
                  </a:lnTo>
                  <a:lnTo>
                    <a:pt x="2499360" y="1889760"/>
                  </a:lnTo>
                  <a:lnTo>
                    <a:pt x="0" y="1889760"/>
                  </a:lnTo>
                  <a:close/>
                </a:path>
              </a:pathLst>
            </a:custGeom>
            <a:blipFill>
              <a:blip r:embed="rId3">
                <a:alphaModFix amt="0"/>
              </a:blip>
              <a:stretch>
                <a:fillRect l="-47010" t="0" r="-47010" b="0"/>
              </a:stretch>
            </a:blipFill>
          </p:spPr>
        </p:sp>
        <p:sp>
          <p:nvSpPr>
            <p:cNvPr name="TextBox 149" id="149"/>
            <p:cNvSpPr txBox="true"/>
            <p:nvPr/>
          </p:nvSpPr>
          <p:spPr>
            <a:xfrm>
              <a:off x="0" y="-66675"/>
              <a:ext cx="2499360" cy="1956435"/>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Data</a:t>
              </a:r>
            </a:p>
            <a:p>
              <a:pPr algn="l">
                <a:lnSpc>
                  <a:spcPts val="3359"/>
                </a:lnSpc>
              </a:pPr>
              <a:r>
                <a:rPr lang="en-US" sz="2799" b="true">
                  <a:solidFill>
                    <a:srgbClr val="FFFFFF"/>
                  </a:solidFill>
                  <a:latin typeface="Calibri (MS) Bold"/>
                  <a:ea typeface="Calibri (MS) Bold"/>
                  <a:cs typeface="Calibri (MS) Bold"/>
                  <a:sym typeface="Calibri (MS) Bold"/>
                </a:rPr>
                <a:t>Collection</a:t>
              </a:r>
            </a:p>
          </p:txBody>
        </p:sp>
      </p:grpSp>
      <p:grpSp>
        <p:nvGrpSpPr>
          <p:cNvPr name="Group 150" id="150"/>
          <p:cNvGrpSpPr/>
          <p:nvPr/>
        </p:nvGrpSpPr>
        <p:grpSpPr>
          <a:xfrm rot="0">
            <a:off x="18163576" y="18686574"/>
            <a:ext cx="2748236" cy="1419922"/>
            <a:chOff x="0" y="0"/>
            <a:chExt cx="3657600" cy="1889760"/>
          </a:xfrm>
        </p:grpSpPr>
        <p:sp>
          <p:nvSpPr>
            <p:cNvPr name="Freeform 151" id="151"/>
            <p:cNvSpPr/>
            <p:nvPr/>
          </p:nvSpPr>
          <p:spPr>
            <a:xfrm flipH="false" flipV="false" rot="0">
              <a:off x="0" y="0"/>
              <a:ext cx="3657600" cy="1889760"/>
            </a:xfrm>
            <a:custGeom>
              <a:avLst/>
              <a:gdLst/>
              <a:ahLst/>
              <a:cxnLst/>
              <a:rect r="r" b="b" t="t" l="l"/>
              <a:pathLst>
                <a:path h="1889760" w="3657600">
                  <a:moveTo>
                    <a:pt x="0" y="304800"/>
                  </a:moveTo>
                  <a:cubicBezTo>
                    <a:pt x="0" y="136525"/>
                    <a:pt x="136525" y="0"/>
                    <a:pt x="304800" y="0"/>
                  </a:cubicBezTo>
                  <a:lnTo>
                    <a:pt x="3352800" y="0"/>
                  </a:lnTo>
                  <a:cubicBezTo>
                    <a:pt x="3521075" y="0"/>
                    <a:pt x="3657600" y="136525"/>
                    <a:pt x="3657600" y="304800"/>
                  </a:cubicBezTo>
                  <a:lnTo>
                    <a:pt x="3657600" y="1584960"/>
                  </a:lnTo>
                  <a:cubicBezTo>
                    <a:pt x="3657600" y="1753235"/>
                    <a:pt x="3521075" y="1889760"/>
                    <a:pt x="3352800" y="1889760"/>
                  </a:cubicBezTo>
                  <a:lnTo>
                    <a:pt x="304800" y="1889760"/>
                  </a:lnTo>
                  <a:cubicBezTo>
                    <a:pt x="136525" y="1889760"/>
                    <a:pt x="0" y="1753235"/>
                    <a:pt x="0" y="1584960"/>
                  </a:cubicBezTo>
                  <a:close/>
                </a:path>
              </a:pathLst>
            </a:custGeom>
            <a:solidFill>
              <a:srgbClr val="D64550"/>
            </a:solidFill>
          </p:spPr>
        </p:sp>
      </p:grpSp>
      <p:grpSp>
        <p:nvGrpSpPr>
          <p:cNvPr name="Group 152" id="152"/>
          <p:cNvGrpSpPr/>
          <p:nvPr/>
        </p:nvGrpSpPr>
        <p:grpSpPr>
          <a:xfrm rot="0">
            <a:off x="18255184" y="18686574"/>
            <a:ext cx="732863" cy="1419922"/>
            <a:chOff x="0" y="0"/>
            <a:chExt cx="975360" cy="1889760"/>
          </a:xfrm>
        </p:grpSpPr>
        <p:sp>
          <p:nvSpPr>
            <p:cNvPr name="Freeform 153" id="153"/>
            <p:cNvSpPr/>
            <p:nvPr/>
          </p:nvSpPr>
          <p:spPr>
            <a:xfrm flipH="false" flipV="false" rot="0">
              <a:off x="0" y="0"/>
              <a:ext cx="975360" cy="1889760"/>
            </a:xfrm>
            <a:custGeom>
              <a:avLst/>
              <a:gdLst/>
              <a:ahLst/>
              <a:cxnLst/>
              <a:rect r="r" b="b" t="t" l="l"/>
              <a:pathLst>
                <a:path h="1889760" w="975360">
                  <a:moveTo>
                    <a:pt x="0" y="0"/>
                  </a:moveTo>
                  <a:lnTo>
                    <a:pt x="975360" y="0"/>
                  </a:lnTo>
                  <a:lnTo>
                    <a:pt x="975360" y="1889760"/>
                  </a:lnTo>
                  <a:lnTo>
                    <a:pt x="0" y="1889760"/>
                  </a:lnTo>
                  <a:close/>
                </a:path>
              </a:pathLst>
            </a:custGeom>
            <a:blipFill>
              <a:blip r:embed="rId3">
                <a:alphaModFix amt="0"/>
              </a:blip>
              <a:stretch>
                <a:fillRect l="-198588" t="0" r="-198588" b="0"/>
              </a:stretch>
            </a:blipFill>
          </p:spPr>
        </p:sp>
        <p:sp>
          <p:nvSpPr>
            <p:cNvPr name="TextBox 154" id="154"/>
            <p:cNvSpPr txBox="true"/>
            <p:nvPr/>
          </p:nvSpPr>
          <p:spPr>
            <a:xfrm>
              <a:off x="0" y="-66675"/>
              <a:ext cx="975360" cy="1956435"/>
            </a:xfrm>
            <a:prstGeom prst="rect">
              <a:avLst/>
            </a:prstGeom>
          </p:spPr>
          <p:txBody>
            <a:bodyPr anchor="ctr" rtlCol="false" tIns="0" lIns="0" bIns="0" rIns="0"/>
            <a:lstStyle/>
            <a:p>
              <a:pPr algn="ctr">
                <a:lnSpc>
                  <a:spcPts val="3359"/>
                </a:lnSpc>
              </a:pPr>
              <a:r>
                <a:rPr lang="en-US" sz="2799">
                  <a:solidFill>
                    <a:srgbClr val="000000"/>
                  </a:solidFill>
                  <a:latin typeface="Calibri (MS)"/>
                  <a:ea typeface="Calibri (MS)"/>
                  <a:cs typeface="Calibri (MS)"/>
                  <a:sym typeface="Calibri (MS)"/>
                </a:rPr>
                <a:t>🧹</a:t>
              </a:r>
            </a:p>
          </p:txBody>
        </p:sp>
      </p:grpSp>
      <p:grpSp>
        <p:nvGrpSpPr>
          <p:cNvPr name="Group 155" id="155"/>
          <p:cNvGrpSpPr/>
          <p:nvPr/>
        </p:nvGrpSpPr>
        <p:grpSpPr>
          <a:xfrm rot="0">
            <a:off x="18942243" y="18686574"/>
            <a:ext cx="1877961" cy="1419922"/>
            <a:chOff x="0" y="0"/>
            <a:chExt cx="2499360" cy="1889760"/>
          </a:xfrm>
        </p:grpSpPr>
        <p:sp>
          <p:nvSpPr>
            <p:cNvPr name="Freeform 156" id="156"/>
            <p:cNvSpPr/>
            <p:nvPr/>
          </p:nvSpPr>
          <p:spPr>
            <a:xfrm flipH="false" flipV="false" rot="0">
              <a:off x="0" y="0"/>
              <a:ext cx="2499360" cy="1889760"/>
            </a:xfrm>
            <a:custGeom>
              <a:avLst/>
              <a:gdLst/>
              <a:ahLst/>
              <a:cxnLst/>
              <a:rect r="r" b="b" t="t" l="l"/>
              <a:pathLst>
                <a:path h="1889760" w="2499360">
                  <a:moveTo>
                    <a:pt x="0" y="0"/>
                  </a:moveTo>
                  <a:lnTo>
                    <a:pt x="2499360" y="0"/>
                  </a:lnTo>
                  <a:lnTo>
                    <a:pt x="2499360" y="1889760"/>
                  </a:lnTo>
                  <a:lnTo>
                    <a:pt x="0" y="1889760"/>
                  </a:lnTo>
                  <a:close/>
                </a:path>
              </a:pathLst>
            </a:custGeom>
            <a:blipFill>
              <a:blip r:embed="rId3">
                <a:alphaModFix amt="0"/>
              </a:blip>
              <a:stretch>
                <a:fillRect l="-47010" t="0" r="-47010" b="0"/>
              </a:stretch>
            </a:blipFill>
          </p:spPr>
        </p:sp>
        <p:sp>
          <p:nvSpPr>
            <p:cNvPr name="TextBox 157" id="157"/>
            <p:cNvSpPr txBox="true"/>
            <p:nvPr/>
          </p:nvSpPr>
          <p:spPr>
            <a:xfrm>
              <a:off x="0" y="-66675"/>
              <a:ext cx="2499360" cy="1956435"/>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Data</a:t>
              </a:r>
            </a:p>
            <a:p>
              <a:pPr algn="l">
                <a:lnSpc>
                  <a:spcPts val="3359"/>
                </a:lnSpc>
              </a:pPr>
              <a:r>
                <a:rPr lang="en-US" sz="2799" b="true">
                  <a:solidFill>
                    <a:srgbClr val="FFFFFF"/>
                  </a:solidFill>
                  <a:latin typeface="Calibri (MS) Bold"/>
                  <a:ea typeface="Calibri (MS) Bold"/>
                  <a:cs typeface="Calibri (MS) Bold"/>
                  <a:sym typeface="Calibri (MS) Bold"/>
                </a:rPr>
                <a:t>Cleaning</a:t>
              </a:r>
            </a:p>
          </p:txBody>
        </p:sp>
      </p:grpSp>
      <p:grpSp>
        <p:nvGrpSpPr>
          <p:cNvPr name="Group 158" id="158"/>
          <p:cNvGrpSpPr/>
          <p:nvPr/>
        </p:nvGrpSpPr>
        <p:grpSpPr>
          <a:xfrm rot="0">
            <a:off x="18163576" y="20518731"/>
            <a:ext cx="2748236" cy="1419922"/>
            <a:chOff x="0" y="0"/>
            <a:chExt cx="3657600" cy="1889760"/>
          </a:xfrm>
        </p:grpSpPr>
        <p:sp>
          <p:nvSpPr>
            <p:cNvPr name="Freeform 159" id="159"/>
            <p:cNvSpPr/>
            <p:nvPr/>
          </p:nvSpPr>
          <p:spPr>
            <a:xfrm flipH="false" flipV="false" rot="0">
              <a:off x="0" y="0"/>
              <a:ext cx="3657600" cy="1889760"/>
            </a:xfrm>
            <a:custGeom>
              <a:avLst/>
              <a:gdLst/>
              <a:ahLst/>
              <a:cxnLst/>
              <a:rect r="r" b="b" t="t" l="l"/>
              <a:pathLst>
                <a:path h="1889760" w="3657600">
                  <a:moveTo>
                    <a:pt x="0" y="304800"/>
                  </a:moveTo>
                  <a:cubicBezTo>
                    <a:pt x="0" y="136525"/>
                    <a:pt x="136525" y="0"/>
                    <a:pt x="304800" y="0"/>
                  </a:cubicBezTo>
                  <a:lnTo>
                    <a:pt x="3352800" y="0"/>
                  </a:lnTo>
                  <a:cubicBezTo>
                    <a:pt x="3521075" y="0"/>
                    <a:pt x="3657600" y="136525"/>
                    <a:pt x="3657600" y="304800"/>
                  </a:cubicBezTo>
                  <a:lnTo>
                    <a:pt x="3657600" y="1584960"/>
                  </a:lnTo>
                  <a:cubicBezTo>
                    <a:pt x="3657600" y="1753235"/>
                    <a:pt x="3521075" y="1889760"/>
                    <a:pt x="3352800" y="1889760"/>
                  </a:cubicBezTo>
                  <a:lnTo>
                    <a:pt x="304800" y="1889760"/>
                  </a:lnTo>
                  <a:cubicBezTo>
                    <a:pt x="136525" y="1889760"/>
                    <a:pt x="0" y="1753235"/>
                    <a:pt x="0" y="1584960"/>
                  </a:cubicBezTo>
                  <a:close/>
                </a:path>
              </a:pathLst>
            </a:custGeom>
            <a:solidFill>
              <a:srgbClr val="C98A0A"/>
            </a:solidFill>
          </p:spPr>
        </p:sp>
      </p:grpSp>
      <p:grpSp>
        <p:nvGrpSpPr>
          <p:cNvPr name="Group 160" id="160"/>
          <p:cNvGrpSpPr/>
          <p:nvPr/>
        </p:nvGrpSpPr>
        <p:grpSpPr>
          <a:xfrm rot="0">
            <a:off x="18255184" y="20518731"/>
            <a:ext cx="732863" cy="1419922"/>
            <a:chOff x="0" y="0"/>
            <a:chExt cx="975360" cy="1889760"/>
          </a:xfrm>
        </p:grpSpPr>
        <p:sp>
          <p:nvSpPr>
            <p:cNvPr name="Freeform 161" id="161"/>
            <p:cNvSpPr/>
            <p:nvPr/>
          </p:nvSpPr>
          <p:spPr>
            <a:xfrm flipH="false" flipV="false" rot="0">
              <a:off x="0" y="0"/>
              <a:ext cx="975360" cy="1889760"/>
            </a:xfrm>
            <a:custGeom>
              <a:avLst/>
              <a:gdLst/>
              <a:ahLst/>
              <a:cxnLst/>
              <a:rect r="r" b="b" t="t" l="l"/>
              <a:pathLst>
                <a:path h="1889760" w="975360">
                  <a:moveTo>
                    <a:pt x="0" y="0"/>
                  </a:moveTo>
                  <a:lnTo>
                    <a:pt x="975360" y="0"/>
                  </a:lnTo>
                  <a:lnTo>
                    <a:pt x="975360" y="1889760"/>
                  </a:lnTo>
                  <a:lnTo>
                    <a:pt x="0" y="1889760"/>
                  </a:lnTo>
                  <a:close/>
                </a:path>
              </a:pathLst>
            </a:custGeom>
            <a:blipFill>
              <a:blip r:embed="rId3">
                <a:alphaModFix amt="0"/>
              </a:blip>
              <a:stretch>
                <a:fillRect l="-198588" t="0" r="-198588" b="0"/>
              </a:stretch>
            </a:blipFill>
          </p:spPr>
        </p:sp>
        <p:sp>
          <p:nvSpPr>
            <p:cNvPr name="TextBox 162" id="162"/>
            <p:cNvSpPr txBox="true"/>
            <p:nvPr/>
          </p:nvSpPr>
          <p:spPr>
            <a:xfrm>
              <a:off x="0" y="-66675"/>
              <a:ext cx="975360" cy="1956435"/>
            </a:xfrm>
            <a:prstGeom prst="rect">
              <a:avLst/>
            </a:prstGeom>
          </p:spPr>
          <p:txBody>
            <a:bodyPr anchor="ctr" rtlCol="false" tIns="0" lIns="0" bIns="0" rIns="0"/>
            <a:lstStyle/>
            <a:p>
              <a:pPr algn="ctr">
                <a:lnSpc>
                  <a:spcPts val="3359"/>
                </a:lnSpc>
              </a:pPr>
              <a:r>
                <a:rPr lang="en-US" sz="2799">
                  <a:solidFill>
                    <a:srgbClr val="000000"/>
                  </a:solidFill>
                  <a:latin typeface="Calibri (MS)"/>
                  <a:ea typeface="Calibri (MS)"/>
                  <a:cs typeface="Calibri (MS)"/>
                  <a:sym typeface="Calibri (MS)"/>
                </a:rPr>
                <a:t>❓</a:t>
              </a:r>
            </a:p>
          </p:txBody>
        </p:sp>
      </p:grpSp>
      <p:grpSp>
        <p:nvGrpSpPr>
          <p:cNvPr name="Group 163" id="163"/>
          <p:cNvGrpSpPr/>
          <p:nvPr/>
        </p:nvGrpSpPr>
        <p:grpSpPr>
          <a:xfrm rot="0">
            <a:off x="18942243" y="20518731"/>
            <a:ext cx="1877961" cy="1419922"/>
            <a:chOff x="0" y="0"/>
            <a:chExt cx="2499360" cy="1889760"/>
          </a:xfrm>
        </p:grpSpPr>
        <p:sp>
          <p:nvSpPr>
            <p:cNvPr name="Freeform 164" id="164"/>
            <p:cNvSpPr/>
            <p:nvPr/>
          </p:nvSpPr>
          <p:spPr>
            <a:xfrm flipH="false" flipV="false" rot="0">
              <a:off x="0" y="0"/>
              <a:ext cx="2499360" cy="1889760"/>
            </a:xfrm>
            <a:custGeom>
              <a:avLst/>
              <a:gdLst/>
              <a:ahLst/>
              <a:cxnLst/>
              <a:rect r="r" b="b" t="t" l="l"/>
              <a:pathLst>
                <a:path h="1889760" w="2499360">
                  <a:moveTo>
                    <a:pt x="0" y="0"/>
                  </a:moveTo>
                  <a:lnTo>
                    <a:pt x="2499360" y="0"/>
                  </a:lnTo>
                  <a:lnTo>
                    <a:pt x="2499360" y="1889760"/>
                  </a:lnTo>
                  <a:lnTo>
                    <a:pt x="0" y="1889760"/>
                  </a:lnTo>
                  <a:close/>
                </a:path>
              </a:pathLst>
            </a:custGeom>
            <a:blipFill>
              <a:blip r:embed="rId3">
                <a:alphaModFix amt="0"/>
              </a:blip>
              <a:stretch>
                <a:fillRect l="-47010" t="0" r="-47010" b="0"/>
              </a:stretch>
            </a:blipFill>
          </p:spPr>
        </p:sp>
        <p:sp>
          <p:nvSpPr>
            <p:cNvPr name="TextBox 165" id="165"/>
            <p:cNvSpPr txBox="true"/>
            <p:nvPr/>
          </p:nvSpPr>
          <p:spPr>
            <a:xfrm>
              <a:off x="0" y="-66675"/>
              <a:ext cx="2499360" cy="1956435"/>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Missing Value</a:t>
              </a:r>
            </a:p>
            <a:p>
              <a:pPr algn="l">
                <a:lnSpc>
                  <a:spcPts val="3359"/>
                </a:lnSpc>
              </a:pPr>
              <a:r>
                <a:rPr lang="en-US" sz="2799" b="true">
                  <a:solidFill>
                    <a:srgbClr val="FFFFFF"/>
                  </a:solidFill>
                  <a:latin typeface="Calibri (MS) Bold"/>
                  <a:ea typeface="Calibri (MS) Bold"/>
                  <a:cs typeface="Calibri (MS) Bold"/>
                  <a:sym typeface="Calibri (MS) Bold"/>
                </a:rPr>
                <a:t>Checking</a:t>
              </a:r>
            </a:p>
          </p:txBody>
        </p:sp>
      </p:grpSp>
      <p:grpSp>
        <p:nvGrpSpPr>
          <p:cNvPr name="Group 166" id="166"/>
          <p:cNvGrpSpPr/>
          <p:nvPr/>
        </p:nvGrpSpPr>
        <p:grpSpPr>
          <a:xfrm rot="0">
            <a:off x="11659418" y="20518731"/>
            <a:ext cx="2748236" cy="1419922"/>
            <a:chOff x="0" y="0"/>
            <a:chExt cx="3657600" cy="1889760"/>
          </a:xfrm>
        </p:grpSpPr>
        <p:sp>
          <p:nvSpPr>
            <p:cNvPr name="Freeform 167" id="167"/>
            <p:cNvSpPr/>
            <p:nvPr/>
          </p:nvSpPr>
          <p:spPr>
            <a:xfrm flipH="false" flipV="false" rot="0">
              <a:off x="0" y="0"/>
              <a:ext cx="3657600" cy="1889760"/>
            </a:xfrm>
            <a:custGeom>
              <a:avLst/>
              <a:gdLst/>
              <a:ahLst/>
              <a:cxnLst/>
              <a:rect r="r" b="b" t="t" l="l"/>
              <a:pathLst>
                <a:path h="1889760" w="3657600">
                  <a:moveTo>
                    <a:pt x="0" y="304800"/>
                  </a:moveTo>
                  <a:cubicBezTo>
                    <a:pt x="0" y="136525"/>
                    <a:pt x="136525" y="0"/>
                    <a:pt x="304800" y="0"/>
                  </a:cubicBezTo>
                  <a:lnTo>
                    <a:pt x="3352800" y="0"/>
                  </a:lnTo>
                  <a:cubicBezTo>
                    <a:pt x="3521075" y="0"/>
                    <a:pt x="3657600" y="136525"/>
                    <a:pt x="3657600" y="304800"/>
                  </a:cubicBezTo>
                  <a:lnTo>
                    <a:pt x="3657600" y="1584960"/>
                  </a:lnTo>
                  <a:cubicBezTo>
                    <a:pt x="3657600" y="1753235"/>
                    <a:pt x="3521075" y="1889760"/>
                    <a:pt x="3352800" y="1889760"/>
                  </a:cubicBezTo>
                  <a:lnTo>
                    <a:pt x="304800" y="1889760"/>
                  </a:lnTo>
                  <a:cubicBezTo>
                    <a:pt x="136525" y="1889760"/>
                    <a:pt x="0" y="1753235"/>
                    <a:pt x="0" y="1584960"/>
                  </a:cubicBezTo>
                  <a:close/>
                </a:path>
              </a:pathLst>
            </a:custGeom>
            <a:solidFill>
              <a:srgbClr val="1E8E5A"/>
            </a:solidFill>
          </p:spPr>
        </p:sp>
      </p:grpSp>
      <p:grpSp>
        <p:nvGrpSpPr>
          <p:cNvPr name="Group 168" id="168"/>
          <p:cNvGrpSpPr/>
          <p:nvPr/>
        </p:nvGrpSpPr>
        <p:grpSpPr>
          <a:xfrm rot="0">
            <a:off x="11751026" y="20518731"/>
            <a:ext cx="732863" cy="1419922"/>
            <a:chOff x="0" y="0"/>
            <a:chExt cx="975360" cy="1889760"/>
          </a:xfrm>
        </p:grpSpPr>
        <p:sp>
          <p:nvSpPr>
            <p:cNvPr name="Freeform 169" id="169"/>
            <p:cNvSpPr/>
            <p:nvPr/>
          </p:nvSpPr>
          <p:spPr>
            <a:xfrm flipH="false" flipV="false" rot="0">
              <a:off x="0" y="0"/>
              <a:ext cx="975360" cy="1889760"/>
            </a:xfrm>
            <a:custGeom>
              <a:avLst/>
              <a:gdLst/>
              <a:ahLst/>
              <a:cxnLst/>
              <a:rect r="r" b="b" t="t" l="l"/>
              <a:pathLst>
                <a:path h="1889760" w="975360">
                  <a:moveTo>
                    <a:pt x="0" y="0"/>
                  </a:moveTo>
                  <a:lnTo>
                    <a:pt x="975360" y="0"/>
                  </a:lnTo>
                  <a:lnTo>
                    <a:pt x="975360" y="1889760"/>
                  </a:lnTo>
                  <a:lnTo>
                    <a:pt x="0" y="1889760"/>
                  </a:lnTo>
                  <a:close/>
                </a:path>
              </a:pathLst>
            </a:custGeom>
            <a:blipFill>
              <a:blip r:embed="rId3">
                <a:alphaModFix amt="0"/>
              </a:blip>
              <a:stretch>
                <a:fillRect l="-198588" t="0" r="-198588" b="0"/>
              </a:stretch>
            </a:blipFill>
          </p:spPr>
        </p:sp>
        <p:sp>
          <p:nvSpPr>
            <p:cNvPr name="TextBox 170" id="170"/>
            <p:cNvSpPr txBox="true"/>
            <p:nvPr/>
          </p:nvSpPr>
          <p:spPr>
            <a:xfrm>
              <a:off x="0" y="-66675"/>
              <a:ext cx="975360" cy="1956435"/>
            </a:xfrm>
            <a:prstGeom prst="rect">
              <a:avLst/>
            </a:prstGeom>
          </p:spPr>
          <p:txBody>
            <a:bodyPr anchor="ctr" rtlCol="false" tIns="0" lIns="0" bIns="0" rIns="0"/>
            <a:lstStyle/>
            <a:p>
              <a:pPr algn="ctr">
                <a:lnSpc>
                  <a:spcPts val="3359"/>
                </a:lnSpc>
              </a:pPr>
              <a:r>
                <a:rPr lang="en-US" sz="2799">
                  <a:solidFill>
                    <a:srgbClr val="000000"/>
                  </a:solidFill>
                  <a:latin typeface="Calibri (MS)"/>
                  <a:ea typeface="Calibri (MS)"/>
                  <a:cs typeface="Calibri (MS)"/>
                  <a:sym typeface="Calibri (MS)"/>
                </a:rPr>
                <a:t>🔍</a:t>
              </a:r>
            </a:p>
          </p:txBody>
        </p:sp>
      </p:grpSp>
      <p:grpSp>
        <p:nvGrpSpPr>
          <p:cNvPr name="Group 171" id="171"/>
          <p:cNvGrpSpPr/>
          <p:nvPr/>
        </p:nvGrpSpPr>
        <p:grpSpPr>
          <a:xfrm rot="0">
            <a:off x="12438085" y="20518731"/>
            <a:ext cx="1877961" cy="1419922"/>
            <a:chOff x="0" y="0"/>
            <a:chExt cx="2499360" cy="1889760"/>
          </a:xfrm>
        </p:grpSpPr>
        <p:sp>
          <p:nvSpPr>
            <p:cNvPr name="Freeform 172" id="172"/>
            <p:cNvSpPr/>
            <p:nvPr/>
          </p:nvSpPr>
          <p:spPr>
            <a:xfrm flipH="false" flipV="false" rot="0">
              <a:off x="0" y="0"/>
              <a:ext cx="2499360" cy="1889760"/>
            </a:xfrm>
            <a:custGeom>
              <a:avLst/>
              <a:gdLst/>
              <a:ahLst/>
              <a:cxnLst/>
              <a:rect r="r" b="b" t="t" l="l"/>
              <a:pathLst>
                <a:path h="1889760" w="2499360">
                  <a:moveTo>
                    <a:pt x="0" y="0"/>
                  </a:moveTo>
                  <a:lnTo>
                    <a:pt x="2499360" y="0"/>
                  </a:lnTo>
                  <a:lnTo>
                    <a:pt x="2499360" y="1889760"/>
                  </a:lnTo>
                  <a:lnTo>
                    <a:pt x="0" y="1889760"/>
                  </a:lnTo>
                  <a:close/>
                </a:path>
              </a:pathLst>
            </a:custGeom>
            <a:blipFill>
              <a:blip r:embed="rId3">
                <a:alphaModFix amt="0"/>
              </a:blip>
              <a:stretch>
                <a:fillRect l="-47010" t="0" r="-47010" b="0"/>
              </a:stretch>
            </a:blipFill>
          </p:spPr>
        </p:sp>
        <p:sp>
          <p:nvSpPr>
            <p:cNvPr name="TextBox 173" id="173"/>
            <p:cNvSpPr txBox="true"/>
            <p:nvPr/>
          </p:nvSpPr>
          <p:spPr>
            <a:xfrm>
              <a:off x="0" y="-66675"/>
              <a:ext cx="2499360" cy="1956435"/>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Exploratory</a:t>
              </a:r>
            </a:p>
            <a:p>
              <a:pPr algn="l">
                <a:lnSpc>
                  <a:spcPts val="3359"/>
                </a:lnSpc>
              </a:pPr>
              <a:r>
                <a:rPr lang="en-US" sz="2799" b="true">
                  <a:solidFill>
                    <a:srgbClr val="FFFFFF"/>
                  </a:solidFill>
                  <a:latin typeface="Calibri (MS) Bold"/>
                  <a:ea typeface="Calibri (MS) Bold"/>
                  <a:cs typeface="Calibri (MS) Bold"/>
                  <a:sym typeface="Calibri (MS) Bold"/>
                </a:rPr>
                <a:t>Data Analysis</a:t>
              </a:r>
            </a:p>
          </p:txBody>
        </p:sp>
      </p:grpSp>
      <p:grpSp>
        <p:nvGrpSpPr>
          <p:cNvPr name="Group 174" id="174"/>
          <p:cNvGrpSpPr/>
          <p:nvPr/>
        </p:nvGrpSpPr>
        <p:grpSpPr>
          <a:xfrm rot="0">
            <a:off x="11659418" y="22350888"/>
            <a:ext cx="2748236" cy="1419922"/>
            <a:chOff x="0" y="0"/>
            <a:chExt cx="3657600" cy="1889760"/>
          </a:xfrm>
        </p:grpSpPr>
        <p:sp>
          <p:nvSpPr>
            <p:cNvPr name="Freeform 175" id="175"/>
            <p:cNvSpPr/>
            <p:nvPr/>
          </p:nvSpPr>
          <p:spPr>
            <a:xfrm flipH="false" flipV="false" rot="0">
              <a:off x="0" y="0"/>
              <a:ext cx="3657600" cy="1889760"/>
            </a:xfrm>
            <a:custGeom>
              <a:avLst/>
              <a:gdLst/>
              <a:ahLst/>
              <a:cxnLst/>
              <a:rect r="r" b="b" t="t" l="l"/>
              <a:pathLst>
                <a:path h="1889760" w="3657600">
                  <a:moveTo>
                    <a:pt x="0" y="304800"/>
                  </a:moveTo>
                  <a:cubicBezTo>
                    <a:pt x="0" y="136525"/>
                    <a:pt x="136525" y="0"/>
                    <a:pt x="304800" y="0"/>
                  </a:cubicBezTo>
                  <a:lnTo>
                    <a:pt x="3352800" y="0"/>
                  </a:lnTo>
                  <a:cubicBezTo>
                    <a:pt x="3521075" y="0"/>
                    <a:pt x="3657600" y="136525"/>
                    <a:pt x="3657600" y="304800"/>
                  </a:cubicBezTo>
                  <a:lnTo>
                    <a:pt x="3657600" y="1584960"/>
                  </a:lnTo>
                  <a:cubicBezTo>
                    <a:pt x="3657600" y="1753235"/>
                    <a:pt x="3521075" y="1889760"/>
                    <a:pt x="3352800" y="1889760"/>
                  </a:cubicBezTo>
                  <a:lnTo>
                    <a:pt x="304800" y="1889760"/>
                  </a:lnTo>
                  <a:cubicBezTo>
                    <a:pt x="136525" y="1889760"/>
                    <a:pt x="0" y="1753235"/>
                    <a:pt x="0" y="1584960"/>
                  </a:cubicBezTo>
                  <a:close/>
                </a:path>
              </a:pathLst>
            </a:custGeom>
            <a:solidFill>
              <a:srgbClr val="1D5DA6"/>
            </a:solidFill>
          </p:spPr>
        </p:sp>
      </p:grpSp>
      <p:grpSp>
        <p:nvGrpSpPr>
          <p:cNvPr name="Group 176" id="176"/>
          <p:cNvGrpSpPr/>
          <p:nvPr/>
        </p:nvGrpSpPr>
        <p:grpSpPr>
          <a:xfrm rot="0">
            <a:off x="11751026" y="22350888"/>
            <a:ext cx="732863" cy="1419922"/>
            <a:chOff x="0" y="0"/>
            <a:chExt cx="975360" cy="1889760"/>
          </a:xfrm>
        </p:grpSpPr>
        <p:sp>
          <p:nvSpPr>
            <p:cNvPr name="Freeform 177" id="177"/>
            <p:cNvSpPr/>
            <p:nvPr/>
          </p:nvSpPr>
          <p:spPr>
            <a:xfrm flipH="false" flipV="false" rot="0">
              <a:off x="0" y="0"/>
              <a:ext cx="975360" cy="1889760"/>
            </a:xfrm>
            <a:custGeom>
              <a:avLst/>
              <a:gdLst/>
              <a:ahLst/>
              <a:cxnLst/>
              <a:rect r="r" b="b" t="t" l="l"/>
              <a:pathLst>
                <a:path h="1889760" w="975360">
                  <a:moveTo>
                    <a:pt x="0" y="0"/>
                  </a:moveTo>
                  <a:lnTo>
                    <a:pt x="975360" y="0"/>
                  </a:lnTo>
                  <a:lnTo>
                    <a:pt x="975360" y="1889760"/>
                  </a:lnTo>
                  <a:lnTo>
                    <a:pt x="0" y="1889760"/>
                  </a:lnTo>
                  <a:close/>
                </a:path>
              </a:pathLst>
            </a:custGeom>
            <a:blipFill>
              <a:blip r:embed="rId3">
                <a:alphaModFix amt="0"/>
              </a:blip>
              <a:stretch>
                <a:fillRect l="-198588" t="0" r="-198588" b="0"/>
              </a:stretch>
            </a:blipFill>
          </p:spPr>
        </p:sp>
        <p:sp>
          <p:nvSpPr>
            <p:cNvPr name="TextBox 178" id="178"/>
            <p:cNvSpPr txBox="true"/>
            <p:nvPr/>
          </p:nvSpPr>
          <p:spPr>
            <a:xfrm>
              <a:off x="0" y="-66675"/>
              <a:ext cx="975360" cy="1956435"/>
            </a:xfrm>
            <a:prstGeom prst="rect">
              <a:avLst/>
            </a:prstGeom>
          </p:spPr>
          <p:txBody>
            <a:bodyPr anchor="ctr" rtlCol="false" tIns="0" lIns="0" bIns="0" rIns="0"/>
            <a:lstStyle/>
            <a:p>
              <a:pPr algn="ctr">
                <a:lnSpc>
                  <a:spcPts val="3359"/>
                </a:lnSpc>
              </a:pPr>
              <a:r>
                <a:rPr lang="en-US" sz="2799">
                  <a:solidFill>
                    <a:srgbClr val="000000"/>
                  </a:solidFill>
                  <a:latin typeface="Calibri (MS)"/>
                  <a:ea typeface="Calibri (MS)"/>
                  <a:cs typeface="Calibri (MS)"/>
                  <a:sym typeface="Calibri (MS)"/>
                </a:rPr>
                <a:t>🔢</a:t>
              </a:r>
            </a:p>
          </p:txBody>
        </p:sp>
      </p:grpSp>
      <p:grpSp>
        <p:nvGrpSpPr>
          <p:cNvPr name="Group 179" id="179"/>
          <p:cNvGrpSpPr/>
          <p:nvPr/>
        </p:nvGrpSpPr>
        <p:grpSpPr>
          <a:xfrm rot="0">
            <a:off x="12438085" y="22350888"/>
            <a:ext cx="1877961" cy="1419922"/>
            <a:chOff x="0" y="0"/>
            <a:chExt cx="2499360" cy="1889760"/>
          </a:xfrm>
        </p:grpSpPr>
        <p:sp>
          <p:nvSpPr>
            <p:cNvPr name="Freeform 180" id="180"/>
            <p:cNvSpPr/>
            <p:nvPr/>
          </p:nvSpPr>
          <p:spPr>
            <a:xfrm flipH="false" flipV="false" rot="0">
              <a:off x="0" y="0"/>
              <a:ext cx="2499360" cy="1889760"/>
            </a:xfrm>
            <a:custGeom>
              <a:avLst/>
              <a:gdLst/>
              <a:ahLst/>
              <a:cxnLst/>
              <a:rect r="r" b="b" t="t" l="l"/>
              <a:pathLst>
                <a:path h="1889760" w="2499360">
                  <a:moveTo>
                    <a:pt x="0" y="0"/>
                  </a:moveTo>
                  <a:lnTo>
                    <a:pt x="2499360" y="0"/>
                  </a:lnTo>
                  <a:lnTo>
                    <a:pt x="2499360" y="1889760"/>
                  </a:lnTo>
                  <a:lnTo>
                    <a:pt x="0" y="1889760"/>
                  </a:lnTo>
                  <a:close/>
                </a:path>
              </a:pathLst>
            </a:custGeom>
            <a:blipFill>
              <a:blip r:embed="rId3">
                <a:alphaModFix amt="0"/>
              </a:blip>
              <a:stretch>
                <a:fillRect l="-47010" t="0" r="-47010" b="0"/>
              </a:stretch>
            </a:blipFill>
          </p:spPr>
        </p:sp>
        <p:sp>
          <p:nvSpPr>
            <p:cNvPr name="TextBox 181" id="181"/>
            <p:cNvSpPr txBox="true"/>
            <p:nvPr/>
          </p:nvSpPr>
          <p:spPr>
            <a:xfrm>
              <a:off x="0" y="-66675"/>
              <a:ext cx="2499360" cy="1956435"/>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Statistical</a:t>
              </a:r>
            </a:p>
            <a:p>
              <a:pPr algn="l">
                <a:lnSpc>
                  <a:spcPts val="3359"/>
                </a:lnSpc>
              </a:pPr>
              <a:r>
                <a:rPr lang="en-US" sz="2799" b="true">
                  <a:solidFill>
                    <a:srgbClr val="FFFFFF"/>
                  </a:solidFill>
                  <a:latin typeface="Calibri (MS) Bold"/>
                  <a:ea typeface="Calibri (MS) Bold"/>
                  <a:cs typeface="Calibri (MS) Bold"/>
                  <a:sym typeface="Calibri (MS) Bold"/>
                </a:rPr>
                <a:t>Analysis</a:t>
              </a:r>
            </a:p>
          </p:txBody>
        </p:sp>
      </p:grpSp>
      <p:grpSp>
        <p:nvGrpSpPr>
          <p:cNvPr name="Group 182" id="182"/>
          <p:cNvGrpSpPr/>
          <p:nvPr/>
        </p:nvGrpSpPr>
        <p:grpSpPr>
          <a:xfrm rot="0">
            <a:off x="18163576" y="22350888"/>
            <a:ext cx="2748236" cy="1419922"/>
            <a:chOff x="0" y="0"/>
            <a:chExt cx="3657600" cy="1889760"/>
          </a:xfrm>
        </p:grpSpPr>
        <p:sp>
          <p:nvSpPr>
            <p:cNvPr name="Freeform 183" id="183"/>
            <p:cNvSpPr/>
            <p:nvPr/>
          </p:nvSpPr>
          <p:spPr>
            <a:xfrm flipH="false" flipV="false" rot="0">
              <a:off x="0" y="0"/>
              <a:ext cx="3657600" cy="1889760"/>
            </a:xfrm>
            <a:custGeom>
              <a:avLst/>
              <a:gdLst/>
              <a:ahLst/>
              <a:cxnLst/>
              <a:rect r="r" b="b" t="t" l="l"/>
              <a:pathLst>
                <a:path h="1889760" w="3657600">
                  <a:moveTo>
                    <a:pt x="0" y="304800"/>
                  </a:moveTo>
                  <a:cubicBezTo>
                    <a:pt x="0" y="136525"/>
                    <a:pt x="136525" y="0"/>
                    <a:pt x="304800" y="0"/>
                  </a:cubicBezTo>
                  <a:lnTo>
                    <a:pt x="3352800" y="0"/>
                  </a:lnTo>
                  <a:cubicBezTo>
                    <a:pt x="3521075" y="0"/>
                    <a:pt x="3657600" y="136525"/>
                    <a:pt x="3657600" y="304800"/>
                  </a:cubicBezTo>
                  <a:lnTo>
                    <a:pt x="3657600" y="1584960"/>
                  </a:lnTo>
                  <a:cubicBezTo>
                    <a:pt x="3657600" y="1753235"/>
                    <a:pt x="3521075" y="1889760"/>
                    <a:pt x="3352800" y="1889760"/>
                  </a:cubicBezTo>
                  <a:lnTo>
                    <a:pt x="304800" y="1889760"/>
                  </a:lnTo>
                  <a:cubicBezTo>
                    <a:pt x="136525" y="1889760"/>
                    <a:pt x="0" y="1753235"/>
                    <a:pt x="0" y="1584960"/>
                  </a:cubicBezTo>
                  <a:close/>
                </a:path>
              </a:pathLst>
            </a:custGeom>
            <a:solidFill>
              <a:srgbClr val="C2266E"/>
            </a:solidFill>
          </p:spPr>
        </p:sp>
      </p:grpSp>
      <p:grpSp>
        <p:nvGrpSpPr>
          <p:cNvPr name="Group 184" id="184"/>
          <p:cNvGrpSpPr/>
          <p:nvPr/>
        </p:nvGrpSpPr>
        <p:grpSpPr>
          <a:xfrm rot="0">
            <a:off x="18255184" y="22350888"/>
            <a:ext cx="732863" cy="1419922"/>
            <a:chOff x="0" y="0"/>
            <a:chExt cx="975360" cy="1889760"/>
          </a:xfrm>
        </p:grpSpPr>
        <p:sp>
          <p:nvSpPr>
            <p:cNvPr name="Freeform 185" id="185"/>
            <p:cNvSpPr/>
            <p:nvPr/>
          </p:nvSpPr>
          <p:spPr>
            <a:xfrm flipH="false" flipV="false" rot="0">
              <a:off x="0" y="0"/>
              <a:ext cx="975360" cy="1889760"/>
            </a:xfrm>
            <a:custGeom>
              <a:avLst/>
              <a:gdLst/>
              <a:ahLst/>
              <a:cxnLst/>
              <a:rect r="r" b="b" t="t" l="l"/>
              <a:pathLst>
                <a:path h="1889760" w="975360">
                  <a:moveTo>
                    <a:pt x="0" y="0"/>
                  </a:moveTo>
                  <a:lnTo>
                    <a:pt x="975360" y="0"/>
                  </a:lnTo>
                  <a:lnTo>
                    <a:pt x="975360" y="1889760"/>
                  </a:lnTo>
                  <a:lnTo>
                    <a:pt x="0" y="1889760"/>
                  </a:lnTo>
                  <a:close/>
                </a:path>
              </a:pathLst>
            </a:custGeom>
            <a:blipFill>
              <a:blip r:embed="rId3">
                <a:alphaModFix amt="0"/>
              </a:blip>
              <a:stretch>
                <a:fillRect l="-198588" t="0" r="-198588" b="0"/>
              </a:stretch>
            </a:blipFill>
          </p:spPr>
        </p:sp>
        <p:sp>
          <p:nvSpPr>
            <p:cNvPr name="TextBox 186" id="186"/>
            <p:cNvSpPr txBox="true"/>
            <p:nvPr/>
          </p:nvSpPr>
          <p:spPr>
            <a:xfrm>
              <a:off x="0" y="-66675"/>
              <a:ext cx="975360" cy="1956435"/>
            </a:xfrm>
            <a:prstGeom prst="rect">
              <a:avLst/>
            </a:prstGeom>
          </p:spPr>
          <p:txBody>
            <a:bodyPr anchor="ctr" rtlCol="false" tIns="0" lIns="0" bIns="0" rIns="0"/>
            <a:lstStyle/>
            <a:p>
              <a:pPr algn="ctr">
                <a:lnSpc>
                  <a:spcPts val="3359"/>
                </a:lnSpc>
              </a:pPr>
              <a:r>
                <a:rPr lang="en-US" sz="2799">
                  <a:solidFill>
                    <a:srgbClr val="000000"/>
                  </a:solidFill>
                  <a:latin typeface="Calibri (MS)"/>
                  <a:ea typeface="Calibri (MS)"/>
                  <a:cs typeface="Calibri (MS)"/>
                  <a:sym typeface="Calibri (MS)"/>
                </a:rPr>
                <a:t>📊</a:t>
              </a:r>
            </a:p>
          </p:txBody>
        </p:sp>
      </p:grpSp>
      <p:grpSp>
        <p:nvGrpSpPr>
          <p:cNvPr name="Group 187" id="187"/>
          <p:cNvGrpSpPr/>
          <p:nvPr/>
        </p:nvGrpSpPr>
        <p:grpSpPr>
          <a:xfrm rot="0">
            <a:off x="18942243" y="22350888"/>
            <a:ext cx="1877961" cy="1419922"/>
            <a:chOff x="0" y="0"/>
            <a:chExt cx="2499360" cy="1889760"/>
          </a:xfrm>
        </p:grpSpPr>
        <p:sp>
          <p:nvSpPr>
            <p:cNvPr name="Freeform 188" id="188"/>
            <p:cNvSpPr/>
            <p:nvPr/>
          </p:nvSpPr>
          <p:spPr>
            <a:xfrm flipH="false" flipV="false" rot="0">
              <a:off x="0" y="0"/>
              <a:ext cx="2499360" cy="1889760"/>
            </a:xfrm>
            <a:custGeom>
              <a:avLst/>
              <a:gdLst/>
              <a:ahLst/>
              <a:cxnLst/>
              <a:rect r="r" b="b" t="t" l="l"/>
              <a:pathLst>
                <a:path h="1889760" w="2499360">
                  <a:moveTo>
                    <a:pt x="0" y="0"/>
                  </a:moveTo>
                  <a:lnTo>
                    <a:pt x="2499360" y="0"/>
                  </a:lnTo>
                  <a:lnTo>
                    <a:pt x="2499360" y="1889760"/>
                  </a:lnTo>
                  <a:lnTo>
                    <a:pt x="0" y="1889760"/>
                  </a:lnTo>
                  <a:close/>
                </a:path>
              </a:pathLst>
            </a:custGeom>
            <a:blipFill>
              <a:blip r:embed="rId3">
                <a:alphaModFix amt="0"/>
              </a:blip>
              <a:stretch>
                <a:fillRect l="-47010" t="0" r="-47010" b="0"/>
              </a:stretch>
            </a:blipFill>
          </p:spPr>
        </p:sp>
        <p:sp>
          <p:nvSpPr>
            <p:cNvPr name="TextBox 189" id="189"/>
            <p:cNvSpPr txBox="true"/>
            <p:nvPr/>
          </p:nvSpPr>
          <p:spPr>
            <a:xfrm>
              <a:off x="0" y="-66675"/>
              <a:ext cx="2499360" cy="1956435"/>
            </a:xfrm>
            <a:prstGeom prst="rect">
              <a:avLst/>
            </a:prstGeom>
          </p:spPr>
          <p:txBody>
            <a:bodyPr anchor="ctr" rtlCol="false" tIns="0" lIns="0" bIns="0" rIns="0"/>
            <a:lstStyle/>
            <a:p>
              <a:pPr algn="l">
                <a:lnSpc>
                  <a:spcPts val="3359"/>
                </a:lnSpc>
              </a:pPr>
              <a:r>
                <a:rPr lang="en-US" sz="2799" b="true">
                  <a:solidFill>
                    <a:srgbClr val="FFFFFF"/>
                  </a:solidFill>
                  <a:latin typeface="Calibri (MS) Bold"/>
                  <a:ea typeface="Calibri (MS) Bold"/>
                  <a:cs typeface="Calibri (MS) Bold"/>
                  <a:sym typeface="Calibri (MS) Bold"/>
                </a:rPr>
                <a:t>Data</a:t>
              </a:r>
            </a:p>
            <a:p>
              <a:pPr algn="l">
                <a:lnSpc>
                  <a:spcPts val="3359"/>
                </a:lnSpc>
              </a:pPr>
              <a:r>
                <a:rPr lang="en-US" sz="2799" b="true">
                  <a:solidFill>
                    <a:srgbClr val="FFFFFF"/>
                  </a:solidFill>
                  <a:latin typeface="Calibri (MS) Bold"/>
                  <a:ea typeface="Calibri (MS) Bold"/>
                  <a:cs typeface="Calibri (MS) Bold"/>
                  <a:sym typeface="Calibri (MS) Bold"/>
                </a:rPr>
                <a:t>Visualization</a:t>
              </a:r>
            </a:p>
          </p:txBody>
        </p:sp>
      </p:grpSp>
      <p:sp>
        <p:nvSpPr>
          <p:cNvPr name="AutoShape 190" id="190"/>
          <p:cNvSpPr/>
          <p:nvPr/>
        </p:nvSpPr>
        <p:spPr>
          <a:xfrm>
            <a:off x="14393337" y="19382234"/>
            <a:ext cx="3784547" cy="28601"/>
          </a:xfrm>
          <a:prstGeom prst="line">
            <a:avLst/>
          </a:prstGeom>
          <a:ln cap="rnd" w="419100">
            <a:solidFill>
              <a:srgbClr val="B9A9D6"/>
            </a:solidFill>
            <a:prstDash val="solid"/>
            <a:headEnd type="none" len="sm" w="sm"/>
            <a:tailEnd type="none" len="sm" w="sm"/>
          </a:ln>
        </p:spPr>
      </p:sp>
      <p:sp>
        <p:nvSpPr>
          <p:cNvPr name="AutoShape 191" id="191"/>
          <p:cNvSpPr/>
          <p:nvPr/>
        </p:nvSpPr>
        <p:spPr>
          <a:xfrm>
            <a:off x="19523376" y="20160889"/>
            <a:ext cx="28627" cy="326350"/>
          </a:xfrm>
          <a:prstGeom prst="line">
            <a:avLst/>
          </a:prstGeom>
          <a:ln cap="rnd" w="419100">
            <a:solidFill>
              <a:srgbClr val="B9A9D6"/>
            </a:solidFill>
            <a:prstDash val="solid"/>
            <a:headEnd type="none" len="sm" w="sm"/>
            <a:tailEnd type="none" len="sm" w="sm"/>
          </a:ln>
        </p:spPr>
      </p:sp>
      <p:sp>
        <p:nvSpPr>
          <p:cNvPr name="AutoShape 192" id="192"/>
          <p:cNvSpPr/>
          <p:nvPr/>
        </p:nvSpPr>
        <p:spPr>
          <a:xfrm>
            <a:off x="14393337" y="21214391"/>
            <a:ext cx="3784547" cy="28601"/>
          </a:xfrm>
          <a:prstGeom prst="line">
            <a:avLst/>
          </a:prstGeom>
          <a:ln cap="rnd" w="419100">
            <a:solidFill>
              <a:srgbClr val="B9A9D6"/>
            </a:solidFill>
            <a:prstDash val="solid"/>
            <a:headEnd type="none" len="sm" w="sm"/>
            <a:tailEnd type="none" len="sm" w="sm"/>
          </a:ln>
        </p:spPr>
      </p:sp>
      <p:sp>
        <p:nvSpPr>
          <p:cNvPr name="AutoShape 193" id="193"/>
          <p:cNvSpPr/>
          <p:nvPr/>
        </p:nvSpPr>
        <p:spPr>
          <a:xfrm>
            <a:off x="13019226" y="21874778"/>
            <a:ext cx="28630" cy="490422"/>
          </a:xfrm>
          <a:prstGeom prst="line">
            <a:avLst/>
          </a:prstGeom>
          <a:ln cap="rnd" w="419100">
            <a:solidFill>
              <a:srgbClr val="B9A9D6"/>
            </a:solidFill>
            <a:prstDash val="solid"/>
            <a:headEnd type="none" len="sm" w="sm"/>
            <a:tailEnd type="none" len="sm" w="sm"/>
          </a:ln>
        </p:spPr>
      </p:sp>
      <p:sp>
        <p:nvSpPr>
          <p:cNvPr name="AutoShape 194" id="194"/>
          <p:cNvSpPr/>
          <p:nvPr/>
        </p:nvSpPr>
        <p:spPr>
          <a:xfrm>
            <a:off x="14393337" y="23046549"/>
            <a:ext cx="3784547" cy="28601"/>
          </a:xfrm>
          <a:prstGeom prst="line">
            <a:avLst/>
          </a:prstGeom>
          <a:ln cap="rnd" w="419100">
            <a:solidFill>
              <a:srgbClr val="B9A9D6"/>
            </a:solidFill>
            <a:prstDash val="solid"/>
            <a:headEnd type="none" len="sm" w="sm"/>
            <a:tailEnd type="none" len="sm" w="sm"/>
          </a:ln>
        </p:spPr>
      </p:sp>
      <p:grpSp>
        <p:nvGrpSpPr>
          <p:cNvPr name="Group 195" id="195"/>
          <p:cNvGrpSpPr/>
          <p:nvPr/>
        </p:nvGrpSpPr>
        <p:grpSpPr>
          <a:xfrm rot="0">
            <a:off x="21762720" y="3657600"/>
            <a:ext cx="566928" cy="566928"/>
            <a:chOff x="0" y="0"/>
            <a:chExt cx="755904" cy="755904"/>
          </a:xfrm>
        </p:grpSpPr>
        <p:sp>
          <p:nvSpPr>
            <p:cNvPr name="Freeform 196" id="196"/>
            <p:cNvSpPr/>
            <p:nvPr/>
          </p:nvSpPr>
          <p:spPr>
            <a:xfrm flipH="false" flipV="false" rot="0">
              <a:off x="0" y="0"/>
              <a:ext cx="755904" cy="755904"/>
            </a:xfrm>
            <a:custGeom>
              <a:avLst/>
              <a:gdLst/>
              <a:ahLst/>
              <a:cxnLst/>
              <a:rect r="r" b="b" t="t" l="l"/>
              <a:pathLst>
                <a:path h="755904" w="755904">
                  <a:moveTo>
                    <a:pt x="0" y="377952"/>
                  </a:moveTo>
                  <a:cubicBezTo>
                    <a:pt x="0" y="169164"/>
                    <a:pt x="169164" y="0"/>
                    <a:pt x="377952" y="0"/>
                  </a:cubicBezTo>
                  <a:cubicBezTo>
                    <a:pt x="586740" y="0"/>
                    <a:pt x="755904" y="169164"/>
                    <a:pt x="755904" y="377952"/>
                  </a:cubicBezTo>
                  <a:cubicBezTo>
                    <a:pt x="755904" y="586740"/>
                    <a:pt x="586740" y="755904"/>
                    <a:pt x="377952" y="755904"/>
                  </a:cubicBezTo>
                  <a:cubicBezTo>
                    <a:pt x="169164" y="755904"/>
                    <a:pt x="0" y="586740"/>
                    <a:pt x="0" y="377952"/>
                  </a:cubicBezTo>
                  <a:close/>
                </a:path>
              </a:pathLst>
            </a:custGeom>
            <a:solidFill>
              <a:srgbClr val="C2266E"/>
            </a:solidFill>
          </p:spPr>
        </p:sp>
      </p:grpSp>
      <p:grpSp>
        <p:nvGrpSpPr>
          <p:cNvPr name="Group 197" id="197"/>
          <p:cNvGrpSpPr/>
          <p:nvPr/>
        </p:nvGrpSpPr>
        <p:grpSpPr>
          <a:xfrm rot="0">
            <a:off x="21762720" y="3657600"/>
            <a:ext cx="566928" cy="566928"/>
            <a:chOff x="0" y="0"/>
            <a:chExt cx="755904" cy="755904"/>
          </a:xfrm>
        </p:grpSpPr>
        <p:sp>
          <p:nvSpPr>
            <p:cNvPr name="Freeform 198" id="198"/>
            <p:cNvSpPr/>
            <p:nvPr/>
          </p:nvSpPr>
          <p:spPr>
            <a:xfrm flipH="false" flipV="false" rot="0">
              <a:off x="0" y="0"/>
              <a:ext cx="755904" cy="755904"/>
            </a:xfrm>
            <a:custGeom>
              <a:avLst/>
              <a:gdLst/>
              <a:ahLst/>
              <a:cxnLst/>
              <a:rect r="r" b="b" t="t" l="l"/>
              <a:pathLst>
                <a:path h="755904" w="755904">
                  <a:moveTo>
                    <a:pt x="0" y="0"/>
                  </a:moveTo>
                  <a:lnTo>
                    <a:pt x="755904" y="0"/>
                  </a:lnTo>
                  <a:lnTo>
                    <a:pt x="755904" y="755904"/>
                  </a:lnTo>
                  <a:lnTo>
                    <a:pt x="0" y="755904"/>
                  </a:lnTo>
                  <a:close/>
                </a:path>
              </a:pathLst>
            </a:custGeom>
            <a:blipFill>
              <a:blip r:embed="rId3">
                <a:alphaModFix amt="0"/>
              </a:blip>
              <a:stretch>
                <a:fillRect l="-78303" t="0" r="-78303" b="0"/>
              </a:stretch>
            </a:blipFill>
          </p:spPr>
        </p:sp>
        <p:sp>
          <p:nvSpPr>
            <p:cNvPr name="TextBox 199" id="199"/>
            <p:cNvSpPr txBox="true"/>
            <p:nvPr/>
          </p:nvSpPr>
          <p:spPr>
            <a:xfrm>
              <a:off x="0" y="-66675"/>
              <a:ext cx="755904" cy="822579"/>
            </a:xfrm>
            <a:prstGeom prst="rect">
              <a:avLst/>
            </a:prstGeom>
          </p:spPr>
          <p:txBody>
            <a:bodyPr anchor="ctr" rtlCol="false" tIns="0" lIns="0" bIns="0" rIns="0"/>
            <a:lstStyle/>
            <a:p>
              <a:pPr algn="ctr">
                <a:lnSpc>
                  <a:spcPts val="3359"/>
                </a:lnSpc>
              </a:pPr>
              <a:r>
                <a:rPr lang="en-US" sz="2799">
                  <a:solidFill>
                    <a:srgbClr val="FFFFFF"/>
                  </a:solidFill>
                  <a:latin typeface="Calibri (MS)"/>
                  <a:ea typeface="Calibri (MS)"/>
                  <a:cs typeface="Calibri (MS)"/>
                  <a:sym typeface="Calibri (MS)"/>
                </a:rPr>
                <a:t>📈</a:t>
              </a:r>
            </a:p>
          </p:txBody>
        </p:sp>
      </p:grpSp>
      <p:grpSp>
        <p:nvGrpSpPr>
          <p:cNvPr name="Group 200" id="200"/>
          <p:cNvGrpSpPr/>
          <p:nvPr/>
        </p:nvGrpSpPr>
        <p:grpSpPr>
          <a:xfrm rot="0">
            <a:off x="22274784" y="2550031"/>
            <a:ext cx="20848320" cy="2782065"/>
            <a:chOff x="0" y="0"/>
            <a:chExt cx="27797760" cy="3709420"/>
          </a:xfrm>
        </p:grpSpPr>
        <p:sp>
          <p:nvSpPr>
            <p:cNvPr name="Freeform 201" id="201"/>
            <p:cNvSpPr/>
            <p:nvPr/>
          </p:nvSpPr>
          <p:spPr>
            <a:xfrm flipH="false" flipV="false" rot="0">
              <a:off x="0" y="0"/>
              <a:ext cx="27797761" cy="3709420"/>
            </a:xfrm>
            <a:custGeom>
              <a:avLst/>
              <a:gdLst/>
              <a:ahLst/>
              <a:cxnLst/>
              <a:rect r="r" b="b" t="t" l="l"/>
              <a:pathLst>
                <a:path h="3709420" w="27797761">
                  <a:moveTo>
                    <a:pt x="0" y="0"/>
                  </a:moveTo>
                  <a:lnTo>
                    <a:pt x="27797761" y="0"/>
                  </a:lnTo>
                  <a:lnTo>
                    <a:pt x="27797761" y="3709420"/>
                  </a:lnTo>
                  <a:lnTo>
                    <a:pt x="0" y="3709420"/>
                  </a:lnTo>
                  <a:close/>
                </a:path>
              </a:pathLst>
            </a:custGeom>
            <a:blipFill>
              <a:blip r:embed="rId3">
                <a:alphaModFix amt="0"/>
              </a:blip>
              <a:stretch>
                <a:fillRect l="0" t="-134842" r="0" b="-57192"/>
              </a:stretch>
            </a:blipFill>
          </p:spPr>
        </p:sp>
        <p:sp>
          <p:nvSpPr>
            <p:cNvPr name="TextBox 202" id="202"/>
            <p:cNvSpPr txBox="true"/>
            <p:nvPr/>
          </p:nvSpPr>
          <p:spPr>
            <a:xfrm>
              <a:off x="0" y="0"/>
              <a:ext cx="27797760" cy="3709420"/>
            </a:xfrm>
            <a:prstGeom prst="rect">
              <a:avLst/>
            </a:prstGeom>
          </p:spPr>
          <p:txBody>
            <a:bodyPr anchor="ctr" rtlCol="false" tIns="0" lIns="0" bIns="0" rIns="0"/>
            <a:lstStyle/>
            <a:p>
              <a:pPr algn="ctr">
                <a:lnSpc>
                  <a:spcPts val="4559"/>
                </a:lnSpc>
              </a:pPr>
              <a:r>
                <a:rPr lang="en-US" sz="3799" b="true">
                  <a:solidFill>
                    <a:srgbClr val="1B2A4A"/>
                  </a:solidFill>
                  <a:latin typeface="Cambria Bold"/>
                  <a:ea typeface="Cambria Bold"/>
                  <a:cs typeface="Cambria Bold"/>
                  <a:sym typeface="Cambria Bold"/>
                </a:rPr>
                <a:t>Results &amp; Visualizations</a:t>
              </a:r>
            </a:p>
          </p:txBody>
        </p:sp>
      </p:grpSp>
      <p:grpSp>
        <p:nvGrpSpPr>
          <p:cNvPr name="Group 203" id="203"/>
          <p:cNvGrpSpPr/>
          <p:nvPr/>
        </p:nvGrpSpPr>
        <p:grpSpPr>
          <a:xfrm rot="0">
            <a:off x="21762720" y="4480560"/>
            <a:ext cx="3429000" cy="2286000"/>
            <a:chOff x="0" y="0"/>
            <a:chExt cx="4572000" cy="3048000"/>
          </a:xfrm>
        </p:grpSpPr>
        <p:sp>
          <p:nvSpPr>
            <p:cNvPr name="Freeform 204" id="204"/>
            <p:cNvSpPr/>
            <p:nvPr/>
          </p:nvSpPr>
          <p:spPr>
            <a:xfrm flipH="false" flipV="false" rot="0">
              <a:off x="0" y="0"/>
              <a:ext cx="4572000" cy="3048000"/>
            </a:xfrm>
            <a:custGeom>
              <a:avLst/>
              <a:gdLst/>
              <a:ahLst/>
              <a:cxnLst/>
              <a:rect r="r" b="b" t="t" l="l"/>
              <a:pathLst>
                <a:path h="3048000" w="4572000">
                  <a:moveTo>
                    <a:pt x="0" y="97536"/>
                  </a:moveTo>
                  <a:cubicBezTo>
                    <a:pt x="0" y="43688"/>
                    <a:pt x="43688" y="0"/>
                    <a:pt x="97536" y="0"/>
                  </a:cubicBezTo>
                  <a:lnTo>
                    <a:pt x="4474464" y="0"/>
                  </a:lnTo>
                  <a:cubicBezTo>
                    <a:pt x="4528312" y="0"/>
                    <a:pt x="4572000" y="43688"/>
                    <a:pt x="4572000" y="97536"/>
                  </a:cubicBezTo>
                  <a:lnTo>
                    <a:pt x="4572000" y="2950464"/>
                  </a:lnTo>
                  <a:cubicBezTo>
                    <a:pt x="4572000" y="3004312"/>
                    <a:pt x="4528312" y="3048000"/>
                    <a:pt x="4474464" y="3048000"/>
                  </a:cubicBezTo>
                  <a:lnTo>
                    <a:pt x="97536" y="3048000"/>
                  </a:lnTo>
                  <a:cubicBezTo>
                    <a:pt x="43688" y="3048000"/>
                    <a:pt x="0" y="3004312"/>
                    <a:pt x="0" y="2950464"/>
                  </a:cubicBezTo>
                  <a:close/>
                </a:path>
              </a:pathLst>
            </a:custGeom>
            <a:solidFill>
              <a:srgbClr val="121D33"/>
            </a:solidFill>
          </p:spPr>
        </p:sp>
      </p:grpSp>
      <p:grpSp>
        <p:nvGrpSpPr>
          <p:cNvPr name="Group 205" id="205"/>
          <p:cNvGrpSpPr/>
          <p:nvPr/>
        </p:nvGrpSpPr>
        <p:grpSpPr>
          <a:xfrm rot="0">
            <a:off x="21762720" y="4480560"/>
            <a:ext cx="3429000" cy="118872"/>
            <a:chOff x="0" y="0"/>
            <a:chExt cx="4572000" cy="158496"/>
          </a:xfrm>
        </p:grpSpPr>
        <p:sp>
          <p:nvSpPr>
            <p:cNvPr name="Freeform 206" id="206"/>
            <p:cNvSpPr/>
            <p:nvPr/>
          </p:nvSpPr>
          <p:spPr>
            <a:xfrm flipH="false" flipV="false" rot="0">
              <a:off x="0" y="0"/>
              <a:ext cx="4572000" cy="158496"/>
            </a:xfrm>
            <a:custGeom>
              <a:avLst/>
              <a:gdLst/>
              <a:ahLst/>
              <a:cxnLst/>
              <a:rect r="r" b="b" t="t" l="l"/>
              <a:pathLst>
                <a:path h="158496" w="4572000">
                  <a:moveTo>
                    <a:pt x="0" y="0"/>
                  </a:moveTo>
                  <a:lnTo>
                    <a:pt x="4572000" y="0"/>
                  </a:lnTo>
                  <a:lnTo>
                    <a:pt x="4572000" y="158496"/>
                  </a:lnTo>
                  <a:lnTo>
                    <a:pt x="0" y="158496"/>
                  </a:lnTo>
                  <a:close/>
                </a:path>
              </a:pathLst>
            </a:custGeom>
            <a:solidFill>
              <a:srgbClr val="0E7C7B"/>
            </a:solidFill>
          </p:spPr>
        </p:sp>
      </p:grpSp>
      <p:grpSp>
        <p:nvGrpSpPr>
          <p:cNvPr name="Group 207" id="207"/>
          <p:cNvGrpSpPr/>
          <p:nvPr/>
        </p:nvGrpSpPr>
        <p:grpSpPr>
          <a:xfrm rot="0">
            <a:off x="21854160" y="4013762"/>
            <a:ext cx="3337560" cy="2047948"/>
            <a:chOff x="0" y="0"/>
            <a:chExt cx="4450080" cy="2730597"/>
          </a:xfrm>
        </p:grpSpPr>
        <p:sp>
          <p:nvSpPr>
            <p:cNvPr name="Freeform 208" id="208"/>
            <p:cNvSpPr/>
            <p:nvPr/>
          </p:nvSpPr>
          <p:spPr>
            <a:xfrm flipH="false" flipV="false" rot="0">
              <a:off x="0" y="0"/>
              <a:ext cx="4450080" cy="2730597"/>
            </a:xfrm>
            <a:custGeom>
              <a:avLst/>
              <a:gdLst/>
              <a:ahLst/>
              <a:cxnLst/>
              <a:rect r="r" b="b" t="t" l="l"/>
              <a:pathLst>
                <a:path h="2730597" w="4450080">
                  <a:moveTo>
                    <a:pt x="0" y="0"/>
                  </a:moveTo>
                  <a:lnTo>
                    <a:pt x="4450080" y="0"/>
                  </a:lnTo>
                  <a:lnTo>
                    <a:pt x="4450080" y="2730597"/>
                  </a:lnTo>
                  <a:lnTo>
                    <a:pt x="0" y="2730597"/>
                  </a:lnTo>
                  <a:close/>
                </a:path>
              </a:pathLst>
            </a:custGeom>
            <a:blipFill>
              <a:blip r:embed="rId3">
                <a:alphaModFix amt="0"/>
              </a:blip>
              <a:stretch>
                <a:fillRect l="0" t="-7197" r="0" b="43687"/>
              </a:stretch>
            </a:blipFill>
          </p:spPr>
        </p:sp>
        <p:sp>
          <p:nvSpPr>
            <p:cNvPr name="TextBox 209" id="209"/>
            <p:cNvSpPr txBox="true"/>
            <p:nvPr/>
          </p:nvSpPr>
          <p:spPr>
            <a:xfrm>
              <a:off x="0" y="-9525"/>
              <a:ext cx="4450080" cy="2740122"/>
            </a:xfrm>
            <a:prstGeom prst="rect">
              <a:avLst/>
            </a:prstGeom>
          </p:spPr>
          <p:txBody>
            <a:bodyPr anchor="b" rtlCol="false" tIns="0" lIns="0" bIns="0" rIns="0"/>
            <a:lstStyle/>
            <a:p>
              <a:pPr algn="ctr">
                <a:lnSpc>
                  <a:spcPts val="3359"/>
                </a:lnSpc>
              </a:pPr>
              <a:r>
                <a:rPr lang="en-US" sz="2799" b="true">
                  <a:solidFill>
                    <a:srgbClr val="FFFFFF"/>
                  </a:solidFill>
                  <a:latin typeface="Cambria Bold"/>
                  <a:ea typeface="Cambria Bold"/>
                  <a:cs typeface="Cambria Bold"/>
                  <a:sym typeface="Cambria Bold"/>
                </a:rPr>
                <a:t>₹82,289</a:t>
              </a:r>
            </a:p>
          </p:txBody>
        </p:sp>
      </p:grpSp>
      <p:sp>
        <p:nvSpPr>
          <p:cNvPr name="TextBox 210" id="210"/>
          <p:cNvSpPr txBox="true"/>
          <p:nvPr/>
        </p:nvSpPr>
        <p:spPr>
          <a:xfrm rot="0">
            <a:off x="21808440" y="5785485"/>
            <a:ext cx="3337560" cy="485775"/>
          </a:xfrm>
          <a:prstGeom prst="rect">
            <a:avLst/>
          </a:prstGeom>
        </p:spPr>
        <p:txBody>
          <a:bodyPr anchor="t" rtlCol="false" tIns="0" lIns="0" bIns="0" rIns="0">
            <a:spAutoFit/>
          </a:bodyPr>
          <a:lstStyle/>
          <a:p>
            <a:pPr algn="ctr">
              <a:lnSpc>
                <a:spcPts val="3359"/>
              </a:lnSpc>
            </a:pPr>
            <a:r>
              <a:rPr lang="en-US" sz="2799" spc="254">
                <a:solidFill>
                  <a:srgbClr val="C9D2E3"/>
                </a:solidFill>
                <a:latin typeface="Calibri (MS)"/>
                <a:ea typeface="Calibri (MS)"/>
                <a:cs typeface="Calibri (MS)"/>
                <a:sym typeface="Calibri (MS)"/>
              </a:rPr>
              <a:t>Mean</a:t>
            </a:r>
          </a:p>
        </p:txBody>
      </p:sp>
      <p:grpSp>
        <p:nvGrpSpPr>
          <p:cNvPr name="Group 211" id="211"/>
          <p:cNvGrpSpPr/>
          <p:nvPr/>
        </p:nvGrpSpPr>
        <p:grpSpPr>
          <a:xfrm rot="0">
            <a:off x="25392888" y="4480560"/>
            <a:ext cx="3429000" cy="2286000"/>
            <a:chOff x="0" y="0"/>
            <a:chExt cx="4572000" cy="3048000"/>
          </a:xfrm>
        </p:grpSpPr>
        <p:sp>
          <p:nvSpPr>
            <p:cNvPr name="Freeform 212" id="212"/>
            <p:cNvSpPr/>
            <p:nvPr/>
          </p:nvSpPr>
          <p:spPr>
            <a:xfrm flipH="false" flipV="false" rot="0">
              <a:off x="0" y="0"/>
              <a:ext cx="4572000" cy="3048000"/>
            </a:xfrm>
            <a:custGeom>
              <a:avLst/>
              <a:gdLst/>
              <a:ahLst/>
              <a:cxnLst/>
              <a:rect r="r" b="b" t="t" l="l"/>
              <a:pathLst>
                <a:path h="3048000" w="4572000">
                  <a:moveTo>
                    <a:pt x="0" y="97536"/>
                  </a:moveTo>
                  <a:cubicBezTo>
                    <a:pt x="0" y="43688"/>
                    <a:pt x="43688" y="0"/>
                    <a:pt x="97536" y="0"/>
                  </a:cubicBezTo>
                  <a:lnTo>
                    <a:pt x="4474464" y="0"/>
                  </a:lnTo>
                  <a:cubicBezTo>
                    <a:pt x="4528312" y="0"/>
                    <a:pt x="4572000" y="43688"/>
                    <a:pt x="4572000" y="97536"/>
                  </a:cubicBezTo>
                  <a:lnTo>
                    <a:pt x="4572000" y="2950464"/>
                  </a:lnTo>
                  <a:cubicBezTo>
                    <a:pt x="4572000" y="3004312"/>
                    <a:pt x="4528312" y="3048000"/>
                    <a:pt x="4474464" y="3048000"/>
                  </a:cubicBezTo>
                  <a:lnTo>
                    <a:pt x="97536" y="3048000"/>
                  </a:lnTo>
                  <a:cubicBezTo>
                    <a:pt x="43688" y="3048000"/>
                    <a:pt x="0" y="3004312"/>
                    <a:pt x="0" y="2950464"/>
                  </a:cubicBezTo>
                  <a:close/>
                </a:path>
              </a:pathLst>
            </a:custGeom>
            <a:solidFill>
              <a:srgbClr val="121D33"/>
            </a:solidFill>
          </p:spPr>
        </p:sp>
      </p:grpSp>
      <p:grpSp>
        <p:nvGrpSpPr>
          <p:cNvPr name="Group 213" id="213"/>
          <p:cNvGrpSpPr/>
          <p:nvPr/>
        </p:nvGrpSpPr>
        <p:grpSpPr>
          <a:xfrm rot="0">
            <a:off x="25392888" y="4480560"/>
            <a:ext cx="3429000" cy="118872"/>
            <a:chOff x="0" y="0"/>
            <a:chExt cx="4572000" cy="158496"/>
          </a:xfrm>
        </p:grpSpPr>
        <p:sp>
          <p:nvSpPr>
            <p:cNvPr name="Freeform 214" id="214"/>
            <p:cNvSpPr/>
            <p:nvPr/>
          </p:nvSpPr>
          <p:spPr>
            <a:xfrm flipH="false" flipV="false" rot="0">
              <a:off x="0" y="0"/>
              <a:ext cx="4572000" cy="158496"/>
            </a:xfrm>
            <a:custGeom>
              <a:avLst/>
              <a:gdLst/>
              <a:ahLst/>
              <a:cxnLst/>
              <a:rect r="r" b="b" t="t" l="l"/>
              <a:pathLst>
                <a:path h="158496" w="4572000">
                  <a:moveTo>
                    <a:pt x="0" y="0"/>
                  </a:moveTo>
                  <a:lnTo>
                    <a:pt x="4572000" y="0"/>
                  </a:lnTo>
                  <a:lnTo>
                    <a:pt x="4572000" y="158496"/>
                  </a:lnTo>
                  <a:lnTo>
                    <a:pt x="0" y="158496"/>
                  </a:lnTo>
                  <a:close/>
                </a:path>
              </a:pathLst>
            </a:custGeom>
            <a:solidFill>
              <a:srgbClr val="D64550"/>
            </a:solidFill>
          </p:spPr>
        </p:sp>
      </p:grpSp>
      <p:grpSp>
        <p:nvGrpSpPr>
          <p:cNvPr name="Group 215" id="215"/>
          <p:cNvGrpSpPr/>
          <p:nvPr/>
        </p:nvGrpSpPr>
        <p:grpSpPr>
          <a:xfrm rot="0">
            <a:off x="25392888" y="4089324"/>
            <a:ext cx="3337560" cy="2047948"/>
            <a:chOff x="0" y="0"/>
            <a:chExt cx="4450080" cy="2730597"/>
          </a:xfrm>
        </p:grpSpPr>
        <p:sp>
          <p:nvSpPr>
            <p:cNvPr name="Freeform 216" id="216"/>
            <p:cNvSpPr/>
            <p:nvPr/>
          </p:nvSpPr>
          <p:spPr>
            <a:xfrm flipH="false" flipV="false" rot="0">
              <a:off x="0" y="0"/>
              <a:ext cx="4450080" cy="2730597"/>
            </a:xfrm>
            <a:custGeom>
              <a:avLst/>
              <a:gdLst/>
              <a:ahLst/>
              <a:cxnLst/>
              <a:rect r="r" b="b" t="t" l="l"/>
              <a:pathLst>
                <a:path h="2730597" w="4450080">
                  <a:moveTo>
                    <a:pt x="0" y="0"/>
                  </a:moveTo>
                  <a:lnTo>
                    <a:pt x="4450080" y="0"/>
                  </a:lnTo>
                  <a:lnTo>
                    <a:pt x="4450080" y="2730597"/>
                  </a:lnTo>
                  <a:lnTo>
                    <a:pt x="0" y="2730597"/>
                  </a:lnTo>
                  <a:close/>
                </a:path>
              </a:pathLst>
            </a:custGeom>
            <a:blipFill>
              <a:blip r:embed="rId3">
                <a:alphaModFix amt="0"/>
              </a:blip>
              <a:stretch>
                <a:fillRect l="0" t="-7197" r="0" b="43687"/>
              </a:stretch>
            </a:blipFill>
          </p:spPr>
        </p:sp>
        <p:sp>
          <p:nvSpPr>
            <p:cNvPr name="TextBox 217" id="217"/>
            <p:cNvSpPr txBox="true"/>
            <p:nvPr/>
          </p:nvSpPr>
          <p:spPr>
            <a:xfrm>
              <a:off x="0" y="-9525"/>
              <a:ext cx="4450080" cy="2740122"/>
            </a:xfrm>
            <a:prstGeom prst="rect">
              <a:avLst/>
            </a:prstGeom>
          </p:spPr>
          <p:txBody>
            <a:bodyPr anchor="b" rtlCol="false" tIns="0" lIns="0" bIns="0" rIns="0"/>
            <a:lstStyle/>
            <a:p>
              <a:pPr algn="ctr">
                <a:lnSpc>
                  <a:spcPts val="3359"/>
                </a:lnSpc>
              </a:pPr>
              <a:r>
                <a:rPr lang="en-US" sz="2799" b="true">
                  <a:solidFill>
                    <a:srgbClr val="FFFFFF"/>
                  </a:solidFill>
                  <a:latin typeface="Cambria Bold"/>
                  <a:ea typeface="Cambria Bold"/>
                  <a:cs typeface="Cambria Bold"/>
                  <a:sym typeface="Cambria Bold"/>
                </a:rPr>
                <a:t>₹73,891</a:t>
              </a:r>
            </a:p>
          </p:txBody>
        </p:sp>
      </p:grpSp>
      <p:sp>
        <p:nvSpPr>
          <p:cNvPr name="TextBox 218" id="218"/>
          <p:cNvSpPr txBox="true"/>
          <p:nvPr/>
        </p:nvSpPr>
        <p:spPr>
          <a:xfrm rot="0">
            <a:off x="25438608" y="5785485"/>
            <a:ext cx="3337560" cy="485775"/>
          </a:xfrm>
          <a:prstGeom prst="rect">
            <a:avLst/>
          </a:prstGeom>
        </p:spPr>
        <p:txBody>
          <a:bodyPr anchor="t" rtlCol="false" tIns="0" lIns="0" bIns="0" rIns="0">
            <a:spAutoFit/>
          </a:bodyPr>
          <a:lstStyle/>
          <a:p>
            <a:pPr algn="ctr">
              <a:lnSpc>
                <a:spcPts val="3359"/>
              </a:lnSpc>
            </a:pPr>
            <a:r>
              <a:rPr lang="en-US" sz="2799" spc="254">
                <a:solidFill>
                  <a:srgbClr val="C9D2E3"/>
                </a:solidFill>
                <a:latin typeface="Calibri (MS)"/>
                <a:ea typeface="Calibri (MS)"/>
                <a:cs typeface="Calibri (MS)"/>
                <a:sym typeface="Calibri (MS)"/>
              </a:rPr>
              <a:t>Median</a:t>
            </a:r>
          </a:p>
        </p:txBody>
      </p:sp>
      <p:grpSp>
        <p:nvGrpSpPr>
          <p:cNvPr name="Group 219" id="219"/>
          <p:cNvGrpSpPr/>
          <p:nvPr/>
        </p:nvGrpSpPr>
        <p:grpSpPr>
          <a:xfrm rot="0">
            <a:off x="29023056" y="4480560"/>
            <a:ext cx="3429000" cy="2286000"/>
            <a:chOff x="0" y="0"/>
            <a:chExt cx="4572000" cy="3048000"/>
          </a:xfrm>
        </p:grpSpPr>
        <p:sp>
          <p:nvSpPr>
            <p:cNvPr name="Freeform 220" id="220"/>
            <p:cNvSpPr/>
            <p:nvPr/>
          </p:nvSpPr>
          <p:spPr>
            <a:xfrm flipH="false" flipV="false" rot="0">
              <a:off x="0" y="0"/>
              <a:ext cx="4572000" cy="3048000"/>
            </a:xfrm>
            <a:custGeom>
              <a:avLst/>
              <a:gdLst/>
              <a:ahLst/>
              <a:cxnLst/>
              <a:rect r="r" b="b" t="t" l="l"/>
              <a:pathLst>
                <a:path h="3048000" w="4572000">
                  <a:moveTo>
                    <a:pt x="0" y="97536"/>
                  </a:moveTo>
                  <a:cubicBezTo>
                    <a:pt x="0" y="43688"/>
                    <a:pt x="43688" y="0"/>
                    <a:pt x="97536" y="0"/>
                  </a:cubicBezTo>
                  <a:lnTo>
                    <a:pt x="4474464" y="0"/>
                  </a:lnTo>
                  <a:cubicBezTo>
                    <a:pt x="4528312" y="0"/>
                    <a:pt x="4572000" y="43688"/>
                    <a:pt x="4572000" y="97536"/>
                  </a:cubicBezTo>
                  <a:lnTo>
                    <a:pt x="4572000" y="2950464"/>
                  </a:lnTo>
                  <a:cubicBezTo>
                    <a:pt x="4572000" y="3004312"/>
                    <a:pt x="4528312" y="3048000"/>
                    <a:pt x="4474464" y="3048000"/>
                  </a:cubicBezTo>
                  <a:lnTo>
                    <a:pt x="97536" y="3048000"/>
                  </a:lnTo>
                  <a:cubicBezTo>
                    <a:pt x="43688" y="3048000"/>
                    <a:pt x="0" y="3004312"/>
                    <a:pt x="0" y="2950464"/>
                  </a:cubicBezTo>
                  <a:close/>
                </a:path>
              </a:pathLst>
            </a:custGeom>
            <a:solidFill>
              <a:srgbClr val="121D33"/>
            </a:solidFill>
          </p:spPr>
        </p:sp>
      </p:grpSp>
      <p:grpSp>
        <p:nvGrpSpPr>
          <p:cNvPr name="Group 221" id="221"/>
          <p:cNvGrpSpPr/>
          <p:nvPr/>
        </p:nvGrpSpPr>
        <p:grpSpPr>
          <a:xfrm rot="0">
            <a:off x="29023056" y="4480560"/>
            <a:ext cx="3429000" cy="118872"/>
            <a:chOff x="0" y="0"/>
            <a:chExt cx="4572000" cy="158496"/>
          </a:xfrm>
        </p:grpSpPr>
        <p:sp>
          <p:nvSpPr>
            <p:cNvPr name="Freeform 222" id="222"/>
            <p:cNvSpPr/>
            <p:nvPr/>
          </p:nvSpPr>
          <p:spPr>
            <a:xfrm flipH="false" flipV="false" rot="0">
              <a:off x="0" y="0"/>
              <a:ext cx="4572000" cy="158496"/>
            </a:xfrm>
            <a:custGeom>
              <a:avLst/>
              <a:gdLst/>
              <a:ahLst/>
              <a:cxnLst/>
              <a:rect r="r" b="b" t="t" l="l"/>
              <a:pathLst>
                <a:path h="158496" w="4572000">
                  <a:moveTo>
                    <a:pt x="0" y="0"/>
                  </a:moveTo>
                  <a:lnTo>
                    <a:pt x="4572000" y="0"/>
                  </a:lnTo>
                  <a:lnTo>
                    <a:pt x="4572000" y="158496"/>
                  </a:lnTo>
                  <a:lnTo>
                    <a:pt x="0" y="158496"/>
                  </a:lnTo>
                  <a:close/>
                </a:path>
              </a:pathLst>
            </a:custGeom>
            <a:solidFill>
              <a:srgbClr val="C98A0A"/>
            </a:solidFill>
          </p:spPr>
        </p:sp>
      </p:grpSp>
      <p:grpSp>
        <p:nvGrpSpPr>
          <p:cNvPr name="Group 223" id="223"/>
          <p:cNvGrpSpPr/>
          <p:nvPr/>
        </p:nvGrpSpPr>
        <p:grpSpPr>
          <a:xfrm rot="0">
            <a:off x="29174313" y="4070274"/>
            <a:ext cx="3337560" cy="2047948"/>
            <a:chOff x="0" y="0"/>
            <a:chExt cx="4450080" cy="2730597"/>
          </a:xfrm>
        </p:grpSpPr>
        <p:sp>
          <p:nvSpPr>
            <p:cNvPr name="Freeform 224" id="224"/>
            <p:cNvSpPr/>
            <p:nvPr/>
          </p:nvSpPr>
          <p:spPr>
            <a:xfrm flipH="false" flipV="false" rot="0">
              <a:off x="0" y="0"/>
              <a:ext cx="4450080" cy="2730597"/>
            </a:xfrm>
            <a:custGeom>
              <a:avLst/>
              <a:gdLst/>
              <a:ahLst/>
              <a:cxnLst/>
              <a:rect r="r" b="b" t="t" l="l"/>
              <a:pathLst>
                <a:path h="2730597" w="4450080">
                  <a:moveTo>
                    <a:pt x="0" y="0"/>
                  </a:moveTo>
                  <a:lnTo>
                    <a:pt x="4450080" y="0"/>
                  </a:lnTo>
                  <a:lnTo>
                    <a:pt x="4450080" y="2730597"/>
                  </a:lnTo>
                  <a:lnTo>
                    <a:pt x="0" y="2730597"/>
                  </a:lnTo>
                  <a:close/>
                </a:path>
              </a:pathLst>
            </a:custGeom>
            <a:blipFill>
              <a:blip r:embed="rId3">
                <a:alphaModFix amt="0"/>
              </a:blip>
              <a:stretch>
                <a:fillRect l="0" t="-7197" r="0" b="43687"/>
              </a:stretch>
            </a:blipFill>
          </p:spPr>
        </p:sp>
        <p:sp>
          <p:nvSpPr>
            <p:cNvPr name="TextBox 225" id="225"/>
            <p:cNvSpPr txBox="true"/>
            <p:nvPr/>
          </p:nvSpPr>
          <p:spPr>
            <a:xfrm>
              <a:off x="0" y="-9525"/>
              <a:ext cx="4450080" cy="2740122"/>
            </a:xfrm>
            <a:prstGeom prst="rect">
              <a:avLst/>
            </a:prstGeom>
          </p:spPr>
          <p:txBody>
            <a:bodyPr anchor="b" rtlCol="false" tIns="0" lIns="0" bIns="0" rIns="0"/>
            <a:lstStyle/>
            <a:p>
              <a:pPr algn="ctr">
                <a:lnSpc>
                  <a:spcPts val="3359"/>
                </a:lnSpc>
              </a:pPr>
              <a:r>
                <a:rPr lang="en-US" sz="2799" b="true">
                  <a:solidFill>
                    <a:srgbClr val="FFFFFF"/>
                  </a:solidFill>
                  <a:latin typeface="Cambria Bold"/>
                  <a:ea typeface="Cambria Bold"/>
                  <a:cs typeface="Cambria Bold"/>
                  <a:sym typeface="Cambria Bold"/>
                </a:rPr>
                <a:t>1.12B</a:t>
              </a:r>
            </a:p>
          </p:txBody>
        </p:sp>
      </p:grpSp>
      <p:sp>
        <p:nvSpPr>
          <p:cNvPr name="TextBox 226" id="226"/>
          <p:cNvSpPr txBox="true"/>
          <p:nvPr/>
        </p:nvSpPr>
        <p:spPr>
          <a:xfrm rot="0">
            <a:off x="29068776" y="5785485"/>
            <a:ext cx="3337560" cy="485775"/>
          </a:xfrm>
          <a:prstGeom prst="rect">
            <a:avLst/>
          </a:prstGeom>
        </p:spPr>
        <p:txBody>
          <a:bodyPr anchor="t" rtlCol="false" tIns="0" lIns="0" bIns="0" rIns="0">
            <a:spAutoFit/>
          </a:bodyPr>
          <a:lstStyle/>
          <a:p>
            <a:pPr algn="ctr">
              <a:lnSpc>
                <a:spcPts val="3359"/>
              </a:lnSpc>
            </a:pPr>
            <a:r>
              <a:rPr lang="en-US" sz="2799" spc="254">
                <a:solidFill>
                  <a:srgbClr val="C9D2E3"/>
                </a:solidFill>
                <a:latin typeface="Calibri (MS)"/>
                <a:ea typeface="Calibri (MS)"/>
                <a:cs typeface="Calibri (MS)"/>
                <a:sym typeface="Calibri (MS)"/>
              </a:rPr>
              <a:t>Variance</a:t>
            </a:r>
          </a:p>
        </p:txBody>
      </p:sp>
      <p:grpSp>
        <p:nvGrpSpPr>
          <p:cNvPr name="Group 227" id="227"/>
          <p:cNvGrpSpPr/>
          <p:nvPr/>
        </p:nvGrpSpPr>
        <p:grpSpPr>
          <a:xfrm rot="0">
            <a:off x="32653224" y="4480560"/>
            <a:ext cx="3429000" cy="2286000"/>
            <a:chOff x="0" y="0"/>
            <a:chExt cx="4572000" cy="3048000"/>
          </a:xfrm>
        </p:grpSpPr>
        <p:sp>
          <p:nvSpPr>
            <p:cNvPr name="Freeform 228" id="228"/>
            <p:cNvSpPr/>
            <p:nvPr/>
          </p:nvSpPr>
          <p:spPr>
            <a:xfrm flipH="false" flipV="false" rot="0">
              <a:off x="0" y="0"/>
              <a:ext cx="4572000" cy="3048000"/>
            </a:xfrm>
            <a:custGeom>
              <a:avLst/>
              <a:gdLst/>
              <a:ahLst/>
              <a:cxnLst/>
              <a:rect r="r" b="b" t="t" l="l"/>
              <a:pathLst>
                <a:path h="3048000" w="4572000">
                  <a:moveTo>
                    <a:pt x="0" y="97536"/>
                  </a:moveTo>
                  <a:cubicBezTo>
                    <a:pt x="0" y="43688"/>
                    <a:pt x="43688" y="0"/>
                    <a:pt x="97536" y="0"/>
                  </a:cubicBezTo>
                  <a:lnTo>
                    <a:pt x="4474464" y="0"/>
                  </a:lnTo>
                  <a:cubicBezTo>
                    <a:pt x="4528312" y="0"/>
                    <a:pt x="4572000" y="43688"/>
                    <a:pt x="4572000" y="97536"/>
                  </a:cubicBezTo>
                  <a:lnTo>
                    <a:pt x="4572000" y="2950464"/>
                  </a:lnTo>
                  <a:cubicBezTo>
                    <a:pt x="4572000" y="3004312"/>
                    <a:pt x="4528312" y="3048000"/>
                    <a:pt x="4474464" y="3048000"/>
                  </a:cubicBezTo>
                  <a:lnTo>
                    <a:pt x="97536" y="3048000"/>
                  </a:lnTo>
                  <a:cubicBezTo>
                    <a:pt x="43688" y="3048000"/>
                    <a:pt x="0" y="3004312"/>
                    <a:pt x="0" y="2950464"/>
                  </a:cubicBezTo>
                  <a:close/>
                </a:path>
              </a:pathLst>
            </a:custGeom>
            <a:solidFill>
              <a:srgbClr val="121D33"/>
            </a:solidFill>
          </p:spPr>
        </p:sp>
      </p:grpSp>
      <p:grpSp>
        <p:nvGrpSpPr>
          <p:cNvPr name="Group 229" id="229"/>
          <p:cNvGrpSpPr/>
          <p:nvPr/>
        </p:nvGrpSpPr>
        <p:grpSpPr>
          <a:xfrm rot="0">
            <a:off x="32653224" y="4480560"/>
            <a:ext cx="3429000" cy="118872"/>
            <a:chOff x="0" y="0"/>
            <a:chExt cx="4572000" cy="158496"/>
          </a:xfrm>
        </p:grpSpPr>
        <p:sp>
          <p:nvSpPr>
            <p:cNvPr name="Freeform 230" id="230"/>
            <p:cNvSpPr/>
            <p:nvPr/>
          </p:nvSpPr>
          <p:spPr>
            <a:xfrm flipH="false" flipV="false" rot="0">
              <a:off x="0" y="0"/>
              <a:ext cx="4572000" cy="158496"/>
            </a:xfrm>
            <a:custGeom>
              <a:avLst/>
              <a:gdLst/>
              <a:ahLst/>
              <a:cxnLst/>
              <a:rect r="r" b="b" t="t" l="l"/>
              <a:pathLst>
                <a:path h="158496" w="4572000">
                  <a:moveTo>
                    <a:pt x="0" y="0"/>
                  </a:moveTo>
                  <a:lnTo>
                    <a:pt x="4572000" y="0"/>
                  </a:lnTo>
                  <a:lnTo>
                    <a:pt x="4572000" y="158496"/>
                  </a:lnTo>
                  <a:lnTo>
                    <a:pt x="0" y="158496"/>
                  </a:lnTo>
                  <a:close/>
                </a:path>
              </a:pathLst>
            </a:custGeom>
            <a:solidFill>
              <a:srgbClr val="1E8E5A"/>
            </a:solidFill>
          </p:spPr>
        </p:sp>
      </p:grpSp>
      <p:grpSp>
        <p:nvGrpSpPr>
          <p:cNvPr name="Group 231" id="231"/>
          <p:cNvGrpSpPr/>
          <p:nvPr/>
        </p:nvGrpSpPr>
        <p:grpSpPr>
          <a:xfrm rot="0">
            <a:off x="32698944" y="4124593"/>
            <a:ext cx="3337560" cy="2047948"/>
            <a:chOff x="0" y="0"/>
            <a:chExt cx="4450080" cy="2730597"/>
          </a:xfrm>
        </p:grpSpPr>
        <p:sp>
          <p:nvSpPr>
            <p:cNvPr name="Freeform 232" id="232"/>
            <p:cNvSpPr/>
            <p:nvPr/>
          </p:nvSpPr>
          <p:spPr>
            <a:xfrm flipH="false" flipV="false" rot="0">
              <a:off x="0" y="0"/>
              <a:ext cx="4450080" cy="2730597"/>
            </a:xfrm>
            <a:custGeom>
              <a:avLst/>
              <a:gdLst/>
              <a:ahLst/>
              <a:cxnLst/>
              <a:rect r="r" b="b" t="t" l="l"/>
              <a:pathLst>
                <a:path h="2730597" w="4450080">
                  <a:moveTo>
                    <a:pt x="0" y="0"/>
                  </a:moveTo>
                  <a:lnTo>
                    <a:pt x="4450080" y="0"/>
                  </a:lnTo>
                  <a:lnTo>
                    <a:pt x="4450080" y="2730597"/>
                  </a:lnTo>
                  <a:lnTo>
                    <a:pt x="0" y="2730597"/>
                  </a:lnTo>
                  <a:close/>
                </a:path>
              </a:pathLst>
            </a:custGeom>
            <a:blipFill>
              <a:blip r:embed="rId3">
                <a:alphaModFix amt="0"/>
              </a:blip>
              <a:stretch>
                <a:fillRect l="0" t="-7197" r="0" b="43687"/>
              </a:stretch>
            </a:blipFill>
          </p:spPr>
        </p:sp>
        <p:sp>
          <p:nvSpPr>
            <p:cNvPr name="TextBox 233" id="233"/>
            <p:cNvSpPr txBox="true"/>
            <p:nvPr/>
          </p:nvSpPr>
          <p:spPr>
            <a:xfrm>
              <a:off x="0" y="-9525"/>
              <a:ext cx="4450080" cy="2740122"/>
            </a:xfrm>
            <a:prstGeom prst="rect">
              <a:avLst/>
            </a:prstGeom>
          </p:spPr>
          <p:txBody>
            <a:bodyPr anchor="b" rtlCol="false" tIns="0" lIns="0" bIns="0" rIns="0"/>
            <a:lstStyle/>
            <a:p>
              <a:pPr algn="ctr">
                <a:lnSpc>
                  <a:spcPts val="3359"/>
                </a:lnSpc>
              </a:pPr>
              <a:r>
                <a:rPr lang="en-US" sz="2799" b="true">
                  <a:solidFill>
                    <a:srgbClr val="FFFFFF"/>
                  </a:solidFill>
                  <a:latin typeface="Cambria Bold"/>
                  <a:ea typeface="Cambria Bold"/>
                  <a:cs typeface="Cambria Bold"/>
                  <a:sym typeface="Cambria Bold"/>
                </a:rPr>
                <a:t>₹33,521</a:t>
              </a:r>
            </a:p>
          </p:txBody>
        </p:sp>
      </p:grpSp>
      <p:sp>
        <p:nvSpPr>
          <p:cNvPr name="TextBox 234" id="234"/>
          <p:cNvSpPr txBox="true"/>
          <p:nvPr/>
        </p:nvSpPr>
        <p:spPr>
          <a:xfrm rot="0">
            <a:off x="32698944" y="5785485"/>
            <a:ext cx="3337560" cy="485775"/>
          </a:xfrm>
          <a:prstGeom prst="rect">
            <a:avLst/>
          </a:prstGeom>
        </p:spPr>
        <p:txBody>
          <a:bodyPr anchor="t" rtlCol="false" tIns="0" lIns="0" bIns="0" rIns="0">
            <a:spAutoFit/>
          </a:bodyPr>
          <a:lstStyle/>
          <a:p>
            <a:pPr algn="ctr">
              <a:lnSpc>
                <a:spcPts val="3359"/>
              </a:lnSpc>
            </a:pPr>
            <a:r>
              <a:rPr lang="en-US" sz="2799" spc="254">
                <a:solidFill>
                  <a:srgbClr val="C9D2E3"/>
                </a:solidFill>
                <a:latin typeface="Calibri (MS)"/>
                <a:ea typeface="Calibri (MS)"/>
                <a:cs typeface="Calibri (MS)"/>
                <a:sym typeface="Calibri (MS)"/>
              </a:rPr>
              <a:t>Std. Dev.</a:t>
            </a:r>
          </a:p>
        </p:txBody>
      </p:sp>
      <p:grpSp>
        <p:nvGrpSpPr>
          <p:cNvPr name="Group 235" id="235"/>
          <p:cNvGrpSpPr/>
          <p:nvPr/>
        </p:nvGrpSpPr>
        <p:grpSpPr>
          <a:xfrm rot="0">
            <a:off x="36283392" y="4480560"/>
            <a:ext cx="3429000" cy="2286000"/>
            <a:chOff x="0" y="0"/>
            <a:chExt cx="4572000" cy="3048000"/>
          </a:xfrm>
        </p:grpSpPr>
        <p:sp>
          <p:nvSpPr>
            <p:cNvPr name="Freeform 236" id="236"/>
            <p:cNvSpPr/>
            <p:nvPr/>
          </p:nvSpPr>
          <p:spPr>
            <a:xfrm flipH="false" flipV="false" rot="0">
              <a:off x="0" y="0"/>
              <a:ext cx="4572000" cy="3048000"/>
            </a:xfrm>
            <a:custGeom>
              <a:avLst/>
              <a:gdLst/>
              <a:ahLst/>
              <a:cxnLst/>
              <a:rect r="r" b="b" t="t" l="l"/>
              <a:pathLst>
                <a:path h="3048000" w="4572000">
                  <a:moveTo>
                    <a:pt x="0" y="97536"/>
                  </a:moveTo>
                  <a:cubicBezTo>
                    <a:pt x="0" y="43688"/>
                    <a:pt x="43688" y="0"/>
                    <a:pt x="97536" y="0"/>
                  </a:cubicBezTo>
                  <a:lnTo>
                    <a:pt x="4474464" y="0"/>
                  </a:lnTo>
                  <a:cubicBezTo>
                    <a:pt x="4528312" y="0"/>
                    <a:pt x="4572000" y="43688"/>
                    <a:pt x="4572000" y="97536"/>
                  </a:cubicBezTo>
                  <a:lnTo>
                    <a:pt x="4572000" y="2950464"/>
                  </a:lnTo>
                  <a:cubicBezTo>
                    <a:pt x="4572000" y="3004312"/>
                    <a:pt x="4528312" y="3048000"/>
                    <a:pt x="4474464" y="3048000"/>
                  </a:cubicBezTo>
                  <a:lnTo>
                    <a:pt x="97536" y="3048000"/>
                  </a:lnTo>
                  <a:cubicBezTo>
                    <a:pt x="43688" y="3048000"/>
                    <a:pt x="0" y="3004312"/>
                    <a:pt x="0" y="2950464"/>
                  </a:cubicBezTo>
                  <a:close/>
                </a:path>
              </a:pathLst>
            </a:custGeom>
            <a:solidFill>
              <a:srgbClr val="121D33"/>
            </a:solidFill>
          </p:spPr>
        </p:sp>
      </p:grpSp>
      <p:grpSp>
        <p:nvGrpSpPr>
          <p:cNvPr name="Group 237" id="237"/>
          <p:cNvGrpSpPr/>
          <p:nvPr/>
        </p:nvGrpSpPr>
        <p:grpSpPr>
          <a:xfrm rot="0">
            <a:off x="36283392" y="4480560"/>
            <a:ext cx="3429000" cy="118872"/>
            <a:chOff x="0" y="0"/>
            <a:chExt cx="4572000" cy="158496"/>
          </a:xfrm>
        </p:grpSpPr>
        <p:sp>
          <p:nvSpPr>
            <p:cNvPr name="Freeform 238" id="238"/>
            <p:cNvSpPr/>
            <p:nvPr/>
          </p:nvSpPr>
          <p:spPr>
            <a:xfrm flipH="false" flipV="false" rot="0">
              <a:off x="0" y="0"/>
              <a:ext cx="4572000" cy="158496"/>
            </a:xfrm>
            <a:custGeom>
              <a:avLst/>
              <a:gdLst/>
              <a:ahLst/>
              <a:cxnLst/>
              <a:rect r="r" b="b" t="t" l="l"/>
              <a:pathLst>
                <a:path h="158496" w="4572000">
                  <a:moveTo>
                    <a:pt x="0" y="0"/>
                  </a:moveTo>
                  <a:lnTo>
                    <a:pt x="4572000" y="0"/>
                  </a:lnTo>
                  <a:lnTo>
                    <a:pt x="4572000" y="158496"/>
                  </a:lnTo>
                  <a:lnTo>
                    <a:pt x="0" y="158496"/>
                  </a:lnTo>
                  <a:close/>
                </a:path>
              </a:pathLst>
            </a:custGeom>
            <a:solidFill>
              <a:srgbClr val="1D5DA6"/>
            </a:solidFill>
          </p:spPr>
        </p:sp>
      </p:grpSp>
      <p:grpSp>
        <p:nvGrpSpPr>
          <p:cNvPr name="Group 239" id="239"/>
          <p:cNvGrpSpPr/>
          <p:nvPr/>
        </p:nvGrpSpPr>
        <p:grpSpPr>
          <a:xfrm rot="0">
            <a:off x="36272724" y="4108374"/>
            <a:ext cx="3337560" cy="2047948"/>
            <a:chOff x="0" y="0"/>
            <a:chExt cx="4450080" cy="2730597"/>
          </a:xfrm>
        </p:grpSpPr>
        <p:sp>
          <p:nvSpPr>
            <p:cNvPr name="Freeform 240" id="240"/>
            <p:cNvSpPr/>
            <p:nvPr/>
          </p:nvSpPr>
          <p:spPr>
            <a:xfrm flipH="false" flipV="false" rot="0">
              <a:off x="0" y="0"/>
              <a:ext cx="4450080" cy="2730597"/>
            </a:xfrm>
            <a:custGeom>
              <a:avLst/>
              <a:gdLst/>
              <a:ahLst/>
              <a:cxnLst/>
              <a:rect r="r" b="b" t="t" l="l"/>
              <a:pathLst>
                <a:path h="2730597" w="4450080">
                  <a:moveTo>
                    <a:pt x="0" y="0"/>
                  </a:moveTo>
                  <a:lnTo>
                    <a:pt x="4450080" y="0"/>
                  </a:lnTo>
                  <a:lnTo>
                    <a:pt x="4450080" y="2730597"/>
                  </a:lnTo>
                  <a:lnTo>
                    <a:pt x="0" y="2730597"/>
                  </a:lnTo>
                  <a:close/>
                </a:path>
              </a:pathLst>
            </a:custGeom>
            <a:blipFill>
              <a:blip r:embed="rId3">
                <a:alphaModFix amt="0"/>
              </a:blip>
              <a:stretch>
                <a:fillRect l="0" t="-7197" r="0" b="43687"/>
              </a:stretch>
            </a:blipFill>
          </p:spPr>
        </p:sp>
        <p:sp>
          <p:nvSpPr>
            <p:cNvPr name="TextBox 241" id="241"/>
            <p:cNvSpPr txBox="true"/>
            <p:nvPr/>
          </p:nvSpPr>
          <p:spPr>
            <a:xfrm>
              <a:off x="0" y="-9525"/>
              <a:ext cx="4450080" cy="2740122"/>
            </a:xfrm>
            <a:prstGeom prst="rect">
              <a:avLst/>
            </a:prstGeom>
          </p:spPr>
          <p:txBody>
            <a:bodyPr anchor="b" rtlCol="false" tIns="0" lIns="0" bIns="0" rIns="0"/>
            <a:lstStyle/>
            <a:p>
              <a:pPr algn="ctr">
                <a:lnSpc>
                  <a:spcPts val="3359"/>
                </a:lnSpc>
              </a:pPr>
              <a:r>
                <a:rPr lang="en-US" sz="2799" b="true">
                  <a:solidFill>
                    <a:srgbClr val="FFFFFF"/>
                  </a:solidFill>
                  <a:latin typeface="Cambria Bold"/>
                  <a:ea typeface="Cambria Bold"/>
                  <a:cs typeface="Cambria Bold"/>
                  <a:sym typeface="Cambria Bold"/>
                </a:rPr>
                <a:t>₹28,420</a:t>
              </a:r>
            </a:p>
          </p:txBody>
        </p:sp>
      </p:grpSp>
      <p:sp>
        <p:nvSpPr>
          <p:cNvPr name="TextBox 242" id="242"/>
          <p:cNvSpPr txBox="true"/>
          <p:nvPr/>
        </p:nvSpPr>
        <p:spPr>
          <a:xfrm rot="0">
            <a:off x="36329112" y="5785485"/>
            <a:ext cx="3337560" cy="485775"/>
          </a:xfrm>
          <a:prstGeom prst="rect">
            <a:avLst/>
          </a:prstGeom>
        </p:spPr>
        <p:txBody>
          <a:bodyPr anchor="t" rtlCol="false" tIns="0" lIns="0" bIns="0" rIns="0">
            <a:spAutoFit/>
          </a:bodyPr>
          <a:lstStyle/>
          <a:p>
            <a:pPr algn="ctr">
              <a:lnSpc>
                <a:spcPts val="3359"/>
              </a:lnSpc>
            </a:pPr>
            <a:r>
              <a:rPr lang="en-US" sz="2799" spc="254">
                <a:solidFill>
                  <a:srgbClr val="C9D2E3"/>
                </a:solidFill>
                <a:latin typeface="Calibri (MS)"/>
                <a:ea typeface="Calibri (MS)"/>
                <a:cs typeface="Calibri (MS)"/>
                <a:sym typeface="Calibri (MS)"/>
              </a:rPr>
              <a:t>Minimum</a:t>
            </a:r>
          </a:p>
        </p:txBody>
      </p:sp>
      <p:grpSp>
        <p:nvGrpSpPr>
          <p:cNvPr name="Group 243" id="243"/>
          <p:cNvGrpSpPr/>
          <p:nvPr/>
        </p:nvGrpSpPr>
        <p:grpSpPr>
          <a:xfrm rot="0">
            <a:off x="39913560" y="4480560"/>
            <a:ext cx="3429000" cy="2286000"/>
            <a:chOff x="0" y="0"/>
            <a:chExt cx="4572000" cy="3048000"/>
          </a:xfrm>
        </p:grpSpPr>
        <p:sp>
          <p:nvSpPr>
            <p:cNvPr name="Freeform 244" id="244"/>
            <p:cNvSpPr/>
            <p:nvPr/>
          </p:nvSpPr>
          <p:spPr>
            <a:xfrm flipH="false" flipV="false" rot="0">
              <a:off x="0" y="0"/>
              <a:ext cx="4572000" cy="3048000"/>
            </a:xfrm>
            <a:custGeom>
              <a:avLst/>
              <a:gdLst/>
              <a:ahLst/>
              <a:cxnLst/>
              <a:rect r="r" b="b" t="t" l="l"/>
              <a:pathLst>
                <a:path h="3048000" w="4572000">
                  <a:moveTo>
                    <a:pt x="0" y="97536"/>
                  </a:moveTo>
                  <a:cubicBezTo>
                    <a:pt x="0" y="43688"/>
                    <a:pt x="43688" y="0"/>
                    <a:pt x="97536" y="0"/>
                  </a:cubicBezTo>
                  <a:lnTo>
                    <a:pt x="4474464" y="0"/>
                  </a:lnTo>
                  <a:cubicBezTo>
                    <a:pt x="4528312" y="0"/>
                    <a:pt x="4572000" y="43688"/>
                    <a:pt x="4572000" y="97536"/>
                  </a:cubicBezTo>
                  <a:lnTo>
                    <a:pt x="4572000" y="2950464"/>
                  </a:lnTo>
                  <a:cubicBezTo>
                    <a:pt x="4572000" y="3004312"/>
                    <a:pt x="4528312" y="3048000"/>
                    <a:pt x="4474464" y="3048000"/>
                  </a:cubicBezTo>
                  <a:lnTo>
                    <a:pt x="97536" y="3048000"/>
                  </a:lnTo>
                  <a:cubicBezTo>
                    <a:pt x="43688" y="3048000"/>
                    <a:pt x="0" y="3004312"/>
                    <a:pt x="0" y="2950464"/>
                  </a:cubicBezTo>
                  <a:close/>
                </a:path>
              </a:pathLst>
            </a:custGeom>
            <a:solidFill>
              <a:srgbClr val="121D33"/>
            </a:solidFill>
          </p:spPr>
        </p:sp>
      </p:grpSp>
      <p:grpSp>
        <p:nvGrpSpPr>
          <p:cNvPr name="Group 245" id="245"/>
          <p:cNvGrpSpPr/>
          <p:nvPr/>
        </p:nvGrpSpPr>
        <p:grpSpPr>
          <a:xfrm rot="0">
            <a:off x="39913560" y="4480560"/>
            <a:ext cx="3429000" cy="118872"/>
            <a:chOff x="0" y="0"/>
            <a:chExt cx="4572000" cy="158496"/>
          </a:xfrm>
        </p:grpSpPr>
        <p:sp>
          <p:nvSpPr>
            <p:cNvPr name="Freeform 246" id="246"/>
            <p:cNvSpPr/>
            <p:nvPr/>
          </p:nvSpPr>
          <p:spPr>
            <a:xfrm flipH="false" flipV="false" rot="0">
              <a:off x="0" y="0"/>
              <a:ext cx="4572000" cy="158496"/>
            </a:xfrm>
            <a:custGeom>
              <a:avLst/>
              <a:gdLst/>
              <a:ahLst/>
              <a:cxnLst/>
              <a:rect r="r" b="b" t="t" l="l"/>
              <a:pathLst>
                <a:path h="158496" w="4572000">
                  <a:moveTo>
                    <a:pt x="0" y="0"/>
                  </a:moveTo>
                  <a:lnTo>
                    <a:pt x="4572000" y="0"/>
                  </a:lnTo>
                  <a:lnTo>
                    <a:pt x="4572000" y="158496"/>
                  </a:lnTo>
                  <a:lnTo>
                    <a:pt x="0" y="158496"/>
                  </a:lnTo>
                  <a:close/>
                </a:path>
              </a:pathLst>
            </a:custGeom>
            <a:solidFill>
              <a:srgbClr val="C2266E"/>
            </a:solidFill>
          </p:spPr>
        </p:sp>
      </p:grpSp>
      <p:grpSp>
        <p:nvGrpSpPr>
          <p:cNvPr name="Group 247" id="247"/>
          <p:cNvGrpSpPr/>
          <p:nvPr/>
        </p:nvGrpSpPr>
        <p:grpSpPr>
          <a:xfrm rot="0">
            <a:off x="39913560" y="4108374"/>
            <a:ext cx="3337560" cy="2047948"/>
            <a:chOff x="0" y="0"/>
            <a:chExt cx="4450080" cy="2730597"/>
          </a:xfrm>
        </p:grpSpPr>
        <p:sp>
          <p:nvSpPr>
            <p:cNvPr name="Freeform 248" id="248"/>
            <p:cNvSpPr/>
            <p:nvPr/>
          </p:nvSpPr>
          <p:spPr>
            <a:xfrm flipH="false" flipV="false" rot="0">
              <a:off x="0" y="0"/>
              <a:ext cx="4450080" cy="2730597"/>
            </a:xfrm>
            <a:custGeom>
              <a:avLst/>
              <a:gdLst/>
              <a:ahLst/>
              <a:cxnLst/>
              <a:rect r="r" b="b" t="t" l="l"/>
              <a:pathLst>
                <a:path h="2730597" w="4450080">
                  <a:moveTo>
                    <a:pt x="0" y="0"/>
                  </a:moveTo>
                  <a:lnTo>
                    <a:pt x="4450080" y="0"/>
                  </a:lnTo>
                  <a:lnTo>
                    <a:pt x="4450080" y="2730597"/>
                  </a:lnTo>
                  <a:lnTo>
                    <a:pt x="0" y="2730597"/>
                  </a:lnTo>
                  <a:close/>
                </a:path>
              </a:pathLst>
            </a:custGeom>
            <a:blipFill>
              <a:blip r:embed="rId3">
                <a:alphaModFix amt="0"/>
              </a:blip>
              <a:stretch>
                <a:fillRect l="0" t="-7197" r="0" b="43687"/>
              </a:stretch>
            </a:blipFill>
          </p:spPr>
        </p:sp>
        <p:sp>
          <p:nvSpPr>
            <p:cNvPr name="TextBox 249" id="249"/>
            <p:cNvSpPr txBox="true"/>
            <p:nvPr/>
          </p:nvSpPr>
          <p:spPr>
            <a:xfrm>
              <a:off x="0" y="-9525"/>
              <a:ext cx="4450080" cy="2740122"/>
            </a:xfrm>
            <a:prstGeom prst="rect">
              <a:avLst/>
            </a:prstGeom>
          </p:spPr>
          <p:txBody>
            <a:bodyPr anchor="b" rtlCol="false" tIns="0" lIns="0" bIns="0" rIns="0"/>
            <a:lstStyle/>
            <a:p>
              <a:pPr algn="ctr">
                <a:lnSpc>
                  <a:spcPts val="3359"/>
                </a:lnSpc>
              </a:pPr>
              <a:r>
                <a:rPr lang="en-US" sz="2799" b="true">
                  <a:solidFill>
                    <a:srgbClr val="FFFFFF"/>
                  </a:solidFill>
                  <a:latin typeface="Cambria Bold"/>
                  <a:ea typeface="Cambria Bold"/>
                  <a:cs typeface="Cambria Bold"/>
                  <a:sym typeface="Cambria Bold"/>
                </a:rPr>
                <a:t>₹149,123</a:t>
              </a:r>
            </a:p>
          </p:txBody>
        </p:sp>
      </p:grpSp>
      <p:sp>
        <p:nvSpPr>
          <p:cNvPr name="TextBox 250" id="250"/>
          <p:cNvSpPr txBox="true"/>
          <p:nvPr/>
        </p:nvSpPr>
        <p:spPr>
          <a:xfrm rot="0">
            <a:off x="39959280" y="5995035"/>
            <a:ext cx="3337560" cy="485775"/>
          </a:xfrm>
          <a:prstGeom prst="rect">
            <a:avLst/>
          </a:prstGeom>
        </p:spPr>
        <p:txBody>
          <a:bodyPr anchor="t" rtlCol="false" tIns="0" lIns="0" bIns="0" rIns="0">
            <a:spAutoFit/>
          </a:bodyPr>
          <a:lstStyle/>
          <a:p>
            <a:pPr algn="ctr">
              <a:lnSpc>
                <a:spcPts val="3359"/>
              </a:lnSpc>
            </a:pPr>
            <a:r>
              <a:rPr lang="en-US" sz="2799" spc="254">
                <a:solidFill>
                  <a:srgbClr val="C9D2E3"/>
                </a:solidFill>
                <a:latin typeface="Calibri (MS)"/>
                <a:ea typeface="Calibri (MS)"/>
                <a:cs typeface="Calibri (MS)"/>
                <a:sym typeface="Calibri (MS)"/>
              </a:rPr>
              <a:t>Maximum</a:t>
            </a:r>
          </a:p>
        </p:txBody>
      </p:sp>
      <p:grpSp>
        <p:nvGrpSpPr>
          <p:cNvPr name="Group 251" id="251"/>
          <p:cNvGrpSpPr/>
          <p:nvPr/>
        </p:nvGrpSpPr>
        <p:grpSpPr>
          <a:xfrm rot="0">
            <a:off x="21756367" y="7080247"/>
            <a:ext cx="5215633" cy="9705337"/>
            <a:chOff x="0" y="0"/>
            <a:chExt cx="6954177" cy="12940449"/>
          </a:xfrm>
        </p:grpSpPr>
        <p:sp>
          <p:nvSpPr>
            <p:cNvPr name="Freeform 252" id="252"/>
            <p:cNvSpPr/>
            <p:nvPr/>
          </p:nvSpPr>
          <p:spPr>
            <a:xfrm flipH="false" flipV="false" rot="0">
              <a:off x="0" y="0"/>
              <a:ext cx="6954138" cy="12940411"/>
            </a:xfrm>
            <a:custGeom>
              <a:avLst/>
              <a:gdLst/>
              <a:ahLst/>
              <a:cxnLst/>
              <a:rect r="r" b="b" t="t" l="l"/>
              <a:pathLst>
                <a:path h="12940411" w="6954138">
                  <a:moveTo>
                    <a:pt x="0" y="109982"/>
                  </a:moveTo>
                  <a:cubicBezTo>
                    <a:pt x="0" y="49276"/>
                    <a:pt x="49276" y="0"/>
                    <a:pt x="109982" y="0"/>
                  </a:cubicBezTo>
                  <a:lnTo>
                    <a:pt x="6844157" y="0"/>
                  </a:lnTo>
                  <a:cubicBezTo>
                    <a:pt x="6904863" y="0"/>
                    <a:pt x="6954138" y="49276"/>
                    <a:pt x="6954138" y="109982"/>
                  </a:cubicBezTo>
                  <a:lnTo>
                    <a:pt x="6954138" y="12830429"/>
                  </a:lnTo>
                  <a:cubicBezTo>
                    <a:pt x="6954138" y="12891136"/>
                    <a:pt x="6904863" y="12940411"/>
                    <a:pt x="6844157" y="12940411"/>
                  </a:cubicBezTo>
                  <a:lnTo>
                    <a:pt x="109982" y="12940411"/>
                  </a:lnTo>
                  <a:cubicBezTo>
                    <a:pt x="49276" y="12940411"/>
                    <a:pt x="0" y="12891136"/>
                    <a:pt x="0" y="12830429"/>
                  </a:cubicBezTo>
                  <a:close/>
                </a:path>
              </a:pathLst>
            </a:custGeom>
            <a:solidFill>
              <a:srgbClr val="E3F5F4"/>
            </a:solidFill>
            <a:ln w="12700" cap="sq">
              <a:solidFill>
                <a:srgbClr val="FFFFFF"/>
              </a:solidFill>
              <a:prstDash val="solid"/>
              <a:miter/>
            </a:ln>
          </p:spPr>
        </p:sp>
      </p:grpSp>
      <p:grpSp>
        <p:nvGrpSpPr>
          <p:cNvPr name="Group 253" id="253"/>
          <p:cNvGrpSpPr/>
          <p:nvPr/>
        </p:nvGrpSpPr>
        <p:grpSpPr>
          <a:xfrm rot="0">
            <a:off x="21927312" y="7214616"/>
            <a:ext cx="4873752" cy="720401"/>
            <a:chOff x="0" y="0"/>
            <a:chExt cx="6498336" cy="960535"/>
          </a:xfrm>
        </p:grpSpPr>
        <p:sp>
          <p:nvSpPr>
            <p:cNvPr name="Freeform 254" id="254"/>
            <p:cNvSpPr/>
            <p:nvPr/>
          </p:nvSpPr>
          <p:spPr>
            <a:xfrm flipH="false" flipV="false" rot="0">
              <a:off x="0" y="0"/>
              <a:ext cx="6498336" cy="960535"/>
            </a:xfrm>
            <a:custGeom>
              <a:avLst/>
              <a:gdLst/>
              <a:ahLst/>
              <a:cxnLst/>
              <a:rect r="r" b="b" t="t" l="l"/>
              <a:pathLst>
                <a:path h="960535" w="6498336">
                  <a:moveTo>
                    <a:pt x="0" y="0"/>
                  </a:moveTo>
                  <a:lnTo>
                    <a:pt x="6498336" y="0"/>
                  </a:lnTo>
                  <a:lnTo>
                    <a:pt x="6498336" y="960535"/>
                  </a:lnTo>
                  <a:lnTo>
                    <a:pt x="0" y="960535"/>
                  </a:lnTo>
                  <a:close/>
                </a:path>
              </a:pathLst>
            </a:custGeom>
            <a:blipFill>
              <a:blip r:embed="rId3">
                <a:alphaModFix amt="0"/>
              </a:blip>
              <a:stretch>
                <a:fillRect l="0" t="-96917" r="0" b="-66728"/>
              </a:stretch>
            </a:blipFill>
          </p:spPr>
        </p:sp>
        <p:sp>
          <p:nvSpPr>
            <p:cNvPr name="TextBox 255" id="255"/>
            <p:cNvSpPr txBox="true"/>
            <p:nvPr/>
          </p:nvSpPr>
          <p:spPr>
            <a:xfrm>
              <a:off x="0" y="-85725"/>
              <a:ext cx="6498336" cy="1046260"/>
            </a:xfrm>
            <a:prstGeom prst="rect">
              <a:avLst/>
            </a:prstGeom>
          </p:spPr>
          <p:txBody>
            <a:bodyPr anchor="ctr" rtlCol="false" tIns="0" lIns="0" bIns="0" rIns="0"/>
            <a:lstStyle/>
            <a:p>
              <a:pPr algn="l">
                <a:lnSpc>
                  <a:spcPts val="4319"/>
                </a:lnSpc>
              </a:pPr>
              <a:r>
                <a:rPr lang="en-US" sz="3599" b="true">
                  <a:solidFill>
                    <a:srgbClr val="1B2A4A"/>
                  </a:solidFill>
                  <a:latin typeface="Calibri (MS) Bold"/>
                  <a:ea typeface="Calibri (MS) Bold"/>
                  <a:cs typeface="Calibri (MS) Bold"/>
                  <a:sym typeface="Calibri (MS) Bold"/>
                </a:rPr>
                <a:t>Salary Distribution</a:t>
              </a:r>
            </a:p>
          </p:txBody>
        </p:sp>
      </p:grpSp>
      <p:grpSp>
        <p:nvGrpSpPr>
          <p:cNvPr name="Group 256" id="256"/>
          <p:cNvGrpSpPr/>
          <p:nvPr/>
        </p:nvGrpSpPr>
        <p:grpSpPr>
          <a:xfrm rot="0">
            <a:off x="21899880" y="7744968"/>
            <a:ext cx="4928616" cy="5257800"/>
            <a:chOff x="0" y="0"/>
            <a:chExt cx="6571488" cy="7010400"/>
          </a:xfrm>
        </p:grpSpPr>
        <p:sp>
          <p:nvSpPr>
            <p:cNvPr name="Freeform 257" id="257"/>
            <p:cNvSpPr/>
            <p:nvPr/>
          </p:nvSpPr>
          <p:spPr>
            <a:xfrm flipH="false" flipV="false" rot="0">
              <a:off x="0" y="0"/>
              <a:ext cx="6571488" cy="7010400"/>
            </a:xfrm>
            <a:custGeom>
              <a:avLst/>
              <a:gdLst/>
              <a:ahLst/>
              <a:cxnLst/>
              <a:rect r="r" b="b" t="t" l="l"/>
              <a:pathLst>
                <a:path h="7010400" w="6571488">
                  <a:moveTo>
                    <a:pt x="0" y="0"/>
                  </a:moveTo>
                  <a:lnTo>
                    <a:pt x="6571488" y="0"/>
                  </a:lnTo>
                  <a:lnTo>
                    <a:pt x="6571488" y="7010400"/>
                  </a:lnTo>
                  <a:lnTo>
                    <a:pt x="0" y="7010400"/>
                  </a:lnTo>
                  <a:close/>
                </a:path>
              </a:pathLst>
            </a:custGeom>
            <a:solidFill>
              <a:srgbClr val="FFFFFF"/>
            </a:solidFill>
          </p:spPr>
        </p:sp>
      </p:grpSp>
      <p:grpSp>
        <p:nvGrpSpPr>
          <p:cNvPr name="Group 258" id="258"/>
          <p:cNvGrpSpPr/>
          <p:nvPr/>
        </p:nvGrpSpPr>
        <p:grpSpPr>
          <a:xfrm rot="0">
            <a:off x="21945600" y="8716813"/>
            <a:ext cx="4837176" cy="3314100"/>
            <a:chOff x="0" y="0"/>
            <a:chExt cx="6449568" cy="4418800"/>
          </a:xfrm>
        </p:grpSpPr>
        <p:sp>
          <p:nvSpPr>
            <p:cNvPr name="Freeform 259" id="259" descr="/home/claude/charts/chart_1_crop.png"/>
            <p:cNvSpPr/>
            <p:nvPr/>
          </p:nvSpPr>
          <p:spPr>
            <a:xfrm flipH="false" flipV="false" rot="0">
              <a:off x="0" y="0"/>
              <a:ext cx="6449568" cy="4418838"/>
            </a:xfrm>
            <a:custGeom>
              <a:avLst/>
              <a:gdLst/>
              <a:ahLst/>
              <a:cxnLst/>
              <a:rect r="r" b="b" t="t" l="l"/>
              <a:pathLst>
                <a:path h="4418838" w="6449568">
                  <a:moveTo>
                    <a:pt x="0" y="0"/>
                  </a:moveTo>
                  <a:lnTo>
                    <a:pt x="6449568" y="0"/>
                  </a:lnTo>
                  <a:lnTo>
                    <a:pt x="6449568" y="4418838"/>
                  </a:lnTo>
                  <a:lnTo>
                    <a:pt x="0" y="4418838"/>
                  </a:lnTo>
                  <a:lnTo>
                    <a:pt x="0" y="0"/>
                  </a:lnTo>
                  <a:close/>
                </a:path>
              </a:pathLst>
            </a:custGeom>
            <a:blipFill>
              <a:blip r:embed="rId4"/>
              <a:stretch>
                <a:fillRect l="0" t="0" r="0" b="0"/>
              </a:stretch>
            </a:blipFill>
          </p:spPr>
        </p:sp>
      </p:grpSp>
      <p:sp>
        <p:nvSpPr>
          <p:cNvPr name="TextBox 260" id="260"/>
          <p:cNvSpPr txBox="true"/>
          <p:nvPr/>
        </p:nvSpPr>
        <p:spPr>
          <a:xfrm rot="0">
            <a:off x="21927312" y="12933045"/>
            <a:ext cx="4873752" cy="2331721"/>
          </a:xfrm>
          <a:prstGeom prst="rect">
            <a:avLst/>
          </a:prstGeom>
        </p:spPr>
        <p:txBody>
          <a:bodyPr anchor="t" rtlCol="false" tIns="0" lIns="0" bIns="0" rIns="0">
            <a:spAutoFit/>
          </a:bodyPr>
          <a:lstStyle/>
          <a:p>
            <a:pPr algn="l">
              <a:lnSpc>
                <a:spcPts val="5939"/>
              </a:lnSpc>
            </a:pPr>
            <a:r>
              <a:rPr lang="en-US" sz="4499" i="true">
                <a:solidFill>
                  <a:srgbClr val="455066"/>
                </a:solidFill>
                <a:latin typeface="Calibri (MS) Italics"/>
                <a:ea typeface="Calibri (MS) Italics"/>
                <a:cs typeface="Calibri (MS) Italics"/>
                <a:sym typeface="Calibri (MS) Italics"/>
              </a:rPr>
              <a:t>Most employees fall within the medium salary range.</a:t>
            </a:r>
          </a:p>
        </p:txBody>
      </p:sp>
      <p:grpSp>
        <p:nvGrpSpPr>
          <p:cNvPr name="Group 261" id="261"/>
          <p:cNvGrpSpPr/>
          <p:nvPr/>
        </p:nvGrpSpPr>
        <p:grpSpPr>
          <a:xfrm rot="0">
            <a:off x="27215335" y="7080247"/>
            <a:ext cx="5215633" cy="9659617"/>
            <a:chOff x="0" y="0"/>
            <a:chExt cx="6954177" cy="12879489"/>
          </a:xfrm>
        </p:grpSpPr>
        <p:sp>
          <p:nvSpPr>
            <p:cNvPr name="Freeform 262" id="262"/>
            <p:cNvSpPr/>
            <p:nvPr/>
          </p:nvSpPr>
          <p:spPr>
            <a:xfrm flipH="false" flipV="false" rot="0">
              <a:off x="0" y="0"/>
              <a:ext cx="6954138" cy="12879451"/>
            </a:xfrm>
            <a:custGeom>
              <a:avLst/>
              <a:gdLst/>
              <a:ahLst/>
              <a:cxnLst/>
              <a:rect r="r" b="b" t="t" l="l"/>
              <a:pathLst>
                <a:path h="12879451" w="6954138">
                  <a:moveTo>
                    <a:pt x="0" y="109982"/>
                  </a:moveTo>
                  <a:cubicBezTo>
                    <a:pt x="0" y="49276"/>
                    <a:pt x="49276" y="0"/>
                    <a:pt x="109982" y="0"/>
                  </a:cubicBezTo>
                  <a:lnTo>
                    <a:pt x="6844157" y="0"/>
                  </a:lnTo>
                  <a:cubicBezTo>
                    <a:pt x="6904863" y="0"/>
                    <a:pt x="6954138" y="49276"/>
                    <a:pt x="6954138" y="109982"/>
                  </a:cubicBezTo>
                  <a:lnTo>
                    <a:pt x="6954138" y="12769469"/>
                  </a:lnTo>
                  <a:cubicBezTo>
                    <a:pt x="6954138" y="12830175"/>
                    <a:pt x="6904863" y="12879451"/>
                    <a:pt x="6844157" y="12879451"/>
                  </a:cubicBezTo>
                  <a:lnTo>
                    <a:pt x="109982" y="12879451"/>
                  </a:lnTo>
                  <a:cubicBezTo>
                    <a:pt x="49276" y="12879451"/>
                    <a:pt x="0" y="12830175"/>
                    <a:pt x="0" y="12769469"/>
                  </a:cubicBezTo>
                  <a:close/>
                </a:path>
              </a:pathLst>
            </a:custGeom>
            <a:solidFill>
              <a:srgbClr val="FCE7E8"/>
            </a:solidFill>
            <a:ln w="12700" cap="sq">
              <a:solidFill>
                <a:srgbClr val="FFFFFF"/>
              </a:solidFill>
              <a:prstDash val="solid"/>
              <a:miter/>
            </a:ln>
          </p:spPr>
        </p:sp>
      </p:grpSp>
      <p:grpSp>
        <p:nvGrpSpPr>
          <p:cNvPr name="Group 263" id="263"/>
          <p:cNvGrpSpPr/>
          <p:nvPr/>
        </p:nvGrpSpPr>
        <p:grpSpPr>
          <a:xfrm rot="0">
            <a:off x="27386280" y="7214616"/>
            <a:ext cx="4873752" cy="681967"/>
            <a:chOff x="0" y="0"/>
            <a:chExt cx="6498336" cy="909289"/>
          </a:xfrm>
        </p:grpSpPr>
        <p:sp>
          <p:nvSpPr>
            <p:cNvPr name="Freeform 264" id="264"/>
            <p:cNvSpPr/>
            <p:nvPr/>
          </p:nvSpPr>
          <p:spPr>
            <a:xfrm flipH="false" flipV="false" rot="0">
              <a:off x="0" y="0"/>
              <a:ext cx="6498336" cy="909289"/>
            </a:xfrm>
            <a:custGeom>
              <a:avLst/>
              <a:gdLst/>
              <a:ahLst/>
              <a:cxnLst/>
              <a:rect r="r" b="b" t="t" l="l"/>
              <a:pathLst>
                <a:path h="909289" w="6498336">
                  <a:moveTo>
                    <a:pt x="0" y="0"/>
                  </a:moveTo>
                  <a:lnTo>
                    <a:pt x="6498336" y="0"/>
                  </a:lnTo>
                  <a:lnTo>
                    <a:pt x="6498336" y="909289"/>
                  </a:lnTo>
                  <a:lnTo>
                    <a:pt x="0" y="909289"/>
                  </a:lnTo>
                  <a:close/>
                </a:path>
              </a:pathLst>
            </a:custGeom>
            <a:blipFill>
              <a:blip r:embed="rId3">
                <a:alphaModFix amt="0"/>
              </a:blip>
              <a:stretch>
                <a:fillRect l="0" t="-102379" r="0" b="-76124"/>
              </a:stretch>
            </a:blipFill>
          </p:spPr>
        </p:sp>
        <p:sp>
          <p:nvSpPr>
            <p:cNvPr name="TextBox 265" id="265"/>
            <p:cNvSpPr txBox="true"/>
            <p:nvPr/>
          </p:nvSpPr>
          <p:spPr>
            <a:xfrm>
              <a:off x="0" y="-66675"/>
              <a:ext cx="6498336" cy="975964"/>
            </a:xfrm>
            <a:prstGeom prst="rect">
              <a:avLst/>
            </a:prstGeom>
          </p:spPr>
          <p:txBody>
            <a:bodyPr anchor="ctr" rtlCol="false" tIns="0" lIns="0" bIns="0" rIns="0"/>
            <a:lstStyle/>
            <a:p>
              <a:pPr algn="l">
                <a:lnSpc>
                  <a:spcPts val="4079"/>
                </a:lnSpc>
              </a:pPr>
              <a:r>
                <a:rPr lang="en-US" sz="3399" b="true">
                  <a:solidFill>
                    <a:srgbClr val="1B2A4A"/>
                  </a:solidFill>
                  <a:latin typeface="Calibri (MS) Bold"/>
                  <a:ea typeface="Calibri (MS) Bold"/>
                  <a:cs typeface="Calibri (MS) Bold"/>
                  <a:sym typeface="Calibri (MS) Bold"/>
                </a:rPr>
                <a:t>Avg. Salary by Department</a:t>
              </a:r>
            </a:p>
          </p:txBody>
        </p:sp>
      </p:grpSp>
      <p:grpSp>
        <p:nvGrpSpPr>
          <p:cNvPr name="Group 266" id="266"/>
          <p:cNvGrpSpPr/>
          <p:nvPr/>
        </p:nvGrpSpPr>
        <p:grpSpPr>
          <a:xfrm rot="0">
            <a:off x="27358848" y="7744968"/>
            <a:ext cx="4928616" cy="5257800"/>
            <a:chOff x="0" y="0"/>
            <a:chExt cx="6571488" cy="7010400"/>
          </a:xfrm>
        </p:grpSpPr>
        <p:sp>
          <p:nvSpPr>
            <p:cNvPr name="Freeform 267" id="267"/>
            <p:cNvSpPr/>
            <p:nvPr/>
          </p:nvSpPr>
          <p:spPr>
            <a:xfrm flipH="false" flipV="false" rot="0">
              <a:off x="0" y="0"/>
              <a:ext cx="6571488" cy="7010400"/>
            </a:xfrm>
            <a:custGeom>
              <a:avLst/>
              <a:gdLst/>
              <a:ahLst/>
              <a:cxnLst/>
              <a:rect r="r" b="b" t="t" l="l"/>
              <a:pathLst>
                <a:path h="7010400" w="6571488">
                  <a:moveTo>
                    <a:pt x="0" y="0"/>
                  </a:moveTo>
                  <a:lnTo>
                    <a:pt x="6571488" y="0"/>
                  </a:lnTo>
                  <a:lnTo>
                    <a:pt x="6571488" y="7010400"/>
                  </a:lnTo>
                  <a:lnTo>
                    <a:pt x="0" y="7010400"/>
                  </a:lnTo>
                  <a:close/>
                </a:path>
              </a:pathLst>
            </a:custGeom>
            <a:solidFill>
              <a:srgbClr val="FFFFFF"/>
            </a:solidFill>
          </p:spPr>
        </p:sp>
      </p:grpSp>
      <p:grpSp>
        <p:nvGrpSpPr>
          <p:cNvPr name="Group 268" id="268"/>
          <p:cNvGrpSpPr/>
          <p:nvPr/>
        </p:nvGrpSpPr>
        <p:grpSpPr>
          <a:xfrm rot="0">
            <a:off x="27404568" y="8629536"/>
            <a:ext cx="4837176" cy="3488674"/>
            <a:chOff x="0" y="0"/>
            <a:chExt cx="6449568" cy="4651566"/>
          </a:xfrm>
        </p:grpSpPr>
        <p:sp>
          <p:nvSpPr>
            <p:cNvPr name="Freeform 269" id="269" descr="/home/claude/charts/chart_2_crop.png"/>
            <p:cNvSpPr/>
            <p:nvPr/>
          </p:nvSpPr>
          <p:spPr>
            <a:xfrm flipH="false" flipV="false" rot="0">
              <a:off x="0" y="0"/>
              <a:ext cx="6449568" cy="4651502"/>
            </a:xfrm>
            <a:custGeom>
              <a:avLst/>
              <a:gdLst/>
              <a:ahLst/>
              <a:cxnLst/>
              <a:rect r="r" b="b" t="t" l="l"/>
              <a:pathLst>
                <a:path h="4651502" w="6449568">
                  <a:moveTo>
                    <a:pt x="0" y="0"/>
                  </a:moveTo>
                  <a:lnTo>
                    <a:pt x="6449568" y="0"/>
                  </a:lnTo>
                  <a:lnTo>
                    <a:pt x="6449568" y="4651502"/>
                  </a:lnTo>
                  <a:lnTo>
                    <a:pt x="0" y="4651502"/>
                  </a:lnTo>
                  <a:lnTo>
                    <a:pt x="0" y="0"/>
                  </a:lnTo>
                  <a:close/>
                </a:path>
              </a:pathLst>
            </a:custGeom>
            <a:blipFill>
              <a:blip r:embed="rId5"/>
              <a:stretch>
                <a:fillRect l="0" t="0" r="0" b="-1"/>
              </a:stretch>
            </a:blipFill>
          </p:spPr>
        </p:sp>
      </p:grpSp>
      <p:sp>
        <p:nvSpPr>
          <p:cNvPr name="TextBox 270" id="270"/>
          <p:cNvSpPr txBox="true"/>
          <p:nvPr/>
        </p:nvSpPr>
        <p:spPr>
          <a:xfrm rot="0">
            <a:off x="27386280" y="12942570"/>
            <a:ext cx="4873752" cy="2925319"/>
          </a:xfrm>
          <a:prstGeom prst="rect">
            <a:avLst/>
          </a:prstGeom>
        </p:spPr>
        <p:txBody>
          <a:bodyPr anchor="t" rtlCol="false" tIns="0" lIns="0" bIns="0" rIns="0">
            <a:spAutoFit/>
          </a:bodyPr>
          <a:lstStyle/>
          <a:p>
            <a:pPr algn="l">
              <a:lnSpc>
                <a:spcPts val="5675"/>
              </a:lnSpc>
            </a:pPr>
            <a:r>
              <a:rPr lang="en-US" sz="4299" i="true">
                <a:solidFill>
                  <a:srgbClr val="455066"/>
                </a:solidFill>
                <a:latin typeface="Calibri (MS) Italics"/>
                <a:ea typeface="Calibri (MS) Italics"/>
                <a:cs typeface="Calibri (MS) Italics"/>
                <a:sym typeface="Calibri (MS) Italics"/>
              </a:rPr>
              <a:t>Marketing and HR show the strongest departmental averages.</a:t>
            </a:r>
          </a:p>
        </p:txBody>
      </p:sp>
      <p:grpSp>
        <p:nvGrpSpPr>
          <p:cNvPr name="Group 271" id="271"/>
          <p:cNvGrpSpPr/>
          <p:nvPr/>
        </p:nvGrpSpPr>
        <p:grpSpPr>
          <a:xfrm rot="0">
            <a:off x="32674303" y="7080247"/>
            <a:ext cx="5215633" cy="9659617"/>
            <a:chOff x="0" y="0"/>
            <a:chExt cx="6954177" cy="12879489"/>
          </a:xfrm>
        </p:grpSpPr>
        <p:sp>
          <p:nvSpPr>
            <p:cNvPr name="Freeform 272" id="272"/>
            <p:cNvSpPr/>
            <p:nvPr/>
          </p:nvSpPr>
          <p:spPr>
            <a:xfrm flipH="false" flipV="false" rot="0">
              <a:off x="0" y="0"/>
              <a:ext cx="6954138" cy="12879451"/>
            </a:xfrm>
            <a:custGeom>
              <a:avLst/>
              <a:gdLst/>
              <a:ahLst/>
              <a:cxnLst/>
              <a:rect r="r" b="b" t="t" l="l"/>
              <a:pathLst>
                <a:path h="12879451" w="6954138">
                  <a:moveTo>
                    <a:pt x="0" y="109982"/>
                  </a:moveTo>
                  <a:cubicBezTo>
                    <a:pt x="0" y="49276"/>
                    <a:pt x="49276" y="0"/>
                    <a:pt x="109982" y="0"/>
                  </a:cubicBezTo>
                  <a:lnTo>
                    <a:pt x="6844157" y="0"/>
                  </a:lnTo>
                  <a:cubicBezTo>
                    <a:pt x="6904863" y="0"/>
                    <a:pt x="6954138" y="49276"/>
                    <a:pt x="6954138" y="109982"/>
                  </a:cubicBezTo>
                  <a:lnTo>
                    <a:pt x="6954138" y="12769469"/>
                  </a:lnTo>
                  <a:cubicBezTo>
                    <a:pt x="6954138" y="12830175"/>
                    <a:pt x="6904863" y="12879451"/>
                    <a:pt x="6844157" y="12879451"/>
                  </a:cubicBezTo>
                  <a:lnTo>
                    <a:pt x="109982" y="12879451"/>
                  </a:lnTo>
                  <a:cubicBezTo>
                    <a:pt x="49276" y="12879451"/>
                    <a:pt x="0" y="12830175"/>
                    <a:pt x="0" y="12769469"/>
                  </a:cubicBezTo>
                  <a:close/>
                </a:path>
              </a:pathLst>
            </a:custGeom>
            <a:solidFill>
              <a:srgbClr val="FCF1DA"/>
            </a:solidFill>
            <a:ln w="12700" cap="sq">
              <a:solidFill>
                <a:srgbClr val="FFFFFF"/>
              </a:solidFill>
              <a:prstDash val="solid"/>
              <a:miter/>
            </a:ln>
          </p:spPr>
        </p:sp>
      </p:grpSp>
      <p:grpSp>
        <p:nvGrpSpPr>
          <p:cNvPr name="Group 273" id="273"/>
          <p:cNvGrpSpPr/>
          <p:nvPr/>
        </p:nvGrpSpPr>
        <p:grpSpPr>
          <a:xfrm rot="0">
            <a:off x="32845248" y="7214616"/>
            <a:ext cx="4873752" cy="681967"/>
            <a:chOff x="0" y="0"/>
            <a:chExt cx="6498336" cy="909289"/>
          </a:xfrm>
        </p:grpSpPr>
        <p:sp>
          <p:nvSpPr>
            <p:cNvPr name="Freeform 274" id="274"/>
            <p:cNvSpPr/>
            <p:nvPr/>
          </p:nvSpPr>
          <p:spPr>
            <a:xfrm flipH="false" flipV="false" rot="0">
              <a:off x="0" y="0"/>
              <a:ext cx="6498336" cy="909289"/>
            </a:xfrm>
            <a:custGeom>
              <a:avLst/>
              <a:gdLst/>
              <a:ahLst/>
              <a:cxnLst/>
              <a:rect r="r" b="b" t="t" l="l"/>
              <a:pathLst>
                <a:path h="909289" w="6498336">
                  <a:moveTo>
                    <a:pt x="0" y="0"/>
                  </a:moveTo>
                  <a:lnTo>
                    <a:pt x="6498336" y="0"/>
                  </a:lnTo>
                  <a:lnTo>
                    <a:pt x="6498336" y="909289"/>
                  </a:lnTo>
                  <a:lnTo>
                    <a:pt x="0" y="909289"/>
                  </a:lnTo>
                  <a:close/>
                </a:path>
              </a:pathLst>
            </a:custGeom>
            <a:blipFill>
              <a:blip r:embed="rId3">
                <a:alphaModFix amt="0"/>
              </a:blip>
              <a:stretch>
                <a:fillRect l="0" t="-102379" r="0" b="-76124"/>
              </a:stretch>
            </a:blipFill>
          </p:spPr>
        </p:sp>
        <p:sp>
          <p:nvSpPr>
            <p:cNvPr name="TextBox 275" id="275"/>
            <p:cNvSpPr txBox="true"/>
            <p:nvPr/>
          </p:nvSpPr>
          <p:spPr>
            <a:xfrm>
              <a:off x="0" y="-66675"/>
              <a:ext cx="6498336" cy="975964"/>
            </a:xfrm>
            <a:prstGeom prst="rect">
              <a:avLst/>
            </a:prstGeom>
          </p:spPr>
          <p:txBody>
            <a:bodyPr anchor="ctr" rtlCol="false" tIns="0" lIns="0" bIns="0" rIns="0"/>
            <a:lstStyle/>
            <a:p>
              <a:pPr algn="l">
                <a:lnSpc>
                  <a:spcPts val="4079"/>
                </a:lnSpc>
              </a:pPr>
              <a:r>
                <a:rPr lang="en-US" sz="3399" b="true">
                  <a:solidFill>
                    <a:srgbClr val="1B2A4A"/>
                  </a:solidFill>
                  <a:latin typeface="Calibri (MS) Bold"/>
                  <a:ea typeface="Calibri (MS) Bold"/>
                  <a:cs typeface="Calibri (MS) Bold"/>
                  <a:sym typeface="Calibri (MS) Bold"/>
                </a:rPr>
                <a:t>Experience vs. Salary</a:t>
              </a:r>
            </a:p>
          </p:txBody>
        </p:sp>
      </p:grpSp>
      <p:grpSp>
        <p:nvGrpSpPr>
          <p:cNvPr name="Group 276" id="276"/>
          <p:cNvGrpSpPr/>
          <p:nvPr/>
        </p:nvGrpSpPr>
        <p:grpSpPr>
          <a:xfrm rot="0">
            <a:off x="32817816" y="7744968"/>
            <a:ext cx="4928616" cy="5257800"/>
            <a:chOff x="0" y="0"/>
            <a:chExt cx="6571488" cy="7010400"/>
          </a:xfrm>
        </p:grpSpPr>
        <p:sp>
          <p:nvSpPr>
            <p:cNvPr name="Freeform 277" id="277"/>
            <p:cNvSpPr/>
            <p:nvPr/>
          </p:nvSpPr>
          <p:spPr>
            <a:xfrm flipH="false" flipV="false" rot="0">
              <a:off x="0" y="0"/>
              <a:ext cx="6571488" cy="7010400"/>
            </a:xfrm>
            <a:custGeom>
              <a:avLst/>
              <a:gdLst/>
              <a:ahLst/>
              <a:cxnLst/>
              <a:rect r="r" b="b" t="t" l="l"/>
              <a:pathLst>
                <a:path h="7010400" w="6571488">
                  <a:moveTo>
                    <a:pt x="0" y="0"/>
                  </a:moveTo>
                  <a:lnTo>
                    <a:pt x="6571488" y="0"/>
                  </a:lnTo>
                  <a:lnTo>
                    <a:pt x="6571488" y="7010400"/>
                  </a:lnTo>
                  <a:lnTo>
                    <a:pt x="0" y="7010400"/>
                  </a:lnTo>
                  <a:close/>
                </a:path>
              </a:pathLst>
            </a:custGeom>
            <a:solidFill>
              <a:srgbClr val="FFFFFF"/>
            </a:solidFill>
          </p:spPr>
        </p:sp>
      </p:grpSp>
      <p:grpSp>
        <p:nvGrpSpPr>
          <p:cNvPr name="Group 278" id="278"/>
          <p:cNvGrpSpPr/>
          <p:nvPr/>
        </p:nvGrpSpPr>
        <p:grpSpPr>
          <a:xfrm rot="0">
            <a:off x="32863536" y="8797261"/>
            <a:ext cx="4837176" cy="3153223"/>
            <a:chOff x="0" y="0"/>
            <a:chExt cx="6449568" cy="4204297"/>
          </a:xfrm>
        </p:grpSpPr>
        <p:sp>
          <p:nvSpPr>
            <p:cNvPr name="Freeform 279" id="279" descr="/home/claude/charts/chart_3_crop.png"/>
            <p:cNvSpPr/>
            <p:nvPr/>
          </p:nvSpPr>
          <p:spPr>
            <a:xfrm flipH="false" flipV="false" rot="0">
              <a:off x="0" y="0"/>
              <a:ext cx="6449568" cy="4204335"/>
            </a:xfrm>
            <a:custGeom>
              <a:avLst/>
              <a:gdLst/>
              <a:ahLst/>
              <a:cxnLst/>
              <a:rect r="r" b="b" t="t" l="l"/>
              <a:pathLst>
                <a:path h="4204335" w="6449568">
                  <a:moveTo>
                    <a:pt x="0" y="0"/>
                  </a:moveTo>
                  <a:lnTo>
                    <a:pt x="6449568" y="0"/>
                  </a:lnTo>
                  <a:lnTo>
                    <a:pt x="6449568" y="4204335"/>
                  </a:lnTo>
                  <a:lnTo>
                    <a:pt x="0" y="4204335"/>
                  </a:lnTo>
                  <a:lnTo>
                    <a:pt x="0" y="0"/>
                  </a:lnTo>
                  <a:close/>
                </a:path>
              </a:pathLst>
            </a:custGeom>
            <a:blipFill>
              <a:blip r:embed="rId6"/>
              <a:stretch>
                <a:fillRect l="0" t="0" r="0" b="0"/>
              </a:stretch>
            </a:blipFill>
          </p:spPr>
        </p:sp>
      </p:grpSp>
      <p:sp>
        <p:nvSpPr>
          <p:cNvPr name="TextBox 280" id="280"/>
          <p:cNvSpPr txBox="true"/>
          <p:nvPr/>
        </p:nvSpPr>
        <p:spPr>
          <a:xfrm rot="0">
            <a:off x="32845248" y="12923520"/>
            <a:ext cx="4873752" cy="2423923"/>
          </a:xfrm>
          <a:prstGeom prst="rect">
            <a:avLst/>
          </a:prstGeom>
        </p:spPr>
        <p:txBody>
          <a:bodyPr anchor="t" rtlCol="false" tIns="0" lIns="0" bIns="0" rIns="0">
            <a:spAutoFit/>
          </a:bodyPr>
          <a:lstStyle/>
          <a:p>
            <a:pPr algn="l">
              <a:lnSpc>
                <a:spcPts val="6203"/>
              </a:lnSpc>
            </a:pPr>
            <a:r>
              <a:rPr lang="en-US" sz="4699" i="true">
                <a:solidFill>
                  <a:srgbClr val="455066"/>
                </a:solidFill>
                <a:latin typeface="Calibri (MS) Italics"/>
                <a:ea typeface="Calibri (MS) Italics"/>
                <a:cs typeface="Calibri (MS) Italics"/>
                <a:sym typeface="Calibri (MS) Italics"/>
              </a:rPr>
              <a:t>Salary tends to increase with years of experience.</a:t>
            </a:r>
          </a:p>
        </p:txBody>
      </p:sp>
      <p:grpSp>
        <p:nvGrpSpPr>
          <p:cNvPr name="Group 281" id="281"/>
          <p:cNvGrpSpPr/>
          <p:nvPr/>
        </p:nvGrpSpPr>
        <p:grpSpPr>
          <a:xfrm rot="0">
            <a:off x="38133271" y="7080247"/>
            <a:ext cx="5215633" cy="9659617"/>
            <a:chOff x="0" y="0"/>
            <a:chExt cx="6954177" cy="12879489"/>
          </a:xfrm>
        </p:grpSpPr>
        <p:sp>
          <p:nvSpPr>
            <p:cNvPr name="Freeform 282" id="282"/>
            <p:cNvSpPr/>
            <p:nvPr/>
          </p:nvSpPr>
          <p:spPr>
            <a:xfrm flipH="false" flipV="false" rot="0">
              <a:off x="0" y="0"/>
              <a:ext cx="6954138" cy="12879451"/>
            </a:xfrm>
            <a:custGeom>
              <a:avLst/>
              <a:gdLst/>
              <a:ahLst/>
              <a:cxnLst/>
              <a:rect r="r" b="b" t="t" l="l"/>
              <a:pathLst>
                <a:path h="12879451" w="6954138">
                  <a:moveTo>
                    <a:pt x="0" y="109982"/>
                  </a:moveTo>
                  <a:cubicBezTo>
                    <a:pt x="0" y="49276"/>
                    <a:pt x="49276" y="0"/>
                    <a:pt x="109982" y="0"/>
                  </a:cubicBezTo>
                  <a:lnTo>
                    <a:pt x="6844157" y="0"/>
                  </a:lnTo>
                  <a:cubicBezTo>
                    <a:pt x="6904863" y="0"/>
                    <a:pt x="6954138" y="49276"/>
                    <a:pt x="6954138" y="109982"/>
                  </a:cubicBezTo>
                  <a:lnTo>
                    <a:pt x="6954138" y="12769469"/>
                  </a:lnTo>
                  <a:cubicBezTo>
                    <a:pt x="6954138" y="12830175"/>
                    <a:pt x="6904863" y="12879451"/>
                    <a:pt x="6844157" y="12879451"/>
                  </a:cubicBezTo>
                  <a:lnTo>
                    <a:pt x="109982" y="12879451"/>
                  </a:lnTo>
                  <a:cubicBezTo>
                    <a:pt x="49276" y="12879451"/>
                    <a:pt x="0" y="12830175"/>
                    <a:pt x="0" y="12769469"/>
                  </a:cubicBezTo>
                  <a:close/>
                </a:path>
              </a:pathLst>
            </a:custGeom>
            <a:solidFill>
              <a:srgbClr val="E1F5EA"/>
            </a:solidFill>
            <a:ln w="12700" cap="sq">
              <a:solidFill>
                <a:srgbClr val="FFFFFF"/>
              </a:solidFill>
              <a:prstDash val="solid"/>
              <a:miter/>
            </a:ln>
          </p:spPr>
        </p:sp>
      </p:grpSp>
      <p:grpSp>
        <p:nvGrpSpPr>
          <p:cNvPr name="Group 283" id="283"/>
          <p:cNvGrpSpPr/>
          <p:nvPr/>
        </p:nvGrpSpPr>
        <p:grpSpPr>
          <a:xfrm rot="0">
            <a:off x="38304216" y="7214616"/>
            <a:ext cx="4873752" cy="657987"/>
            <a:chOff x="0" y="0"/>
            <a:chExt cx="6498336" cy="877316"/>
          </a:xfrm>
        </p:grpSpPr>
        <p:sp>
          <p:nvSpPr>
            <p:cNvPr name="Freeform 284" id="284"/>
            <p:cNvSpPr/>
            <p:nvPr/>
          </p:nvSpPr>
          <p:spPr>
            <a:xfrm flipH="false" flipV="false" rot="0">
              <a:off x="0" y="0"/>
              <a:ext cx="6498336" cy="877316"/>
            </a:xfrm>
            <a:custGeom>
              <a:avLst/>
              <a:gdLst/>
              <a:ahLst/>
              <a:cxnLst/>
              <a:rect r="r" b="b" t="t" l="l"/>
              <a:pathLst>
                <a:path h="877316" w="6498336">
                  <a:moveTo>
                    <a:pt x="0" y="0"/>
                  </a:moveTo>
                  <a:lnTo>
                    <a:pt x="6498336" y="0"/>
                  </a:lnTo>
                  <a:lnTo>
                    <a:pt x="6498336" y="877316"/>
                  </a:lnTo>
                  <a:lnTo>
                    <a:pt x="0" y="877316"/>
                  </a:lnTo>
                  <a:close/>
                </a:path>
              </a:pathLst>
            </a:custGeom>
            <a:blipFill>
              <a:blip r:embed="rId3">
                <a:alphaModFix amt="0"/>
              </a:blip>
              <a:stretch>
                <a:fillRect l="0" t="-106110" r="0" b="-82543"/>
              </a:stretch>
            </a:blipFill>
          </p:spPr>
        </p:sp>
        <p:sp>
          <p:nvSpPr>
            <p:cNvPr name="TextBox 285" id="285"/>
            <p:cNvSpPr txBox="true"/>
            <p:nvPr/>
          </p:nvSpPr>
          <p:spPr>
            <a:xfrm>
              <a:off x="0" y="-66675"/>
              <a:ext cx="6498336" cy="943991"/>
            </a:xfrm>
            <a:prstGeom prst="rect">
              <a:avLst/>
            </a:prstGeom>
          </p:spPr>
          <p:txBody>
            <a:bodyPr anchor="ctr" rtlCol="false" tIns="0" lIns="0" bIns="0" rIns="0"/>
            <a:lstStyle/>
            <a:p>
              <a:pPr algn="l">
                <a:lnSpc>
                  <a:spcPts val="3959"/>
                </a:lnSpc>
              </a:pPr>
              <a:r>
                <a:rPr lang="en-US" sz="3299" b="true">
                  <a:solidFill>
                    <a:srgbClr val="1B2A4A"/>
                  </a:solidFill>
                  <a:latin typeface="Calibri (MS) Bold"/>
                  <a:ea typeface="Calibri (MS) Bold"/>
                  <a:cs typeface="Calibri (MS) Bold"/>
                  <a:sym typeface="Calibri (MS) Bold"/>
                </a:rPr>
                <a:t>Salary by Education</a:t>
              </a:r>
            </a:p>
          </p:txBody>
        </p:sp>
      </p:grpSp>
      <p:grpSp>
        <p:nvGrpSpPr>
          <p:cNvPr name="Group 286" id="286"/>
          <p:cNvGrpSpPr/>
          <p:nvPr/>
        </p:nvGrpSpPr>
        <p:grpSpPr>
          <a:xfrm rot="0">
            <a:off x="38276784" y="7744968"/>
            <a:ext cx="4928616" cy="5257800"/>
            <a:chOff x="0" y="0"/>
            <a:chExt cx="6571488" cy="7010400"/>
          </a:xfrm>
        </p:grpSpPr>
        <p:sp>
          <p:nvSpPr>
            <p:cNvPr name="Freeform 287" id="287"/>
            <p:cNvSpPr/>
            <p:nvPr/>
          </p:nvSpPr>
          <p:spPr>
            <a:xfrm flipH="false" flipV="false" rot="0">
              <a:off x="0" y="0"/>
              <a:ext cx="6571488" cy="7010400"/>
            </a:xfrm>
            <a:custGeom>
              <a:avLst/>
              <a:gdLst/>
              <a:ahLst/>
              <a:cxnLst/>
              <a:rect r="r" b="b" t="t" l="l"/>
              <a:pathLst>
                <a:path h="7010400" w="6571488">
                  <a:moveTo>
                    <a:pt x="0" y="0"/>
                  </a:moveTo>
                  <a:lnTo>
                    <a:pt x="6571488" y="0"/>
                  </a:lnTo>
                  <a:lnTo>
                    <a:pt x="6571488" y="7010400"/>
                  </a:lnTo>
                  <a:lnTo>
                    <a:pt x="0" y="7010400"/>
                  </a:lnTo>
                  <a:close/>
                </a:path>
              </a:pathLst>
            </a:custGeom>
            <a:solidFill>
              <a:srgbClr val="FFFFFF"/>
            </a:solidFill>
          </p:spPr>
        </p:sp>
      </p:grpSp>
      <p:grpSp>
        <p:nvGrpSpPr>
          <p:cNvPr name="Group 288" id="288"/>
          <p:cNvGrpSpPr/>
          <p:nvPr/>
        </p:nvGrpSpPr>
        <p:grpSpPr>
          <a:xfrm rot="0">
            <a:off x="38322504" y="8803967"/>
            <a:ext cx="4837176" cy="3139802"/>
            <a:chOff x="0" y="0"/>
            <a:chExt cx="6449568" cy="4186403"/>
          </a:xfrm>
        </p:grpSpPr>
        <p:sp>
          <p:nvSpPr>
            <p:cNvPr name="Freeform 289" id="289" descr="/home/claude/charts/chart_4_crop.png"/>
            <p:cNvSpPr/>
            <p:nvPr/>
          </p:nvSpPr>
          <p:spPr>
            <a:xfrm flipH="false" flipV="false" rot="0">
              <a:off x="0" y="0"/>
              <a:ext cx="6449568" cy="4186428"/>
            </a:xfrm>
            <a:custGeom>
              <a:avLst/>
              <a:gdLst/>
              <a:ahLst/>
              <a:cxnLst/>
              <a:rect r="r" b="b" t="t" l="l"/>
              <a:pathLst>
                <a:path h="4186428" w="6449568">
                  <a:moveTo>
                    <a:pt x="0" y="0"/>
                  </a:moveTo>
                  <a:lnTo>
                    <a:pt x="6449568" y="0"/>
                  </a:lnTo>
                  <a:lnTo>
                    <a:pt x="6449568" y="4186428"/>
                  </a:lnTo>
                  <a:lnTo>
                    <a:pt x="0" y="4186428"/>
                  </a:lnTo>
                  <a:lnTo>
                    <a:pt x="0" y="0"/>
                  </a:lnTo>
                  <a:close/>
                </a:path>
              </a:pathLst>
            </a:custGeom>
            <a:blipFill>
              <a:blip r:embed="rId7"/>
              <a:stretch>
                <a:fillRect l="0" t="0" r="0" b="0"/>
              </a:stretch>
            </a:blipFill>
          </p:spPr>
        </p:sp>
      </p:grpSp>
      <p:sp>
        <p:nvSpPr>
          <p:cNvPr name="TextBox 290" id="290"/>
          <p:cNvSpPr txBox="true"/>
          <p:nvPr/>
        </p:nvSpPr>
        <p:spPr>
          <a:xfrm rot="0">
            <a:off x="38304216" y="12942570"/>
            <a:ext cx="4873752" cy="2128267"/>
          </a:xfrm>
          <a:prstGeom prst="rect">
            <a:avLst/>
          </a:prstGeom>
        </p:spPr>
        <p:txBody>
          <a:bodyPr anchor="t" rtlCol="false" tIns="0" lIns="0" bIns="0" rIns="0">
            <a:spAutoFit/>
          </a:bodyPr>
          <a:lstStyle/>
          <a:p>
            <a:pPr algn="l">
              <a:lnSpc>
                <a:spcPts val="5411"/>
              </a:lnSpc>
            </a:pPr>
            <a:r>
              <a:rPr lang="en-US" sz="4099" i="true">
                <a:solidFill>
                  <a:srgbClr val="455066"/>
                </a:solidFill>
                <a:latin typeface="Calibri (MS) Italics"/>
                <a:ea typeface="Calibri (MS) Italics"/>
                <a:cs typeface="Calibri (MS) Italics"/>
                <a:sym typeface="Calibri (MS) Italics"/>
              </a:rPr>
              <a:t>Higher qualifications generally earn higher salaries.</a:t>
            </a:r>
          </a:p>
        </p:txBody>
      </p:sp>
      <p:grpSp>
        <p:nvGrpSpPr>
          <p:cNvPr name="Group 291" id="291"/>
          <p:cNvGrpSpPr/>
          <p:nvPr/>
        </p:nvGrpSpPr>
        <p:grpSpPr>
          <a:xfrm rot="0">
            <a:off x="21756367" y="16983199"/>
            <a:ext cx="5215633" cy="9692440"/>
            <a:chOff x="0" y="0"/>
            <a:chExt cx="6954177" cy="12923253"/>
          </a:xfrm>
        </p:grpSpPr>
        <p:sp>
          <p:nvSpPr>
            <p:cNvPr name="Freeform 292" id="292"/>
            <p:cNvSpPr/>
            <p:nvPr/>
          </p:nvSpPr>
          <p:spPr>
            <a:xfrm flipH="false" flipV="false" rot="0">
              <a:off x="0" y="0"/>
              <a:ext cx="6954138" cy="12923266"/>
            </a:xfrm>
            <a:custGeom>
              <a:avLst/>
              <a:gdLst/>
              <a:ahLst/>
              <a:cxnLst/>
              <a:rect r="r" b="b" t="t" l="l"/>
              <a:pathLst>
                <a:path h="12923266" w="6954138">
                  <a:moveTo>
                    <a:pt x="0" y="109982"/>
                  </a:moveTo>
                  <a:cubicBezTo>
                    <a:pt x="0" y="49276"/>
                    <a:pt x="49276" y="0"/>
                    <a:pt x="109982" y="0"/>
                  </a:cubicBezTo>
                  <a:lnTo>
                    <a:pt x="6844157" y="0"/>
                  </a:lnTo>
                  <a:cubicBezTo>
                    <a:pt x="6904863" y="0"/>
                    <a:pt x="6954138" y="49276"/>
                    <a:pt x="6954138" y="109982"/>
                  </a:cubicBezTo>
                  <a:lnTo>
                    <a:pt x="6954138" y="12813284"/>
                  </a:lnTo>
                  <a:cubicBezTo>
                    <a:pt x="6954138" y="12873990"/>
                    <a:pt x="6904863" y="12923266"/>
                    <a:pt x="6844157" y="12923266"/>
                  </a:cubicBezTo>
                  <a:lnTo>
                    <a:pt x="109982" y="12923266"/>
                  </a:lnTo>
                  <a:cubicBezTo>
                    <a:pt x="49276" y="12923266"/>
                    <a:pt x="0" y="12873990"/>
                    <a:pt x="0" y="12813284"/>
                  </a:cubicBezTo>
                  <a:close/>
                </a:path>
              </a:pathLst>
            </a:custGeom>
            <a:solidFill>
              <a:srgbClr val="E2ECF9"/>
            </a:solidFill>
            <a:ln w="12700" cap="sq">
              <a:solidFill>
                <a:srgbClr val="FFFFFF"/>
              </a:solidFill>
              <a:prstDash val="solid"/>
              <a:miter/>
            </a:ln>
          </p:spPr>
        </p:sp>
      </p:grpSp>
      <p:grpSp>
        <p:nvGrpSpPr>
          <p:cNvPr name="Group 293" id="293"/>
          <p:cNvGrpSpPr/>
          <p:nvPr/>
        </p:nvGrpSpPr>
        <p:grpSpPr>
          <a:xfrm rot="0">
            <a:off x="21927312" y="17117568"/>
            <a:ext cx="4873752" cy="657987"/>
            <a:chOff x="0" y="0"/>
            <a:chExt cx="6498336" cy="877316"/>
          </a:xfrm>
        </p:grpSpPr>
        <p:sp>
          <p:nvSpPr>
            <p:cNvPr name="Freeform 294" id="294"/>
            <p:cNvSpPr/>
            <p:nvPr/>
          </p:nvSpPr>
          <p:spPr>
            <a:xfrm flipH="false" flipV="false" rot="0">
              <a:off x="0" y="0"/>
              <a:ext cx="6498336" cy="877316"/>
            </a:xfrm>
            <a:custGeom>
              <a:avLst/>
              <a:gdLst/>
              <a:ahLst/>
              <a:cxnLst/>
              <a:rect r="r" b="b" t="t" l="l"/>
              <a:pathLst>
                <a:path h="877316" w="6498336">
                  <a:moveTo>
                    <a:pt x="0" y="0"/>
                  </a:moveTo>
                  <a:lnTo>
                    <a:pt x="6498336" y="0"/>
                  </a:lnTo>
                  <a:lnTo>
                    <a:pt x="6498336" y="877316"/>
                  </a:lnTo>
                  <a:lnTo>
                    <a:pt x="0" y="877316"/>
                  </a:lnTo>
                  <a:close/>
                </a:path>
              </a:pathLst>
            </a:custGeom>
            <a:blipFill>
              <a:blip r:embed="rId3">
                <a:alphaModFix amt="0"/>
              </a:blip>
              <a:stretch>
                <a:fillRect l="0" t="-106110" r="0" b="-82543"/>
              </a:stretch>
            </a:blipFill>
          </p:spPr>
        </p:sp>
        <p:sp>
          <p:nvSpPr>
            <p:cNvPr name="TextBox 295" id="295"/>
            <p:cNvSpPr txBox="true"/>
            <p:nvPr/>
          </p:nvSpPr>
          <p:spPr>
            <a:xfrm>
              <a:off x="0" y="-66675"/>
              <a:ext cx="6498336" cy="943991"/>
            </a:xfrm>
            <a:prstGeom prst="rect">
              <a:avLst/>
            </a:prstGeom>
          </p:spPr>
          <p:txBody>
            <a:bodyPr anchor="ctr" rtlCol="false" tIns="0" lIns="0" bIns="0" rIns="0"/>
            <a:lstStyle/>
            <a:p>
              <a:pPr algn="l">
                <a:lnSpc>
                  <a:spcPts val="3959"/>
                </a:lnSpc>
              </a:pPr>
              <a:r>
                <a:rPr lang="en-US" sz="3299" b="true">
                  <a:solidFill>
                    <a:srgbClr val="1B2A4A"/>
                  </a:solidFill>
                  <a:latin typeface="Calibri (MS) Bold"/>
                  <a:ea typeface="Calibri (MS) Bold"/>
                  <a:cs typeface="Calibri (MS) Bold"/>
                  <a:sym typeface="Calibri (MS) Bold"/>
                </a:rPr>
                <a:t>Gender Distribution</a:t>
              </a:r>
            </a:p>
          </p:txBody>
        </p:sp>
      </p:grpSp>
      <p:grpSp>
        <p:nvGrpSpPr>
          <p:cNvPr name="Group 296" id="296"/>
          <p:cNvGrpSpPr/>
          <p:nvPr/>
        </p:nvGrpSpPr>
        <p:grpSpPr>
          <a:xfrm rot="0">
            <a:off x="21899880" y="17647920"/>
            <a:ext cx="4928616" cy="5257800"/>
            <a:chOff x="0" y="0"/>
            <a:chExt cx="6571488" cy="7010400"/>
          </a:xfrm>
        </p:grpSpPr>
        <p:sp>
          <p:nvSpPr>
            <p:cNvPr name="Freeform 297" id="297"/>
            <p:cNvSpPr/>
            <p:nvPr/>
          </p:nvSpPr>
          <p:spPr>
            <a:xfrm flipH="false" flipV="false" rot="0">
              <a:off x="0" y="0"/>
              <a:ext cx="6571488" cy="7010400"/>
            </a:xfrm>
            <a:custGeom>
              <a:avLst/>
              <a:gdLst/>
              <a:ahLst/>
              <a:cxnLst/>
              <a:rect r="r" b="b" t="t" l="l"/>
              <a:pathLst>
                <a:path h="7010400" w="6571488">
                  <a:moveTo>
                    <a:pt x="0" y="0"/>
                  </a:moveTo>
                  <a:lnTo>
                    <a:pt x="6571488" y="0"/>
                  </a:lnTo>
                  <a:lnTo>
                    <a:pt x="6571488" y="7010400"/>
                  </a:lnTo>
                  <a:lnTo>
                    <a:pt x="0" y="7010400"/>
                  </a:lnTo>
                  <a:close/>
                </a:path>
              </a:pathLst>
            </a:custGeom>
            <a:solidFill>
              <a:srgbClr val="FFFFFF"/>
            </a:solidFill>
          </p:spPr>
        </p:sp>
      </p:grpSp>
      <p:grpSp>
        <p:nvGrpSpPr>
          <p:cNvPr name="Group 298" id="298"/>
          <p:cNvGrpSpPr/>
          <p:nvPr/>
        </p:nvGrpSpPr>
        <p:grpSpPr>
          <a:xfrm rot="0">
            <a:off x="21945600" y="17990820"/>
            <a:ext cx="4837176" cy="5120640"/>
            <a:chOff x="0" y="0"/>
            <a:chExt cx="6449568" cy="6827520"/>
          </a:xfrm>
        </p:grpSpPr>
        <p:sp>
          <p:nvSpPr>
            <p:cNvPr name="Freeform 299" id="299" descr="/home/claude/charts/chart_5_crop.png"/>
            <p:cNvSpPr/>
            <p:nvPr/>
          </p:nvSpPr>
          <p:spPr>
            <a:xfrm flipH="false" flipV="false" rot="0">
              <a:off x="0" y="0"/>
              <a:ext cx="6449568" cy="6827520"/>
            </a:xfrm>
            <a:custGeom>
              <a:avLst/>
              <a:gdLst/>
              <a:ahLst/>
              <a:cxnLst/>
              <a:rect r="r" b="b" t="t" l="l"/>
              <a:pathLst>
                <a:path h="6827520" w="6449568">
                  <a:moveTo>
                    <a:pt x="0" y="0"/>
                  </a:moveTo>
                  <a:lnTo>
                    <a:pt x="6449568" y="0"/>
                  </a:lnTo>
                  <a:lnTo>
                    <a:pt x="6449568" y="6827520"/>
                  </a:lnTo>
                  <a:lnTo>
                    <a:pt x="0" y="6827520"/>
                  </a:lnTo>
                  <a:lnTo>
                    <a:pt x="0" y="0"/>
                  </a:lnTo>
                  <a:close/>
                </a:path>
              </a:pathLst>
            </a:custGeom>
            <a:blipFill>
              <a:blip r:embed="rId8"/>
              <a:stretch>
                <a:fillRect l="0" t="-8010" r="0" b="-8010"/>
              </a:stretch>
            </a:blipFill>
          </p:spPr>
        </p:sp>
      </p:grpSp>
      <p:sp>
        <p:nvSpPr>
          <p:cNvPr name="TextBox 300" id="300"/>
          <p:cNvSpPr txBox="true"/>
          <p:nvPr/>
        </p:nvSpPr>
        <p:spPr>
          <a:xfrm rot="0">
            <a:off x="21927312" y="23458170"/>
            <a:ext cx="4873752" cy="2128267"/>
          </a:xfrm>
          <a:prstGeom prst="rect">
            <a:avLst/>
          </a:prstGeom>
        </p:spPr>
        <p:txBody>
          <a:bodyPr anchor="t" rtlCol="false" tIns="0" lIns="0" bIns="0" rIns="0">
            <a:spAutoFit/>
          </a:bodyPr>
          <a:lstStyle/>
          <a:p>
            <a:pPr algn="l">
              <a:lnSpc>
                <a:spcPts val="5411"/>
              </a:lnSpc>
            </a:pPr>
            <a:r>
              <a:rPr lang="en-US" sz="4099" i="true">
                <a:solidFill>
                  <a:srgbClr val="455066"/>
                </a:solidFill>
                <a:latin typeface="Calibri (MS) Italics"/>
                <a:ea typeface="Calibri (MS) Italics"/>
                <a:cs typeface="Calibri (MS) Italics"/>
                <a:sym typeface="Calibri (MS) Italics"/>
              </a:rPr>
              <a:t>Balanced representation: 54% female, 46% male.</a:t>
            </a:r>
          </a:p>
        </p:txBody>
      </p:sp>
      <p:grpSp>
        <p:nvGrpSpPr>
          <p:cNvPr name="Group 301" id="301"/>
          <p:cNvGrpSpPr/>
          <p:nvPr/>
        </p:nvGrpSpPr>
        <p:grpSpPr>
          <a:xfrm rot="0">
            <a:off x="27215335" y="16983199"/>
            <a:ext cx="5215633" cy="9692440"/>
            <a:chOff x="0" y="0"/>
            <a:chExt cx="6954177" cy="12923253"/>
          </a:xfrm>
        </p:grpSpPr>
        <p:sp>
          <p:nvSpPr>
            <p:cNvPr name="Freeform 302" id="302"/>
            <p:cNvSpPr/>
            <p:nvPr/>
          </p:nvSpPr>
          <p:spPr>
            <a:xfrm flipH="false" flipV="false" rot="0">
              <a:off x="0" y="0"/>
              <a:ext cx="6954138" cy="12923266"/>
            </a:xfrm>
            <a:custGeom>
              <a:avLst/>
              <a:gdLst/>
              <a:ahLst/>
              <a:cxnLst/>
              <a:rect r="r" b="b" t="t" l="l"/>
              <a:pathLst>
                <a:path h="12923266" w="6954138">
                  <a:moveTo>
                    <a:pt x="0" y="109982"/>
                  </a:moveTo>
                  <a:cubicBezTo>
                    <a:pt x="0" y="49276"/>
                    <a:pt x="49276" y="0"/>
                    <a:pt x="109982" y="0"/>
                  </a:cubicBezTo>
                  <a:lnTo>
                    <a:pt x="6844157" y="0"/>
                  </a:lnTo>
                  <a:cubicBezTo>
                    <a:pt x="6904863" y="0"/>
                    <a:pt x="6954138" y="49276"/>
                    <a:pt x="6954138" y="109982"/>
                  </a:cubicBezTo>
                  <a:lnTo>
                    <a:pt x="6954138" y="12813284"/>
                  </a:lnTo>
                  <a:cubicBezTo>
                    <a:pt x="6954138" y="12873990"/>
                    <a:pt x="6904863" y="12923266"/>
                    <a:pt x="6844157" y="12923266"/>
                  </a:cubicBezTo>
                  <a:lnTo>
                    <a:pt x="109982" y="12923266"/>
                  </a:lnTo>
                  <a:cubicBezTo>
                    <a:pt x="49276" y="12923266"/>
                    <a:pt x="0" y="12873990"/>
                    <a:pt x="0" y="12813284"/>
                  </a:cubicBezTo>
                  <a:close/>
                </a:path>
              </a:pathLst>
            </a:custGeom>
            <a:solidFill>
              <a:srgbClr val="FBE3EE"/>
            </a:solidFill>
            <a:ln w="12700" cap="sq">
              <a:solidFill>
                <a:srgbClr val="FFFFFF"/>
              </a:solidFill>
              <a:prstDash val="solid"/>
              <a:miter/>
            </a:ln>
          </p:spPr>
        </p:sp>
      </p:grpSp>
      <p:grpSp>
        <p:nvGrpSpPr>
          <p:cNvPr name="Group 303" id="303"/>
          <p:cNvGrpSpPr/>
          <p:nvPr/>
        </p:nvGrpSpPr>
        <p:grpSpPr>
          <a:xfrm rot="0">
            <a:off x="27386280" y="17117568"/>
            <a:ext cx="4873752" cy="696422"/>
            <a:chOff x="0" y="0"/>
            <a:chExt cx="6498336" cy="928562"/>
          </a:xfrm>
        </p:grpSpPr>
        <p:sp>
          <p:nvSpPr>
            <p:cNvPr name="Freeform 304" id="304"/>
            <p:cNvSpPr/>
            <p:nvPr/>
          </p:nvSpPr>
          <p:spPr>
            <a:xfrm flipH="false" flipV="false" rot="0">
              <a:off x="0" y="0"/>
              <a:ext cx="6498336" cy="928562"/>
            </a:xfrm>
            <a:custGeom>
              <a:avLst/>
              <a:gdLst/>
              <a:ahLst/>
              <a:cxnLst/>
              <a:rect r="r" b="b" t="t" l="l"/>
              <a:pathLst>
                <a:path h="928562" w="6498336">
                  <a:moveTo>
                    <a:pt x="0" y="0"/>
                  </a:moveTo>
                  <a:lnTo>
                    <a:pt x="6498336" y="0"/>
                  </a:lnTo>
                  <a:lnTo>
                    <a:pt x="6498336" y="928562"/>
                  </a:lnTo>
                  <a:lnTo>
                    <a:pt x="0" y="928562"/>
                  </a:lnTo>
                  <a:close/>
                </a:path>
              </a:pathLst>
            </a:custGeom>
            <a:blipFill>
              <a:blip r:embed="rId3">
                <a:alphaModFix amt="0"/>
              </a:blip>
              <a:stretch>
                <a:fillRect l="0" t="-100254" r="0" b="-72469"/>
              </a:stretch>
            </a:blipFill>
          </p:spPr>
        </p:sp>
        <p:sp>
          <p:nvSpPr>
            <p:cNvPr name="TextBox 305" id="305"/>
            <p:cNvSpPr txBox="true"/>
            <p:nvPr/>
          </p:nvSpPr>
          <p:spPr>
            <a:xfrm>
              <a:off x="0" y="-66675"/>
              <a:ext cx="6498336" cy="995237"/>
            </a:xfrm>
            <a:prstGeom prst="rect">
              <a:avLst/>
            </a:prstGeom>
          </p:spPr>
          <p:txBody>
            <a:bodyPr anchor="ctr" rtlCol="false" tIns="0" lIns="0" bIns="0" rIns="0"/>
            <a:lstStyle/>
            <a:p>
              <a:pPr algn="l">
                <a:lnSpc>
                  <a:spcPts val="4199"/>
                </a:lnSpc>
              </a:pPr>
              <a:r>
                <a:rPr lang="en-US" sz="3499" b="true">
                  <a:solidFill>
                    <a:srgbClr val="1B2A4A"/>
                  </a:solidFill>
                  <a:latin typeface="Calibri (MS) Bold"/>
                  <a:ea typeface="Calibri (MS) Bold"/>
                  <a:cs typeface="Calibri (MS) Bold"/>
                  <a:sym typeface="Calibri (MS) Bold"/>
                </a:rPr>
                <a:t>Avg. Salary by City</a:t>
              </a:r>
            </a:p>
          </p:txBody>
        </p:sp>
      </p:grpSp>
      <p:grpSp>
        <p:nvGrpSpPr>
          <p:cNvPr name="Group 306" id="306"/>
          <p:cNvGrpSpPr/>
          <p:nvPr/>
        </p:nvGrpSpPr>
        <p:grpSpPr>
          <a:xfrm rot="0">
            <a:off x="27358848" y="17647920"/>
            <a:ext cx="4928616" cy="5257800"/>
            <a:chOff x="0" y="0"/>
            <a:chExt cx="6571488" cy="7010400"/>
          </a:xfrm>
        </p:grpSpPr>
        <p:sp>
          <p:nvSpPr>
            <p:cNvPr name="Freeform 307" id="307"/>
            <p:cNvSpPr/>
            <p:nvPr/>
          </p:nvSpPr>
          <p:spPr>
            <a:xfrm flipH="false" flipV="false" rot="0">
              <a:off x="0" y="0"/>
              <a:ext cx="6571488" cy="7010400"/>
            </a:xfrm>
            <a:custGeom>
              <a:avLst/>
              <a:gdLst/>
              <a:ahLst/>
              <a:cxnLst/>
              <a:rect r="r" b="b" t="t" l="l"/>
              <a:pathLst>
                <a:path h="7010400" w="6571488">
                  <a:moveTo>
                    <a:pt x="0" y="0"/>
                  </a:moveTo>
                  <a:lnTo>
                    <a:pt x="6571488" y="0"/>
                  </a:lnTo>
                  <a:lnTo>
                    <a:pt x="6571488" y="7010400"/>
                  </a:lnTo>
                  <a:lnTo>
                    <a:pt x="0" y="7010400"/>
                  </a:lnTo>
                  <a:close/>
                </a:path>
              </a:pathLst>
            </a:custGeom>
            <a:solidFill>
              <a:srgbClr val="FFFFFF"/>
            </a:solidFill>
          </p:spPr>
        </p:sp>
      </p:grpSp>
      <p:grpSp>
        <p:nvGrpSpPr>
          <p:cNvPr name="Group 308" id="308"/>
          <p:cNvGrpSpPr/>
          <p:nvPr/>
        </p:nvGrpSpPr>
        <p:grpSpPr>
          <a:xfrm rot="0">
            <a:off x="27404568" y="18722340"/>
            <a:ext cx="4837176" cy="3488674"/>
            <a:chOff x="0" y="0"/>
            <a:chExt cx="6449568" cy="4651566"/>
          </a:xfrm>
        </p:grpSpPr>
        <p:sp>
          <p:nvSpPr>
            <p:cNvPr name="Freeform 309" id="309" descr="/home/claude/charts/chart_6_crop.png"/>
            <p:cNvSpPr/>
            <p:nvPr/>
          </p:nvSpPr>
          <p:spPr>
            <a:xfrm flipH="false" flipV="false" rot="0">
              <a:off x="0" y="0"/>
              <a:ext cx="6449568" cy="4651502"/>
            </a:xfrm>
            <a:custGeom>
              <a:avLst/>
              <a:gdLst/>
              <a:ahLst/>
              <a:cxnLst/>
              <a:rect r="r" b="b" t="t" l="l"/>
              <a:pathLst>
                <a:path h="4651502" w="6449568">
                  <a:moveTo>
                    <a:pt x="0" y="0"/>
                  </a:moveTo>
                  <a:lnTo>
                    <a:pt x="6449568" y="0"/>
                  </a:lnTo>
                  <a:lnTo>
                    <a:pt x="6449568" y="4651502"/>
                  </a:lnTo>
                  <a:lnTo>
                    <a:pt x="0" y="4651502"/>
                  </a:lnTo>
                  <a:lnTo>
                    <a:pt x="0" y="0"/>
                  </a:lnTo>
                  <a:close/>
                </a:path>
              </a:pathLst>
            </a:custGeom>
            <a:blipFill>
              <a:blip r:embed="rId9"/>
              <a:stretch>
                <a:fillRect l="0" t="0" r="0" b="-1"/>
              </a:stretch>
            </a:blipFill>
          </p:spPr>
        </p:sp>
      </p:grpSp>
      <p:sp>
        <p:nvSpPr>
          <p:cNvPr name="TextBox 310" id="310"/>
          <p:cNvSpPr txBox="true"/>
          <p:nvPr/>
        </p:nvSpPr>
        <p:spPr>
          <a:xfrm rot="0">
            <a:off x="27502352" y="23581995"/>
            <a:ext cx="4873752" cy="2210944"/>
          </a:xfrm>
          <a:prstGeom prst="rect">
            <a:avLst/>
          </a:prstGeom>
        </p:spPr>
        <p:txBody>
          <a:bodyPr anchor="t" rtlCol="false" tIns="0" lIns="0" bIns="0" rIns="0">
            <a:spAutoFit/>
          </a:bodyPr>
          <a:lstStyle/>
          <a:p>
            <a:pPr algn="l">
              <a:lnSpc>
                <a:spcPts val="5675"/>
              </a:lnSpc>
            </a:pPr>
            <a:r>
              <a:rPr lang="en-US" sz="4299" i="true">
                <a:solidFill>
                  <a:srgbClr val="455066"/>
                </a:solidFill>
                <a:latin typeface="Calibri (MS) Italics"/>
                <a:ea typeface="Calibri (MS) Italics"/>
                <a:cs typeface="Calibri (MS) Italics"/>
                <a:sym typeface="Calibri (MS) Italics"/>
              </a:rPr>
              <a:t>Bangalore and Delhi post the highest city averages.</a:t>
            </a:r>
          </a:p>
        </p:txBody>
      </p:sp>
      <p:grpSp>
        <p:nvGrpSpPr>
          <p:cNvPr name="Group 311" id="311"/>
          <p:cNvGrpSpPr/>
          <p:nvPr/>
        </p:nvGrpSpPr>
        <p:grpSpPr>
          <a:xfrm rot="0">
            <a:off x="32674303" y="16983199"/>
            <a:ext cx="5215633" cy="9659617"/>
            <a:chOff x="0" y="0"/>
            <a:chExt cx="6954177" cy="12879489"/>
          </a:xfrm>
        </p:grpSpPr>
        <p:sp>
          <p:nvSpPr>
            <p:cNvPr name="Freeform 312" id="312"/>
            <p:cNvSpPr/>
            <p:nvPr/>
          </p:nvSpPr>
          <p:spPr>
            <a:xfrm flipH="false" flipV="false" rot="0">
              <a:off x="0" y="0"/>
              <a:ext cx="6954138" cy="12879451"/>
            </a:xfrm>
            <a:custGeom>
              <a:avLst/>
              <a:gdLst/>
              <a:ahLst/>
              <a:cxnLst/>
              <a:rect r="r" b="b" t="t" l="l"/>
              <a:pathLst>
                <a:path h="12879451" w="6954138">
                  <a:moveTo>
                    <a:pt x="0" y="109982"/>
                  </a:moveTo>
                  <a:cubicBezTo>
                    <a:pt x="0" y="49276"/>
                    <a:pt x="49276" y="0"/>
                    <a:pt x="109982" y="0"/>
                  </a:cubicBezTo>
                  <a:lnTo>
                    <a:pt x="6844157" y="0"/>
                  </a:lnTo>
                  <a:cubicBezTo>
                    <a:pt x="6904863" y="0"/>
                    <a:pt x="6954138" y="49276"/>
                    <a:pt x="6954138" y="109982"/>
                  </a:cubicBezTo>
                  <a:lnTo>
                    <a:pt x="6954138" y="12769469"/>
                  </a:lnTo>
                  <a:cubicBezTo>
                    <a:pt x="6954138" y="12830175"/>
                    <a:pt x="6904863" y="12879451"/>
                    <a:pt x="6844157" y="12879451"/>
                  </a:cubicBezTo>
                  <a:lnTo>
                    <a:pt x="109982" y="12879451"/>
                  </a:lnTo>
                  <a:cubicBezTo>
                    <a:pt x="49276" y="12879451"/>
                    <a:pt x="0" y="12830175"/>
                    <a:pt x="0" y="12769469"/>
                  </a:cubicBezTo>
                  <a:close/>
                </a:path>
              </a:pathLst>
            </a:custGeom>
            <a:solidFill>
              <a:srgbClr val="EDE6F5"/>
            </a:solidFill>
            <a:ln w="12700" cap="sq">
              <a:solidFill>
                <a:srgbClr val="FFFFFF"/>
              </a:solidFill>
              <a:prstDash val="solid"/>
              <a:miter/>
            </a:ln>
          </p:spPr>
        </p:sp>
      </p:grpSp>
      <p:grpSp>
        <p:nvGrpSpPr>
          <p:cNvPr name="Group 313" id="313"/>
          <p:cNvGrpSpPr/>
          <p:nvPr/>
        </p:nvGrpSpPr>
        <p:grpSpPr>
          <a:xfrm rot="0">
            <a:off x="32845248" y="17117568"/>
            <a:ext cx="4873752" cy="619552"/>
            <a:chOff x="0" y="0"/>
            <a:chExt cx="6498336" cy="826070"/>
          </a:xfrm>
        </p:grpSpPr>
        <p:sp>
          <p:nvSpPr>
            <p:cNvPr name="Freeform 314" id="314"/>
            <p:cNvSpPr/>
            <p:nvPr/>
          </p:nvSpPr>
          <p:spPr>
            <a:xfrm flipH="false" flipV="false" rot="0">
              <a:off x="0" y="0"/>
              <a:ext cx="6498336" cy="826070"/>
            </a:xfrm>
            <a:custGeom>
              <a:avLst/>
              <a:gdLst/>
              <a:ahLst/>
              <a:cxnLst/>
              <a:rect r="r" b="b" t="t" l="l"/>
              <a:pathLst>
                <a:path h="826070" w="6498336">
                  <a:moveTo>
                    <a:pt x="0" y="0"/>
                  </a:moveTo>
                  <a:lnTo>
                    <a:pt x="6498336" y="0"/>
                  </a:lnTo>
                  <a:lnTo>
                    <a:pt x="6498336" y="826070"/>
                  </a:lnTo>
                  <a:lnTo>
                    <a:pt x="0" y="826070"/>
                  </a:lnTo>
                  <a:close/>
                </a:path>
              </a:pathLst>
            </a:custGeom>
            <a:blipFill>
              <a:blip r:embed="rId3">
                <a:alphaModFix amt="0"/>
              </a:blip>
              <a:stretch>
                <a:fillRect l="0" t="-112693" r="0" b="-93867"/>
              </a:stretch>
            </a:blipFill>
          </p:spPr>
        </p:sp>
        <p:sp>
          <p:nvSpPr>
            <p:cNvPr name="TextBox 315" id="315"/>
            <p:cNvSpPr txBox="true"/>
            <p:nvPr/>
          </p:nvSpPr>
          <p:spPr>
            <a:xfrm>
              <a:off x="0" y="-66675"/>
              <a:ext cx="6498336" cy="892745"/>
            </a:xfrm>
            <a:prstGeom prst="rect">
              <a:avLst/>
            </a:prstGeom>
          </p:spPr>
          <p:txBody>
            <a:bodyPr anchor="ctr" rtlCol="false" tIns="0" lIns="0" bIns="0" rIns="0"/>
            <a:lstStyle/>
            <a:p>
              <a:pPr algn="l">
                <a:lnSpc>
                  <a:spcPts val="3719"/>
                </a:lnSpc>
              </a:pPr>
              <a:r>
                <a:rPr lang="en-US" sz="3099" b="true">
                  <a:solidFill>
                    <a:srgbClr val="1B2A4A"/>
                  </a:solidFill>
                  <a:latin typeface="Calibri (MS) Bold"/>
                  <a:ea typeface="Calibri (MS) Bold"/>
                  <a:cs typeface="Calibri (MS) Bold"/>
                  <a:sym typeface="Calibri (MS) Bold"/>
                </a:rPr>
                <a:t>Education Level Counts</a:t>
              </a:r>
            </a:p>
          </p:txBody>
        </p:sp>
      </p:grpSp>
      <p:grpSp>
        <p:nvGrpSpPr>
          <p:cNvPr name="Group 316" id="316"/>
          <p:cNvGrpSpPr/>
          <p:nvPr/>
        </p:nvGrpSpPr>
        <p:grpSpPr>
          <a:xfrm rot="0">
            <a:off x="32817816" y="17647920"/>
            <a:ext cx="4928616" cy="5257800"/>
            <a:chOff x="0" y="0"/>
            <a:chExt cx="6571488" cy="7010400"/>
          </a:xfrm>
        </p:grpSpPr>
        <p:sp>
          <p:nvSpPr>
            <p:cNvPr name="Freeform 317" id="317"/>
            <p:cNvSpPr/>
            <p:nvPr/>
          </p:nvSpPr>
          <p:spPr>
            <a:xfrm flipH="false" flipV="false" rot="0">
              <a:off x="0" y="0"/>
              <a:ext cx="6571488" cy="7010400"/>
            </a:xfrm>
            <a:custGeom>
              <a:avLst/>
              <a:gdLst/>
              <a:ahLst/>
              <a:cxnLst/>
              <a:rect r="r" b="b" t="t" l="l"/>
              <a:pathLst>
                <a:path h="7010400" w="6571488">
                  <a:moveTo>
                    <a:pt x="0" y="0"/>
                  </a:moveTo>
                  <a:lnTo>
                    <a:pt x="6571488" y="0"/>
                  </a:lnTo>
                  <a:lnTo>
                    <a:pt x="6571488" y="7010400"/>
                  </a:lnTo>
                  <a:lnTo>
                    <a:pt x="0" y="7010400"/>
                  </a:lnTo>
                  <a:close/>
                </a:path>
              </a:pathLst>
            </a:custGeom>
            <a:solidFill>
              <a:srgbClr val="FFFFFF"/>
            </a:solidFill>
          </p:spPr>
        </p:sp>
      </p:grpSp>
      <p:grpSp>
        <p:nvGrpSpPr>
          <p:cNvPr name="Group 318" id="318"/>
          <p:cNvGrpSpPr/>
          <p:nvPr/>
        </p:nvGrpSpPr>
        <p:grpSpPr>
          <a:xfrm rot="0">
            <a:off x="32863536" y="18657503"/>
            <a:ext cx="4837176" cy="3238624"/>
            <a:chOff x="0" y="0"/>
            <a:chExt cx="6449568" cy="4318165"/>
          </a:xfrm>
        </p:grpSpPr>
        <p:sp>
          <p:nvSpPr>
            <p:cNvPr name="Freeform 319" id="319" descr="/home/claude/charts/chart_7_crop.png"/>
            <p:cNvSpPr/>
            <p:nvPr/>
          </p:nvSpPr>
          <p:spPr>
            <a:xfrm flipH="false" flipV="false" rot="0">
              <a:off x="0" y="0"/>
              <a:ext cx="6449568" cy="4318127"/>
            </a:xfrm>
            <a:custGeom>
              <a:avLst/>
              <a:gdLst/>
              <a:ahLst/>
              <a:cxnLst/>
              <a:rect r="r" b="b" t="t" l="l"/>
              <a:pathLst>
                <a:path h="4318127" w="6449568">
                  <a:moveTo>
                    <a:pt x="0" y="0"/>
                  </a:moveTo>
                  <a:lnTo>
                    <a:pt x="6449568" y="0"/>
                  </a:lnTo>
                  <a:lnTo>
                    <a:pt x="6449568" y="4318127"/>
                  </a:lnTo>
                  <a:lnTo>
                    <a:pt x="0" y="4318127"/>
                  </a:lnTo>
                  <a:lnTo>
                    <a:pt x="0" y="0"/>
                  </a:lnTo>
                  <a:close/>
                </a:path>
              </a:pathLst>
            </a:custGeom>
            <a:blipFill>
              <a:blip r:embed="rId10"/>
              <a:stretch>
                <a:fillRect l="0" t="0" r="0" b="0"/>
              </a:stretch>
            </a:blipFill>
          </p:spPr>
        </p:sp>
      </p:grpSp>
      <p:sp>
        <p:nvSpPr>
          <p:cNvPr name="TextBox 320" id="320"/>
          <p:cNvSpPr txBox="true"/>
          <p:nvPr/>
        </p:nvSpPr>
        <p:spPr>
          <a:xfrm rot="0">
            <a:off x="32964368" y="23381970"/>
            <a:ext cx="4873752" cy="2128267"/>
          </a:xfrm>
          <a:prstGeom prst="rect">
            <a:avLst/>
          </a:prstGeom>
        </p:spPr>
        <p:txBody>
          <a:bodyPr anchor="t" rtlCol="false" tIns="0" lIns="0" bIns="0" rIns="0">
            <a:spAutoFit/>
          </a:bodyPr>
          <a:lstStyle/>
          <a:p>
            <a:pPr algn="l">
              <a:lnSpc>
                <a:spcPts val="5411"/>
              </a:lnSpc>
            </a:pPr>
            <a:r>
              <a:rPr lang="en-US" sz="4099" i="true">
                <a:solidFill>
                  <a:srgbClr val="455066"/>
                </a:solidFill>
                <a:latin typeface="Calibri (MS) Italics"/>
                <a:ea typeface="Calibri (MS) Italics"/>
                <a:cs typeface="Calibri (MS) Italics"/>
                <a:sym typeface="Calibri (MS) Italics"/>
              </a:rPr>
              <a:t>Master's degree holders form the largest group.</a:t>
            </a:r>
          </a:p>
        </p:txBody>
      </p:sp>
      <p:grpSp>
        <p:nvGrpSpPr>
          <p:cNvPr name="Group 321" id="321"/>
          <p:cNvGrpSpPr/>
          <p:nvPr/>
        </p:nvGrpSpPr>
        <p:grpSpPr>
          <a:xfrm rot="0">
            <a:off x="38133271" y="16983199"/>
            <a:ext cx="5215633" cy="9659617"/>
            <a:chOff x="0" y="0"/>
            <a:chExt cx="6954177" cy="12879489"/>
          </a:xfrm>
        </p:grpSpPr>
        <p:sp>
          <p:nvSpPr>
            <p:cNvPr name="Freeform 322" id="322"/>
            <p:cNvSpPr/>
            <p:nvPr/>
          </p:nvSpPr>
          <p:spPr>
            <a:xfrm flipH="false" flipV="false" rot="0">
              <a:off x="0" y="0"/>
              <a:ext cx="6954138" cy="12879451"/>
            </a:xfrm>
            <a:custGeom>
              <a:avLst/>
              <a:gdLst/>
              <a:ahLst/>
              <a:cxnLst/>
              <a:rect r="r" b="b" t="t" l="l"/>
              <a:pathLst>
                <a:path h="12879451" w="6954138">
                  <a:moveTo>
                    <a:pt x="0" y="109982"/>
                  </a:moveTo>
                  <a:cubicBezTo>
                    <a:pt x="0" y="49276"/>
                    <a:pt x="49276" y="0"/>
                    <a:pt x="109982" y="0"/>
                  </a:cubicBezTo>
                  <a:lnTo>
                    <a:pt x="6844157" y="0"/>
                  </a:lnTo>
                  <a:cubicBezTo>
                    <a:pt x="6904863" y="0"/>
                    <a:pt x="6954138" y="49276"/>
                    <a:pt x="6954138" y="109982"/>
                  </a:cubicBezTo>
                  <a:lnTo>
                    <a:pt x="6954138" y="12769469"/>
                  </a:lnTo>
                  <a:cubicBezTo>
                    <a:pt x="6954138" y="12830175"/>
                    <a:pt x="6904863" y="12879451"/>
                    <a:pt x="6844157" y="12879451"/>
                  </a:cubicBezTo>
                  <a:lnTo>
                    <a:pt x="109982" y="12879451"/>
                  </a:lnTo>
                  <a:cubicBezTo>
                    <a:pt x="49276" y="12879451"/>
                    <a:pt x="0" y="12830175"/>
                    <a:pt x="0" y="12769469"/>
                  </a:cubicBezTo>
                  <a:close/>
                </a:path>
              </a:pathLst>
            </a:custGeom>
            <a:solidFill>
              <a:srgbClr val="FCF1DA"/>
            </a:solidFill>
            <a:ln w="12700" cap="sq">
              <a:solidFill>
                <a:srgbClr val="FFFFFF"/>
              </a:solidFill>
              <a:prstDash val="solid"/>
              <a:miter/>
            </a:ln>
          </p:spPr>
        </p:sp>
      </p:grpSp>
      <p:grpSp>
        <p:nvGrpSpPr>
          <p:cNvPr name="Group 323" id="323"/>
          <p:cNvGrpSpPr/>
          <p:nvPr/>
        </p:nvGrpSpPr>
        <p:grpSpPr>
          <a:xfrm rot="0">
            <a:off x="36329112" y="17292314"/>
            <a:ext cx="5202936" cy="1097280"/>
            <a:chOff x="0" y="0"/>
            <a:chExt cx="6937248" cy="1463040"/>
          </a:xfrm>
        </p:grpSpPr>
        <p:sp>
          <p:nvSpPr>
            <p:cNvPr name="Freeform 324" id="324"/>
            <p:cNvSpPr/>
            <p:nvPr/>
          </p:nvSpPr>
          <p:spPr>
            <a:xfrm flipH="false" flipV="false" rot="0">
              <a:off x="0" y="0"/>
              <a:ext cx="6937248" cy="1463040"/>
            </a:xfrm>
            <a:custGeom>
              <a:avLst/>
              <a:gdLst/>
              <a:ahLst/>
              <a:cxnLst/>
              <a:rect r="r" b="b" t="t" l="l"/>
              <a:pathLst>
                <a:path h="1463040" w="6937248">
                  <a:moveTo>
                    <a:pt x="0" y="0"/>
                  </a:moveTo>
                  <a:lnTo>
                    <a:pt x="6937248" y="0"/>
                  </a:lnTo>
                  <a:lnTo>
                    <a:pt x="6937248" y="1463040"/>
                  </a:lnTo>
                  <a:lnTo>
                    <a:pt x="0" y="1463040"/>
                  </a:lnTo>
                  <a:close/>
                </a:path>
              </a:pathLst>
            </a:custGeom>
            <a:blipFill>
              <a:blip r:embed="rId3">
                <a:alphaModFix amt="0"/>
              </a:blip>
              <a:stretch>
                <a:fillRect l="0" t="-42391" r="0" b="-42391"/>
              </a:stretch>
            </a:blipFill>
          </p:spPr>
        </p:sp>
        <p:sp>
          <p:nvSpPr>
            <p:cNvPr name="TextBox 325" id="325"/>
            <p:cNvSpPr txBox="true"/>
            <p:nvPr/>
          </p:nvSpPr>
          <p:spPr>
            <a:xfrm>
              <a:off x="0" y="-66675"/>
              <a:ext cx="6937248" cy="1529715"/>
            </a:xfrm>
            <a:prstGeom prst="rect">
              <a:avLst/>
            </a:prstGeom>
          </p:spPr>
          <p:txBody>
            <a:bodyPr anchor="ctr" rtlCol="false" tIns="0" lIns="0" bIns="0" rIns="0"/>
            <a:lstStyle/>
            <a:p>
              <a:pPr algn="ctr">
                <a:lnSpc>
                  <a:spcPts val="3359"/>
                </a:lnSpc>
              </a:pPr>
              <a:r>
                <a:rPr lang="en-US" sz="2799">
                  <a:solidFill>
                    <a:srgbClr val="000000"/>
                  </a:solidFill>
                  <a:latin typeface="Calibri (MS)"/>
                  <a:ea typeface="Calibri (MS)"/>
                  <a:cs typeface="Calibri (MS)"/>
                  <a:sym typeface="Calibri (MS)"/>
                </a:rPr>
                <a:t>💡</a:t>
              </a:r>
            </a:p>
          </p:txBody>
        </p:sp>
      </p:grpSp>
      <p:grpSp>
        <p:nvGrpSpPr>
          <p:cNvPr name="Group 326" id="326"/>
          <p:cNvGrpSpPr/>
          <p:nvPr/>
        </p:nvGrpSpPr>
        <p:grpSpPr>
          <a:xfrm rot="0">
            <a:off x="38566211" y="16898266"/>
            <a:ext cx="4745736" cy="2714369"/>
            <a:chOff x="0" y="0"/>
            <a:chExt cx="6327648" cy="3619158"/>
          </a:xfrm>
        </p:grpSpPr>
        <p:sp>
          <p:nvSpPr>
            <p:cNvPr name="Freeform 327" id="327"/>
            <p:cNvSpPr/>
            <p:nvPr/>
          </p:nvSpPr>
          <p:spPr>
            <a:xfrm flipH="false" flipV="false" rot="0">
              <a:off x="0" y="0"/>
              <a:ext cx="6327648" cy="3619158"/>
            </a:xfrm>
            <a:custGeom>
              <a:avLst/>
              <a:gdLst/>
              <a:ahLst/>
              <a:cxnLst/>
              <a:rect r="r" b="b" t="t" l="l"/>
              <a:pathLst>
                <a:path h="3619158" w="6327648">
                  <a:moveTo>
                    <a:pt x="0" y="0"/>
                  </a:moveTo>
                  <a:lnTo>
                    <a:pt x="6327648" y="0"/>
                  </a:lnTo>
                  <a:lnTo>
                    <a:pt x="6327648" y="3619158"/>
                  </a:lnTo>
                  <a:lnTo>
                    <a:pt x="0" y="3619158"/>
                  </a:lnTo>
                  <a:close/>
                </a:path>
              </a:pathLst>
            </a:custGeom>
            <a:blipFill>
              <a:blip r:embed="rId3">
                <a:alphaModFix amt="0"/>
              </a:blip>
              <a:stretch>
                <a:fillRect l="0" t="-24803" r="0" b="56668"/>
              </a:stretch>
            </a:blipFill>
          </p:spPr>
        </p:sp>
        <p:sp>
          <p:nvSpPr>
            <p:cNvPr name="TextBox 328" id="328"/>
            <p:cNvSpPr txBox="true"/>
            <p:nvPr/>
          </p:nvSpPr>
          <p:spPr>
            <a:xfrm>
              <a:off x="0" y="0"/>
              <a:ext cx="6327648" cy="3619158"/>
            </a:xfrm>
            <a:prstGeom prst="rect">
              <a:avLst/>
            </a:prstGeom>
          </p:spPr>
          <p:txBody>
            <a:bodyPr anchor="ctr" rtlCol="false" tIns="0" lIns="0" bIns="0" rIns="0"/>
            <a:lstStyle/>
            <a:p>
              <a:pPr algn="ctr">
                <a:lnSpc>
                  <a:spcPts val="4439"/>
                </a:lnSpc>
              </a:pPr>
              <a:r>
                <a:rPr lang="en-US" sz="3699" b="true">
                  <a:solidFill>
                    <a:srgbClr val="1B2A4A"/>
                  </a:solidFill>
                  <a:latin typeface="Cambria Bold"/>
                  <a:ea typeface="Cambria Bold"/>
                  <a:cs typeface="Cambria Bold"/>
                  <a:sym typeface="Cambria Bold"/>
                </a:rPr>
                <a:t>Why It Matters</a:t>
              </a:r>
            </a:p>
          </p:txBody>
        </p:sp>
      </p:grpSp>
      <p:sp>
        <p:nvSpPr>
          <p:cNvPr name="TextBox 329" id="329"/>
          <p:cNvSpPr txBox="true"/>
          <p:nvPr/>
        </p:nvSpPr>
        <p:spPr>
          <a:xfrm rot="0">
            <a:off x="38461436" y="19617486"/>
            <a:ext cx="4496779" cy="6135671"/>
          </a:xfrm>
          <a:prstGeom prst="rect">
            <a:avLst/>
          </a:prstGeom>
        </p:spPr>
        <p:txBody>
          <a:bodyPr anchor="t" rtlCol="false" tIns="0" lIns="0" bIns="0" rIns="0">
            <a:spAutoFit/>
          </a:bodyPr>
          <a:lstStyle/>
          <a:p>
            <a:pPr algn="ctr">
              <a:lnSpc>
                <a:spcPts val="5325"/>
              </a:lnSpc>
            </a:pPr>
            <a:r>
              <a:rPr lang="en-US" sz="3698">
                <a:solidFill>
                  <a:srgbClr val="1B2A4A"/>
                </a:solidFill>
                <a:latin typeface="Calibri (MS)"/>
                <a:ea typeface="Calibri (MS)"/>
                <a:cs typeface="Calibri (MS)"/>
                <a:sym typeface="Calibri (MS)"/>
              </a:rPr>
              <a:t>Seven complementary views — spread, comparison, correlation, and composition — turn 50 raw salary records into clear, decision-ready insight for HR and business teams.</a:t>
            </a:r>
          </a:p>
        </p:txBody>
      </p:sp>
      <p:grpSp>
        <p:nvGrpSpPr>
          <p:cNvPr name="Group 330" id="330"/>
          <p:cNvGrpSpPr/>
          <p:nvPr/>
        </p:nvGrpSpPr>
        <p:grpSpPr>
          <a:xfrm rot="0">
            <a:off x="496567" y="25510237"/>
            <a:ext cx="10253977" cy="8877547"/>
            <a:chOff x="0" y="0"/>
            <a:chExt cx="13671969" cy="11836729"/>
          </a:xfrm>
        </p:grpSpPr>
        <p:sp>
          <p:nvSpPr>
            <p:cNvPr name="Freeform 331" id="331"/>
            <p:cNvSpPr/>
            <p:nvPr/>
          </p:nvSpPr>
          <p:spPr>
            <a:xfrm flipH="false" flipV="false" rot="0">
              <a:off x="0" y="0"/>
              <a:ext cx="13672058" cy="11836818"/>
            </a:xfrm>
            <a:custGeom>
              <a:avLst/>
              <a:gdLst/>
              <a:ahLst/>
              <a:cxnLst/>
              <a:rect r="r" b="b" t="t" l="l"/>
              <a:pathLst>
                <a:path h="11836818" w="13672058">
                  <a:moveTo>
                    <a:pt x="0" y="148016"/>
                  </a:moveTo>
                  <a:cubicBezTo>
                    <a:pt x="0" y="66317"/>
                    <a:pt x="49276" y="0"/>
                    <a:pt x="109982" y="0"/>
                  </a:cubicBezTo>
                  <a:lnTo>
                    <a:pt x="13562076" y="0"/>
                  </a:lnTo>
                  <a:cubicBezTo>
                    <a:pt x="13622782" y="0"/>
                    <a:pt x="13672058" y="66317"/>
                    <a:pt x="13672058" y="148016"/>
                  </a:cubicBezTo>
                  <a:lnTo>
                    <a:pt x="13672058" y="11688833"/>
                  </a:lnTo>
                  <a:cubicBezTo>
                    <a:pt x="13672058" y="11770533"/>
                    <a:pt x="13622782" y="11836818"/>
                    <a:pt x="13562076" y="11836818"/>
                  </a:cubicBezTo>
                  <a:lnTo>
                    <a:pt x="109982" y="11836818"/>
                  </a:lnTo>
                  <a:cubicBezTo>
                    <a:pt x="49276" y="11836818"/>
                    <a:pt x="0" y="11770533"/>
                    <a:pt x="0" y="11688833"/>
                  </a:cubicBezTo>
                  <a:close/>
                </a:path>
              </a:pathLst>
            </a:custGeom>
            <a:solidFill>
              <a:srgbClr val="E1F5EA"/>
            </a:solidFill>
            <a:ln w="12700" cap="sq">
              <a:solidFill>
                <a:srgbClr val="FFFFFF"/>
              </a:solidFill>
              <a:prstDash val="solid"/>
              <a:miter/>
            </a:ln>
          </p:spPr>
        </p:sp>
      </p:grpSp>
      <p:grpSp>
        <p:nvGrpSpPr>
          <p:cNvPr name="Group 332" id="332"/>
          <p:cNvGrpSpPr/>
          <p:nvPr/>
        </p:nvGrpSpPr>
        <p:grpSpPr>
          <a:xfrm rot="0">
            <a:off x="8412480" y="25591256"/>
            <a:ext cx="2103120" cy="2103120"/>
            <a:chOff x="0" y="0"/>
            <a:chExt cx="2804160" cy="2804160"/>
          </a:xfrm>
        </p:grpSpPr>
        <p:sp>
          <p:nvSpPr>
            <p:cNvPr name="Freeform 333" id="333"/>
            <p:cNvSpPr/>
            <p:nvPr/>
          </p:nvSpPr>
          <p:spPr>
            <a:xfrm flipH="false" flipV="false" rot="0">
              <a:off x="0" y="0"/>
              <a:ext cx="2804160" cy="2804160"/>
            </a:xfrm>
            <a:custGeom>
              <a:avLst/>
              <a:gdLst/>
              <a:ahLst/>
              <a:cxnLst/>
              <a:rect r="r" b="b" t="t" l="l"/>
              <a:pathLst>
                <a:path h="2804160" w="2804160">
                  <a:moveTo>
                    <a:pt x="0" y="0"/>
                  </a:moveTo>
                  <a:lnTo>
                    <a:pt x="2804160" y="0"/>
                  </a:lnTo>
                  <a:lnTo>
                    <a:pt x="2804160" y="2804160"/>
                  </a:lnTo>
                  <a:lnTo>
                    <a:pt x="0" y="2804160"/>
                  </a:lnTo>
                  <a:close/>
                </a:path>
              </a:pathLst>
            </a:custGeom>
            <a:blipFill>
              <a:blip r:embed="rId3">
                <a:alphaModFix amt="0"/>
              </a:blip>
              <a:stretch>
                <a:fillRect l="-78303" t="0" r="-78303" b="0"/>
              </a:stretch>
            </a:blipFill>
          </p:spPr>
        </p:sp>
        <p:sp>
          <p:nvSpPr>
            <p:cNvPr name="TextBox 334" id="334"/>
            <p:cNvSpPr txBox="true"/>
            <p:nvPr/>
          </p:nvSpPr>
          <p:spPr>
            <a:xfrm>
              <a:off x="0" y="-66675"/>
              <a:ext cx="2804160" cy="2870835"/>
            </a:xfrm>
            <a:prstGeom prst="rect">
              <a:avLst/>
            </a:prstGeom>
          </p:spPr>
          <p:txBody>
            <a:bodyPr anchor="ctr" rtlCol="false" tIns="0" lIns="0" bIns="0" rIns="0"/>
            <a:lstStyle/>
            <a:p>
              <a:pPr algn="ctr">
                <a:lnSpc>
                  <a:spcPts val="4079"/>
                </a:lnSpc>
              </a:pPr>
              <a:r>
                <a:rPr lang="en-US" sz="3399">
                  <a:solidFill>
                    <a:srgbClr val="000000"/>
                  </a:solidFill>
                  <a:latin typeface="Calibri (MS)"/>
                  <a:ea typeface="Calibri (MS)"/>
                  <a:cs typeface="Calibri (MS)"/>
                  <a:sym typeface="Calibri (MS)"/>
                </a:rPr>
                <a:t>✅</a:t>
              </a:r>
            </a:p>
          </p:txBody>
        </p:sp>
      </p:grpSp>
      <p:grpSp>
        <p:nvGrpSpPr>
          <p:cNvPr name="Group 335" id="335"/>
          <p:cNvGrpSpPr/>
          <p:nvPr/>
        </p:nvGrpSpPr>
        <p:grpSpPr>
          <a:xfrm rot="0">
            <a:off x="822960" y="26281922"/>
            <a:ext cx="566928" cy="566928"/>
            <a:chOff x="0" y="0"/>
            <a:chExt cx="755904" cy="755904"/>
          </a:xfrm>
        </p:grpSpPr>
        <p:sp>
          <p:nvSpPr>
            <p:cNvPr name="Freeform 336" id="336"/>
            <p:cNvSpPr/>
            <p:nvPr/>
          </p:nvSpPr>
          <p:spPr>
            <a:xfrm flipH="false" flipV="false" rot="0">
              <a:off x="0" y="0"/>
              <a:ext cx="755904" cy="755904"/>
            </a:xfrm>
            <a:custGeom>
              <a:avLst/>
              <a:gdLst/>
              <a:ahLst/>
              <a:cxnLst/>
              <a:rect r="r" b="b" t="t" l="l"/>
              <a:pathLst>
                <a:path h="755904" w="755904">
                  <a:moveTo>
                    <a:pt x="0" y="377952"/>
                  </a:moveTo>
                  <a:cubicBezTo>
                    <a:pt x="0" y="169164"/>
                    <a:pt x="169164" y="0"/>
                    <a:pt x="377952" y="0"/>
                  </a:cubicBezTo>
                  <a:cubicBezTo>
                    <a:pt x="586740" y="0"/>
                    <a:pt x="755904" y="169164"/>
                    <a:pt x="755904" y="377952"/>
                  </a:cubicBezTo>
                  <a:cubicBezTo>
                    <a:pt x="755904" y="586740"/>
                    <a:pt x="586740" y="755904"/>
                    <a:pt x="377952" y="755904"/>
                  </a:cubicBezTo>
                  <a:cubicBezTo>
                    <a:pt x="169164" y="755904"/>
                    <a:pt x="0" y="586740"/>
                    <a:pt x="0" y="377952"/>
                  </a:cubicBezTo>
                  <a:close/>
                </a:path>
              </a:pathLst>
            </a:custGeom>
            <a:solidFill>
              <a:srgbClr val="1E8E5A"/>
            </a:solidFill>
          </p:spPr>
        </p:sp>
      </p:grpSp>
      <p:grpSp>
        <p:nvGrpSpPr>
          <p:cNvPr name="Group 337" id="337"/>
          <p:cNvGrpSpPr/>
          <p:nvPr/>
        </p:nvGrpSpPr>
        <p:grpSpPr>
          <a:xfrm rot="0">
            <a:off x="822960" y="26166883"/>
            <a:ext cx="566928" cy="681968"/>
            <a:chOff x="0" y="0"/>
            <a:chExt cx="755904" cy="909290"/>
          </a:xfrm>
        </p:grpSpPr>
        <p:sp>
          <p:nvSpPr>
            <p:cNvPr name="Freeform 338" id="338"/>
            <p:cNvSpPr/>
            <p:nvPr/>
          </p:nvSpPr>
          <p:spPr>
            <a:xfrm flipH="false" flipV="false" rot="0">
              <a:off x="0" y="0"/>
              <a:ext cx="755904" cy="909290"/>
            </a:xfrm>
            <a:custGeom>
              <a:avLst/>
              <a:gdLst/>
              <a:ahLst/>
              <a:cxnLst/>
              <a:rect r="r" b="b" t="t" l="l"/>
              <a:pathLst>
                <a:path h="909290" w="755904">
                  <a:moveTo>
                    <a:pt x="0" y="0"/>
                  </a:moveTo>
                  <a:lnTo>
                    <a:pt x="755904" y="0"/>
                  </a:lnTo>
                  <a:lnTo>
                    <a:pt x="755904" y="909290"/>
                  </a:lnTo>
                  <a:lnTo>
                    <a:pt x="0" y="909290"/>
                  </a:lnTo>
                  <a:close/>
                </a:path>
              </a:pathLst>
            </a:custGeom>
            <a:blipFill>
              <a:blip r:embed="rId3">
                <a:alphaModFix amt="0"/>
              </a:blip>
              <a:stretch>
                <a:fillRect l="-78303" t="0" r="-78303" b="16868"/>
              </a:stretch>
            </a:blipFill>
          </p:spPr>
        </p:sp>
        <p:sp>
          <p:nvSpPr>
            <p:cNvPr name="TextBox 339" id="339"/>
            <p:cNvSpPr txBox="true"/>
            <p:nvPr/>
          </p:nvSpPr>
          <p:spPr>
            <a:xfrm>
              <a:off x="0" y="-66675"/>
              <a:ext cx="755904" cy="975965"/>
            </a:xfrm>
            <a:prstGeom prst="rect">
              <a:avLst/>
            </a:prstGeom>
          </p:spPr>
          <p:txBody>
            <a:bodyPr anchor="ctr" rtlCol="false" tIns="0" lIns="0" bIns="0" rIns="0"/>
            <a:lstStyle/>
            <a:p>
              <a:pPr algn="ctr">
                <a:lnSpc>
                  <a:spcPts val="4079"/>
                </a:lnSpc>
              </a:pPr>
              <a:r>
                <a:rPr lang="en-US" sz="3399">
                  <a:solidFill>
                    <a:srgbClr val="FFFFFF"/>
                  </a:solidFill>
                  <a:latin typeface="Calibri (MS)"/>
                  <a:ea typeface="Calibri (MS)"/>
                  <a:cs typeface="Calibri (MS)"/>
                  <a:sym typeface="Calibri (MS)"/>
                </a:rPr>
                <a:t>✅</a:t>
              </a:r>
            </a:p>
          </p:txBody>
        </p:sp>
      </p:grpSp>
      <p:grpSp>
        <p:nvGrpSpPr>
          <p:cNvPr name="Group 340" id="340"/>
          <p:cNvGrpSpPr/>
          <p:nvPr/>
        </p:nvGrpSpPr>
        <p:grpSpPr>
          <a:xfrm rot="0">
            <a:off x="1188715" y="25662058"/>
            <a:ext cx="8961120" cy="2492237"/>
            <a:chOff x="0" y="0"/>
            <a:chExt cx="11948160" cy="3322983"/>
          </a:xfrm>
        </p:grpSpPr>
        <p:sp>
          <p:nvSpPr>
            <p:cNvPr name="Freeform 341" id="341"/>
            <p:cNvSpPr/>
            <p:nvPr/>
          </p:nvSpPr>
          <p:spPr>
            <a:xfrm flipH="false" flipV="false" rot="0">
              <a:off x="0" y="0"/>
              <a:ext cx="11948160" cy="3322983"/>
            </a:xfrm>
            <a:custGeom>
              <a:avLst/>
              <a:gdLst/>
              <a:ahLst/>
              <a:cxnLst/>
              <a:rect r="r" b="b" t="t" l="l"/>
              <a:pathLst>
                <a:path h="3322983" w="11948160">
                  <a:moveTo>
                    <a:pt x="0" y="0"/>
                  </a:moveTo>
                  <a:lnTo>
                    <a:pt x="11948160" y="0"/>
                  </a:lnTo>
                  <a:lnTo>
                    <a:pt x="11948160" y="3322983"/>
                  </a:lnTo>
                  <a:lnTo>
                    <a:pt x="0" y="3322983"/>
                  </a:lnTo>
                  <a:close/>
                </a:path>
              </a:pathLst>
            </a:custGeom>
            <a:blipFill>
              <a:blip r:embed="rId3">
                <a:alphaModFix amt="0"/>
              </a:blip>
              <a:stretch>
                <a:fillRect l="0" t="-57586" r="0" b="17464"/>
              </a:stretch>
            </a:blipFill>
          </p:spPr>
        </p:sp>
        <p:sp>
          <p:nvSpPr>
            <p:cNvPr name="TextBox 342" id="342"/>
            <p:cNvSpPr txBox="true"/>
            <p:nvPr/>
          </p:nvSpPr>
          <p:spPr>
            <a:xfrm>
              <a:off x="0" y="-9525"/>
              <a:ext cx="11948160" cy="3332508"/>
            </a:xfrm>
            <a:prstGeom prst="rect">
              <a:avLst/>
            </a:prstGeom>
          </p:spPr>
          <p:txBody>
            <a:bodyPr anchor="ctr" rtlCol="false" tIns="0" lIns="0" bIns="0" rIns="0"/>
            <a:lstStyle/>
            <a:p>
              <a:pPr algn="ctr">
                <a:lnSpc>
                  <a:spcPts val="4079"/>
                </a:lnSpc>
              </a:pPr>
              <a:r>
                <a:rPr lang="en-US" sz="3399" b="true">
                  <a:solidFill>
                    <a:srgbClr val="1B2A4A"/>
                  </a:solidFill>
                  <a:latin typeface="Cambria Bold"/>
                  <a:ea typeface="Cambria Bold"/>
                  <a:cs typeface="Cambria Bold"/>
                  <a:sym typeface="Cambria Bold"/>
                </a:rPr>
                <a:t>Key Findings</a:t>
              </a:r>
            </a:p>
          </p:txBody>
        </p:sp>
      </p:grpSp>
      <p:grpSp>
        <p:nvGrpSpPr>
          <p:cNvPr name="Group 343" id="343"/>
          <p:cNvGrpSpPr/>
          <p:nvPr/>
        </p:nvGrpSpPr>
        <p:grpSpPr>
          <a:xfrm rot="0">
            <a:off x="717804" y="27810875"/>
            <a:ext cx="365760" cy="365760"/>
            <a:chOff x="0" y="0"/>
            <a:chExt cx="487680" cy="487680"/>
          </a:xfrm>
        </p:grpSpPr>
        <p:sp>
          <p:nvSpPr>
            <p:cNvPr name="Freeform 344" id="344"/>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1E8E5A"/>
            </a:solidFill>
          </p:spPr>
        </p:sp>
      </p:grpSp>
      <p:grpSp>
        <p:nvGrpSpPr>
          <p:cNvPr name="Group 345" id="345"/>
          <p:cNvGrpSpPr/>
          <p:nvPr/>
        </p:nvGrpSpPr>
        <p:grpSpPr>
          <a:xfrm rot="0">
            <a:off x="1463040" y="27646602"/>
            <a:ext cx="9052560" cy="1248438"/>
            <a:chOff x="0" y="0"/>
            <a:chExt cx="12070080" cy="1664585"/>
          </a:xfrm>
        </p:grpSpPr>
        <p:sp>
          <p:nvSpPr>
            <p:cNvPr name="Freeform 346" id="346"/>
            <p:cNvSpPr/>
            <p:nvPr/>
          </p:nvSpPr>
          <p:spPr>
            <a:xfrm flipH="false" flipV="false" rot="0">
              <a:off x="0" y="0"/>
              <a:ext cx="12070080" cy="1664585"/>
            </a:xfrm>
            <a:custGeom>
              <a:avLst/>
              <a:gdLst/>
              <a:ahLst/>
              <a:cxnLst/>
              <a:rect r="r" b="b" t="t" l="l"/>
              <a:pathLst>
                <a:path h="1664585" w="12070080">
                  <a:moveTo>
                    <a:pt x="0" y="0"/>
                  </a:moveTo>
                  <a:lnTo>
                    <a:pt x="12070080" y="0"/>
                  </a:lnTo>
                  <a:lnTo>
                    <a:pt x="12070080" y="1664585"/>
                  </a:lnTo>
                  <a:lnTo>
                    <a:pt x="0" y="1664585"/>
                  </a:lnTo>
                  <a:close/>
                </a:path>
              </a:pathLst>
            </a:custGeom>
            <a:blipFill>
              <a:blip r:embed="rId3">
                <a:alphaModFix amt="0"/>
              </a:blip>
              <a:stretch>
                <a:fillRect l="0" t="-99539" r="0" b="-83036"/>
              </a:stretch>
            </a:blipFill>
          </p:spPr>
        </p:sp>
        <p:sp>
          <p:nvSpPr>
            <p:cNvPr name="TextBox 347" id="347"/>
            <p:cNvSpPr txBox="true"/>
            <p:nvPr/>
          </p:nvSpPr>
          <p:spPr>
            <a:xfrm>
              <a:off x="0" y="-114300"/>
              <a:ext cx="12070080" cy="1778885"/>
            </a:xfrm>
            <a:prstGeom prst="rect">
              <a:avLst/>
            </a:prstGeom>
          </p:spPr>
          <p:txBody>
            <a:bodyPr anchor="ctr" rtlCol="false" tIns="0" lIns="0" bIns="0" rIns="0"/>
            <a:lstStyle/>
            <a:p>
              <a:pPr algn="l">
                <a:lnSpc>
                  <a:spcPts val="4569"/>
                </a:lnSpc>
              </a:pPr>
              <a:r>
                <a:rPr lang="en-US" sz="3399">
                  <a:solidFill>
                    <a:srgbClr val="1B2A4A"/>
                  </a:solidFill>
                  <a:latin typeface="Calibri (MS)"/>
                  <a:ea typeface="Calibri (MS)"/>
                  <a:cs typeface="Calibri (MS)"/>
                  <a:sym typeface="Calibri (MS)"/>
                </a:rPr>
                <a:t>Salaries show moderate variation across departments</a:t>
              </a:r>
            </a:p>
          </p:txBody>
        </p:sp>
      </p:grpSp>
      <p:grpSp>
        <p:nvGrpSpPr>
          <p:cNvPr name="Group 348" id="348"/>
          <p:cNvGrpSpPr/>
          <p:nvPr/>
        </p:nvGrpSpPr>
        <p:grpSpPr>
          <a:xfrm rot="0">
            <a:off x="717804" y="29195810"/>
            <a:ext cx="365760" cy="365760"/>
            <a:chOff x="0" y="0"/>
            <a:chExt cx="487680" cy="487680"/>
          </a:xfrm>
        </p:grpSpPr>
        <p:sp>
          <p:nvSpPr>
            <p:cNvPr name="Freeform 349" id="349"/>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1E8E5A"/>
            </a:solidFill>
          </p:spPr>
        </p:sp>
      </p:grpSp>
      <p:grpSp>
        <p:nvGrpSpPr>
          <p:cNvPr name="Group 350" id="350"/>
          <p:cNvGrpSpPr/>
          <p:nvPr/>
        </p:nvGrpSpPr>
        <p:grpSpPr>
          <a:xfrm rot="0">
            <a:off x="1371600" y="28906594"/>
            <a:ext cx="9052560" cy="1042416"/>
            <a:chOff x="0" y="0"/>
            <a:chExt cx="12070080" cy="1389888"/>
          </a:xfrm>
        </p:grpSpPr>
        <p:sp>
          <p:nvSpPr>
            <p:cNvPr name="Freeform 351" id="351"/>
            <p:cNvSpPr/>
            <p:nvPr/>
          </p:nvSpPr>
          <p:spPr>
            <a:xfrm flipH="false" flipV="false" rot="0">
              <a:off x="0" y="0"/>
              <a:ext cx="12070080" cy="1389888"/>
            </a:xfrm>
            <a:custGeom>
              <a:avLst/>
              <a:gdLst/>
              <a:ahLst/>
              <a:cxnLst/>
              <a:rect r="r" b="b" t="t" l="l"/>
              <a:pathLst>
                <a:path h="1389888" w="12070080">
                  <a:moveTo>
                    <a:pt x="0" y="0"/>
                  </a:moveTo>
                  <a:lnTo>
                    <a:pt x="12070080" y="0"/>
                  </a:lnTo>
                  <a:lnTo>
                    <a:pt x="12070080" y="1389888"/>
                  </a:lnTo>
                  <a:lnTo>
                    <a:pt x="0" y="1389888"/>
                  </a:lnTo>
                  <a:close/>
                </a:path>
              </a:pathLst>
            </a:custGeom>
            <a:blipFill>
              <a:blip r:embed="rId3">
                <a:alphaModFix amt="0"/>
              </a:blip>
              <a:stretch>
                <a:fillRect l="0" t="-119212" r="0" b="-119212"/>
              </a:stretch>
            </a:blipFill>
          </p:spPr>
        </p:sp>
        <p:sp>
          <p:nvSpPr>
            <p:cNvPr name="TextBox 352" id="352"/>
            <p:cNvSpPr txBox="true"/>
            <p:nvPr/>
          </p:nvSpPr>
          <p:spPr>
            <a:xfrm>
              <a:off x="0" y="-114300"/>
              <a:ext cx="12070080" cy="1504188"/>
            </a:xfrm>
            <a:prstGeom prst="rect">
              <a:avLst/>
            </a:prstGeom>
          </p:spPr>
          <p:txBody>
            <a:bodyPr anchor="ctr" rtlCol="false" tIns="0" lIns="0" bIns="0" rIns="0"/>
            <a:lstStyle/>
            <a:p>
              <a:pPr algn="l">
                <a:lnSpc>
                  <a:spcPts val="4569"/>
                </a:lnSpc>
              </a:pPr>
              <a:r>
                <a:rPr lang="en-US" sz="3399">
                  <a:solidFill>
                    <a:srgbClr val="1B2A4A"/>
                  </a:solidFill>
                  <a:latin typeface="Calibri (MS)"/>
                  <a:ea typeface="Calibri (MS)"/>
                  <a:cs typeface="Calibri (MS)"/>
                  <a:sym typeface="Calibri (MS)"/>
                </a:rPr>
                <a:t>Experience correlates positively with salary</a:t>
              </a:r>
            </a:p>
          </p:txBody>
        </p:sp>
      </p:grpSp>
      <p:grpSp>
        <p:nvGrpSpPr>
          <p:cNvPr name="Group 353" id="353"/>
          <p:cNvGrpSpPr/>
          <p:nvPr/>
        </p:nvGrpSpPr>
        <p:grpSpPr>
          <a:xfrm rot="0">
            <a:off x="640080" y="30565338"/>
            <a:ext cx="365760" cy="365760"/>
            <a:chOff x="0" y="0"/>
            <a:chExt cx="487680" cy="487680"/>
          </a:xfrm>
        </p:grpSpPr>
        <p:sp>
          <p:nvSpPr>
            <p:cNvPr name="Freeform 354" id="354"/>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1E8E5A"/>
            </a:solidFill>
          </p:spPr>
        </p:sp>
      </p:grpSp>
      <p:grpSp>
        <p:nvGrpSpPr>
          <p:cNvPr name="Group 355" id="355"/>
          <p:cNvGrpSpPr/>
          <p:nvPr/>
        </p:nvGrpSpPr>
        <p:grpSpPr>
          <a:xfrm rot="0">
            <a:off x="1417320" y="30166056"/>
            <a:ext cx="9052560" cy="1042416"/>
            <a:chOff x="0" y="0"/>
            <a:chExt cx="12070080" cy="1389888"/>
          </a:xfrm>
        </p:grpSpPr>
        <p:sp>
          <p:nvSpPr>
            <p:cNvPr name="Freeform 356" id="356"/>
            <p:cNvSpPr/>
            <p:nvPr/>
          </p:nvSpPr>
          <p:spPr>
            <a:xfrm flipH="false" flipV="false" rot="0">
              <a:off x="0" y="0"/>
              <a:ext cx="12070080" cy="1389888"/>
            </a:xfrm>
            <a:custGeom>
              <a:avLst/>
              <a:gdLst/>
              <a:ahLst/>
              <a:cxnLst/>
              <a:rect r="r" b="b" t="t" l="l"/>
              <a:pathLst>
                <a:path h="1389888" w="12070080">
                  <a:moveTo>
                    <a:pt x="0" y="0"/>
                  </a:moveTo>
                  <a:lnTo>
                    <a:pt x="12070080" y="0"/>
                  </a:lnTo>
                  <a:lnTo>
                    <a:pt x="12070080" y="1389888"/>
                  </a:lnTo>
                  <a:lnTo>
                    <a:pt x="0" y="1389888"/>
                  </a:lnTo>
                  <a:close/>
                </a:path>
              </a:pathLst>
            </a:custGeom>
            <a:blipFill>
              <a:blip r:embed="rId3">
                <a:alphaModFix amt="0"/>
              </a:blip>
              <a:stretch>
                <a:fillRect l="0" t="-119212" r="0" b="-119212"/>
              </a:stretch>
            </a:blipFill>
          </p:spPr>
        </p:sp>
        <p:sp>
          <p:nvSpPr>
            <p:cNvPr name="TextBox 357" id="357"/>
            <p:cNvSpPr txBox="true"/>
            <p:nvPr/>
          </p:nvSpPr>
          <p:spPr>
            <a:xfrm>
              <a:off x="0" y="-114300"/>
              <a:ext cx="12070080" cy="1504188"/>
            </a:xfrm>
            <a:prstGeom prst="rect">
              <a:avLst/>
            </a:prstGeom>
          </p:spPr>
          <p:txBody>
            <a:bodyPr anchor="ctr" rtlCol="false" tIns="0" lIns="0" bIns="0" rIns="0"/>
            <a:lstStyle/>
            <a:p>
              <a:pPr algn="l">
                <a:lnSpc>
                  <a:spcPts val="4569"/>
                </a:lnSpc>
              </a:pPr>
              <a:r>
                <a:rPr lang="en-US" sz="3399">
                  <a:solidFill>
                    <a:srgbClr val="1B2A4A"/>
                  </a:solidFill>
                  <a:latin typeface="Calibri (MS)"/>
                  <a:ea typeface="Calibri (MS)"/>
                  <a:cs typeface="Calibri (MS)"/>
                  <a:sym typeface="Calibri (MS)"/>
                </a:rPr>
                <a:t>Higher education aligns with higher compensation</a:t>
              </a:r>
            </a:p>
          </p:txBody>
        </p:sp>
      </p:grpSp>
      <p:grpSp>
        <p:nvGrpSpPr>
          <p:cNvPr name="Group 358" id="358"/>
          <p:cNvGrpSpPr/>
          <p:nvPr/>
        </p:nvGrpSpPr>
        <p:grpSpPr>
          <a:xfrm rot="0">
            <a:off x="685800" y="31664523"/>
            <a:ext cx="365760" cy="365760"/>
            <a:chOff x="0" y="0"/>
            <a:chExt cx="487680" cy="487680"/>
          </a:xfrm>
        </p:grpSpPr>
        <p:sp>
          <p:nvSpPr>
            <p:cNvPr name="Freeform 359" id="359"/>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1E8E5A"/>
            </a:solidFill>
          </p:spPr>
        </p:sp>
      </p:grpSp>
      <p:grpSp>
        <p:nvGrpSpPr>
          <p:cNvPr name="Group 360" id="360"/>
          <p:cNvGrpSpPr/>
          <p:nvPr/>
        </p:nvGrpSpPr>
        <p:grpSpPr>
          <a:xfrm rot="0">
            <a:off x="1325880" y="31272480"/>
            <a:ext cx="9052560" cy="1042416"/>
            <a:chOff x="0" y="0"/>
            <a:chExt cx="12070080" cy="1389888"/>
          </a:xfrm>
        </p:grpSpPr>
        <p:sp>
          <p:nvSpPr>
            <p:cNvPr name="Freeform 361" id="361"/>
            <p:cNvSpPr/>
            <p:nvPr/>
          </p:nvSpPr>
          <p:spPr>
            <a:xfrm flipH="false" flipV="false" rot="0">
              <a:off x="0" y="0"/>
              <a:ext cx="12070080" cy="1389888"/>
            </a:xfrm>
            <a:custGeom>
              <a:avLst/>
              <a:gdLst/>
              <a:ahLst/>
              <a:cxnLst/>
              <a:rect r="r" b="b" t="t" l="l"/>
              <a:pathLst>
                <a:path h="1389888" w="12070080">
                  <a:moveTo>
                    <a:pt x="0" y="0"/>
                  </a:moveTo>
                  <a:lnTo>
                    <a:pt x="12070080" y="0"/>
                  </a:lnTo>
                  <a:lnTo>
                    <a:pt x="12070080" y="1389888"/>
                  </a:lnTo>
                  <a:lnTo>
                    <a:pt x="0" y="1389888"/>
                  </a:lnTo>
                  <a:close/>
                </a:path>
              </a:pathLst>
            </a:custGeom>
            <a:blipFill>
              <a:blip r:embed="rId3">
                <a:alphaModFix amt="0"/>
              </a:blip>
              <a:stretch>
                <a:fillRect l="0" t="-119212" r="0" b="-119212"/>
              </a:stretch>
            </a:blipFill>
          </p:spPr>
        </p:sp>
        <p:sp>
          <p:nvSpPr>
            <p:cNvPr name="TextBox 362" id="362"/>
            <p:cNvSpPr txBox="true"/>
            <p:nvPr/>
          </p:nvSpPr>
          <p:spPr>
            <a:xfrm>
              <a:off x="0" y="-114300"/>
              <a:ext cx="12070080" cy="1504188"/>
            </a:xfrm>
            <a:prstGeom prst="rect">
              <a:avLst/>
            </a:prstGeom>
          </p:spPr>
          <p:txBody>
            <a:bodyPr anchor="ctr" rtlCol="false" tIns="0" lIns="0" bIns="0" rIns="0"/>
            <a:lstStyle/>
            <a:p>
              <a:pPr algn="l">
                <a:lnSpc>
                  <a:spcPts val="4569"/>
                </a:lnSpc>
              </a:pPr>
              <a:r>
                <a:rPr lang="en-US" sz="3399">
                  <a:solidFill>
                    <a:srgbClr val="1B2A4A"/>
                  </a:solidFill>
                  <a:latin typeface="Calibri (MS)"/>
                  <a:ea typeface="Calibri (MS)"/>
                  <a:cs typeface="Calibri (MS)"/>
                  <a:sym typeface="Calibri (MS)"/>
                </a:rPr>
                <a:t>A few high earners lift the overall average</a:t>
              </a:r>
            </a:p>
          </p:txBody>
        </p:sp>
      </p:grpSp>
      <p:grpSp>
        <p:nvGrpSpPr>
          <p:cNvPr name="Group 363" id="363"/>
          <p:cNvGrpSpPr/>
          <p:nvPr/>
        </p:nvGrpSpPr>
        <p:grpSpPr>
          <a:xfrm rot="0">
            <a:off x="640080" y="32772096"/>
            <a:ext cx="365760" cy="365760"/>
            <a:chOff x="0" y="0"/>
            <a:chExt cx="487680" cy="487680"/>
          </a:xfrm>
        </p:grpSpPr>
        <p:sp>
          <p:nvSpPr>
            <p:cNvPr name="Freeform 364" id="364"/>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1E8E5A"/>
            </a:solidFill>
          </p:spPr>
        </p:sp>
      </p:grpSp>
      <p:grpSp>
        <p:nvGrpSpPr>
          <p:cNvPr name="Group 365" id="365"/>
          <p:cNvGrpSpPr/>
          <p:nvPr/>
        </p:nvGrpSpPr>
        <p:grpSpPr>
          <a:xfrm rot="0">
            <a:off x="1417320" y="32406336"/>
            <a:ext cx="9052560" cy="1042416"/>
            <a:chOff x="0" y="0"/>
            <a:chExt cx="12070080" cy="1389888"/>
          </a:xfrm>
        </p:grpSpPr>
        <p:sp>
          <p:nvSpPr>
            <p:cNvPr name="Freeform 366" id="366"/>
            <p:cNvSpPr/>
            <p:nvPr/>
          </p:nvSpPr>
          <p:spPr>
            <a:xfrm flipH="false" flipV="false" rot="0">
              <a:off x="0" y="0"/>
              <a:ext cx="12070080" cy="1389888"/>
            </a:xfrm>
            <a:custGeom>
              <a:avLst/>
              <a:gdLst/>
              <a:ahLst/>
              <a:cxnLst/>
              <a:rect r="r" b="b" t="t" l="l"/>
              <a:pathLst>
                <a:path h="1389888" w="12070080">
                  <a:moveTo>
                    <a:pt x="0" y="0"/>
                  </a:moveTo>
                  <a:lnTo>
                    <a:pt x="12070080" y="0"/>
                  </a:lnTo>
                  <a:lnTo>
                    <a:pt x="12070080" y="1389888"/>
                  </a:lnTo>
                  <a:lnTo>
                    <a:pt x="0" y="1389888"/>
                  </a:lnTo>
                  <a:close/>
                </a:path>
              </a:pathLst>
            </a:custGeom>
            <a:blipFill>
              <a:blip r:embed="rId3">
                <a:alphaModFix amt="0"/>
              </a:blip>
              <a:stretch>
                <a:fillRect l="0" t="-119212" r="0" b="-119212"/>
              </a:stretch>
            </a:blipFill>
          </p:spPr>
        </p:sp>
        <p:sp>
          <p:nvSpPr>
            <p:cNvPr name="TextBox 367" id="367"/>
            <p:cNvSpPr txBox="true"/>
            <p:nvPr/>
          </p:nvSpPr>
          <p:spPr>
            <a:xfrm>
              <a:off x="0" y="-114300"/>
              <a:ext cx="12070080" cy="1504188"/>
            </a:xfrm>
            <a:prstGeom prst="rect">
              <a:avLst/>
            </a:prstGeom>
          </p:spPr>
          <p:txBody>
            <a:bodyPr anchor="ctr" rtlCol="false" tIns="0" lIns="0" bIns="0" rIns="0"/>
            <a:lstStyle/>
            <a:p>
              <a:pPr algn="l">
                <a:lnSpc>
                  <a:spcPts val="4569"/>
                </a:lnSpc>
              </a:pPr>
              <a:r>
                <a:rPr lang="en-US" sz="3399">
                  <a:solidFill>
                    <a:srgbClr val="1B2A4A"/>
                  </a:solidFill>
                  <a:latin typeface="Calibri (MS)"/>
                  <a:ea typeface="Calibri (MS)"/>
                  <a:cs typeface="Calibri (MS)"/>
                  <a:sym typeface="Calibri (MS)"/>
                </a:rPr>
                <a:t>Department &amp; education jointly drive salary gaps</a:t>
              </a:r>
            </a:p>
          </p:txBody>
        </p:sp>
      </p:grpSp>
      <p:grpSp>
        <p:nvGrpSpPr>
          <p:cNvPr name="Group 368" id="368"/>
          <p:cNvGrpSpPr/>
          <p:nvPr/>
        </p:nvGrpSpPr>
        <p:grpSpPr>
          <a:xfrm rot="0">
            <a:off x="11332207" y="26139449"/>
            <a:ext cx="10253977" cy="8248335"/>
            <a:chOff x="0" y="0"/>
            <a:chExt cx="13671969" cy="10997780"/>
          </a:xfrm>
        </p:grpSpPr>
        <p:sp>
          <p:nvSpPr>
            <p:cNvPr name="Freeform 369" id="369"/>
            <p:cNvSpPr/>
            <p:nvPr/>
          </p:nvSpPr>
          <p:spPr>
            <a:xfrm flipH="false" flipV="false" rot="0">
              <a:off x="0" y="0"/>
              <a:ext cx="13672058" cy="10997868"/>
            </a:xfrm>
            <a:custGeom>
              <a:avLst/>
              <a:gdLst/>
              <a:ahLst/>
              <a:cxnLst/>
              <a:rect r="r" b="b" t="t" l="l"/>
              <a:pathLst>
                <a:path h="10997868" w="13672058">
                  <a:moveTo>
                    <a:pt x="0" y="137525"/>
                  </a:moveTo>
                  <a:cubicBezTo>
                    <a:pt x="0" y="61616"/>
                    <a:pt x="49276" y="0"/>
                    <a:pt x="109982" y="0"/>
                  </a:cubicBezTo>
                  <a:lnTo>
                    <a:pt x="13562076" y="0"/>
                  </a:lnTo>
                  <a:cubicBezTo>
                    <a:pt x="13622782" y="0"/>
                    <a:pt x="13672058" y="61616"/>
                    <a:pt x="13672058" y="137525"/>
                  </a:cubicBezTo>
                  <a:lnTo>
                    <a:pt x="13672058" y="10860366"/>
                  </a:lnTo>
                  <a:cubicBezTo>
                    <a:pt x="13672058" y="10936275"/>
                    <a:pt x="13622782" y="10997868"/>
                    <a:pt x="13562076" y="10997868"/>
                  </a:cubicBezTo>
                  <a:lnTo>
                    <a:pt x="109982" y="10997868"/>
                  </a:lnTo>
                  <a:cubicBezTo>
                    <a:pt x="49276" y="10997868"/>
                    <a:pt x="0" y="10936275"/>
                    <a:pt x="0" y="10860366"/>
                  </a:cubicBezTo>
                  <a:close/>
                </a:path>
              </a:pathLst>
            </a:custGeom>
            <a:solidFill>
              <a:srgbClr val="E2ECF9"/>
            </a:solidFill>
            <a:ln w="12700" cap="sq">
              <a:solidFill>
                <a:srgbClr val="FFFFFF"/>
              </a:solidFill>
              <a:prstDash val="solid"/>
              <a:miter/>
            </a:ln>
          </p:spPr>
        </p:sp>
      </p:grpSp>
      <p:grpSp>
        <p:nvGrpSpPr>
          <p:cNvPr name="Group 370" id="370"/>
          <p:cNvGrpSpPr/>
          <p:nvPr/>
        </p:nvGrpSpPr>
        <p:grpSpPr>
          <a:xfrm rot="0">
            <a:off x="19202400" y="32004000"/>
            <a:ext cx="2103120" cy="2103120"/>
            <a:chOff x="0" y="0"/>
            <a:chExt cx="2804160" cy="2804160"/>
          </a:xfrm>
        </p:grpSpPr>
        <p:sp>
          <p:nvSpPr>
            <p:cNvPr name="Freeform 371" id="371"/>
            <p:cNvSpPr/>
            <p:nvPr/>
          </p:nvSpPr>
          <p:spPr>
            <a:xfrm flipH="false" flipV="false" rot="0">
              <a:off x="0" y="0"/>
              <a:ext cx="2804160" cy="2804160"/>
            </a:xfrm>
            <a:custGeom>
              <a:avLst/>
              <a:gdLst/>
              <a:ahLst/>
              <a:cxnLst/>
              <a:rect r="r" b="b" t="t" l="l"/>
              <a:pathLst>
                <a:path h="2804160" w="2804160">
                  <a:moveTo>
                    <a:pt x="0" y="0"/>
                  </a:moveTo>
                  <a:lnTo>
                    <a:pt x="2804160" y="0"/>
                  </a:lnTo>
                  <a:lnTo>
                    <a:pt x="2804160" y="2804160"/>
                  </a:lnTo>
                  <a:lnTo>
                    <a:pt x="0" y="2804160"/>
                  </a:lnTo>
                  <a:close/>
                </a:path>
              </a:pathLst>
            </a:custGeom>
            <a:blipFill>
              <a:blip r:embed="rId3">
                <a:alphaModFix amt="0"/>
              </a:blip>
              <a:stretch>
                <a:fillRect l="-78303" t="0" r="-78303" b="0"/>
              </a:stretch>
            </a:blipFill>
          </p:spPr>
        </p:sp>
        <p:sp>
          <p:nvSpPr>
            <p:cNvPr name="TextBox 372" id="372"/>
            <p:cNvSpPr txBox="true"/>
            <p:nvPr/>
          </p:nvSpPr>
          <p:spPr>
            <a:xfrm>
              <a:off x="0" y="-66675"/>
              <a:ext cx="2804160" cy="2870835"/>
            </a:xfrm>
            <a:prstGeom prst="rect">
              <a:avLst/>
            </a:prstGeom>
          </p:spPr>
          <p:txBody>
            <a:bodyPr anchor="ctr" rtlCol="false" tIns="0" lIns="0" bIns="0" rIns="0"/>
            <a:lstStyle/>
            <a:p>
              <a:pPr algn="ctr">
                <a:lnSpc>
                  <a:spcPts val="4079"/>
                </a:lnSpc>
              </a:pPr>
              <a:r>
                <a:rPr lang="en-US" sz="3399">
                  <a:solidFill>
                    <a:srgbClr val="000000"/>
                  </a:solidFill>
                  <a:latin typeface="Calibri (MS)"/>
                  <a:ea typeface="Calibri (MS)"/>
                  <a:cs typeface="Calibri (MS)"/>
                  <a:sym typeface="Calibri (MS)"/>
                </a:rPr>
                <a:t>🏢</a:t>
              </a:r>
            </a:p>
          </p:txBody>
        </p:sp>
      </p:grpSp>
      <p:grpSp>
        <p:nvGrpSpPr>
          <p:cNvPr name="Group 373" id="373"/>
          <p:cNvGrpSpPr/>
          <p:nvPr/>
        </p:nvGrpSpPr>
        <p:grpSpPr>
          <a:xfrm rot="0">
            <a:off x="11659418" y="26992707"/>
            <a:ext cx="566928" cy="566928"/>
            <a:chOff x="0" y="0"/>
            <a:chExt cx="755904" cy="755904"/>
          </a:xfrm>
        </p:grpSpPr>
        <p:sp>
          <p:nvSpPr>
            <p:cNvPr name="Freeform 374" id="374"/>
            <p:cNvSpPr/>
            <p:nvPr/>
          </p:nvSpPr>
          <p:spPr>
            <a:xfrm flipH="false" flipV="false" rot="0">
              <a:off x="0" y="0"/>
              <a:ext cx="755904" cy="755904"/>
            </a:xfrm>
            <a:custGeom>
              <a:avLst/>
              <a:gdLst/>
              <a:ahLst/>
              <a:cxnLst/>
              <a:rect r="r" b="b" t="t" l="l"/>
              <a:pathLst>
                <a:path h="755904" w="755904">
                  <a:moveTo>
                    <a:pt x="0" y="377952"/>
                  </a:moveTo>
                  <a:cubicBezTo>
                    <a:pt x="0" y="169164"/>
                    <a:pt x="169164" y="0"/>
                    <a:pt x="377952" y="0"/>
                  </a:cubicBezTo>
                  <a:cubicBezTo>
                    <a:pt x="586740" y="0"/>
                    <a:pt x="755904" y="169164"/>
                    <a:pt x="755904" y="377952"/>
                  </a:cubicBezTo>
                  <a:cubicBezTo>
                    <a:pt x="755904" y="586740"/>
                    <a:pt x="586740" y="755904"/>
                    <a:pt x="377952" y="755904"/>
                  </a:cubicBezTo>
                  <a:cubicBezTo>
                    <a:pt x="169164" y="755904"/>
                    <a:pt x="0" y="586740"/>
                    <a:pt x="0" y="377952"/>
                  </a:cubicBezTo>
                  <a:close/>
                </a:path>
              </a:pathLst>
            </a:custGeom>
            <a:solidFill>
              <a:srgbClr val="1D5DA6"/>
            </a:solidFill>
          </p:spPr>
        </p:sp>
      </p:grpSp>
      <p:grpSp>
        <p:nvGrpSpPr>
          <p:cNvPr name="Group 375" id="375"/>
          <p:cNvGrpSpPr/>
          <p:nvPr/>
        </p:nvGrpSpPr>
        <p:grpSpPr>
          <a:xfrm rot="0">
            <a:off x="11612880" y="26797792"/>
            <a:ext cx="566928" cy="681968"/>
            <a:chOff x="0" y="0"/>
            <a:chExt cx="755904" cy="909290"/>
          </a:xfrm>
        </p:grpSpPr>
        <p:sp>
          <p:nvSpPr>
            <p:cNvPr name="Freeform 376" id="376"/>
            <p:cNvSpPr/>
            <p:nvPr/>
          </p:nvSpPr>
          <p:spPr>
            <a:xfrm flipH="false" flipV="false" rot="0">
              <a:off x="0" y="0"/>
              <a:ext cx="755904" cy="909290"/>
            </a:xfrm>
            <a:custGeom>
              <a:avLst/>
              <a:gdLst/>
              <a:ahLst/>
              <a:cxnLst/>
              <a:rect r="r" b="b" t="t" l="l"/>
              <a:pathLst>
                <a:path h="909290" w="755904">
                  <a:moveTo>
                    <a:pt x="0" y="0"/>
                  </a:moveTo>
                  <a:lnTo>
                    <a:pt x="755904" y="0"/>
                  </a:lnTo>
                  <a:lnTo>
                    <a:pt x="755904" y="909290"/>
                  </a:lnTo>
                  <a:lnTo>
                    <a:pt x="0" y="909290"/>
                  </a:lnTo>
                  <a:close/>
                </a:path>
              </a:pathLst>
            </a:custGeom>
            <a:blipFill>
              <a:blip r:embed="rId3">
                <a:alphaModFix amt="0"/>
              </a:blip>
              <a:stretch>
                <a:fillRect l="-78303" t="0" r="-78303" b="16868"/>
              </a:stretch>
            </a:blipFill>
          </p:spPr>
        </p:sp>
        <p:sp>
          <p:nvSpPr>
            <p:cNvPr name="TextBox 377" id="377"/>
            <p:cNvSpPr txBox="true"/>
            <p:nvPr/>
          </p:nvSpPr>
          <p:spPr>
            <a:xfrm>
              <a:off x="0" y="-66675"/>
              <a:ext cx="755904" cy="975965"/>
            </a:xfrm>
            <a:prstGeom prst="rect">
              <a:avLst/>
            </a:prstGeom>
          </p:spPr>
          <p:txBody>
            <a:bodyPr anchor="ctr" rtlCol="false" tIns="0" lIns="0" bIns="0" rIns="0"/>
            <a:lstStyle/>
            <a:p>
              <a:pPr algn="ctr">
                <a:lnSpc>
                  <a:spcPts val="4079"/>
                </a:lnSpc>
              </a:pPr>
              <a:r>
                <a:rPr lang="en-US" sz="3399">
                  <a:solidFill>
                    <a:srgbClr val="FFFFFF"/>
                  </a:solidFill>
                  <a:latin typeface="Calibri (MS)"/>
                  <a:ea typeface="Calibri (MS)"/>
                  <a:cs typeface="Calibri (MS)"/>
                  <a:sym typeface="Calibri (MS)"/>
                </a:rPr>
                <a:t>🏢</a:t>
              </a:r>
            </a:p>
          </p:txBody>
        </p:sp>
      </p:grpSp>
      <p:grpSp>
        <p:nvGrpSpPr>
          <p:cNvPr name="Group 378" id="378"/>
          <p:cNvGrpSpPr/>
          <p:nvPr/>
        </p:nvGrpSpPr>
        <p:grpSpPr>
          <a:xfrm rot="0">
            <a:off x="11475720" y="25662058"/>
            <a:ext cx="8961120" cy="2926993"/>
            <a:chOff x="0" y="0"/>
            <a:chExt cx="11948160" cy="3902657"/>
          </a:xfrm>
        </p:grpSpPr>
        <p:sp>
          <p:nvSpPr>
            <p:cNvPr name="Freeform 379" id="379"/>
            <p:cNvSpPr/>
            <p:nvPr/>
          </p:nvSpPr>
          <p:spPr>
            <a:xfrm flipH="false" flipV="false" rot="0">
              <a:off x="0" y="0"/>
              <a:ext cx="11948160" cy="3902657"/>
            </a:xfrm>
            <a:custGeom>
              <a:avLst/>
              <a:gdLst/>
              <a:ahLst/>
              <a:cxnLst/>
              <a:rect r="r" b="b" t="t" l="l"/>
              <a:pathLst>
                <a:path h="3902657" w="11948160">
                  <a:moveTo>
                    <a:pt x="0" y="0"/>
                  </a:moveTo>
                  <a:lnTo>
                    <a:pt x="11948160" y="0"/>
                  </a:lnTo>
                  <a:lnTo>
                    <a:pt x="11948160" y="3902657"/>
                  </a:lnTo>
                  <a:lnTo>
                    <a:pt x="0" y="3902657"/>
                  </a:lnTo>
                  <a:close/>
                </a:path>
              </a:pathLst>
            </a:custGeom>
            <a:blipFill>
              <a:blip r:embed="rId3">
                <a:alphaModFix amt="0"/>
              </a:blip>
              <a:stretch>
                <a:fillRect l="0" t="-49032" r="0" b="29723"/>
              </a:stretch>
            </a:blipFill>
          </p:spPr>
        </p:sp>
        <p:sp>
          <p:nvSpPr>
            <p:cNvPr name="TextBox 380" id="380"/>
            <p:cNvSpPr txBox="true"/>
            <p:nvPr/>
          </p:nvSpPr>
          <p:spPr>
            <a:xfrm>
              <a:off x="0" y="-9525"/>
              <a:ext cx="11948160" cy="3912182"/>
            </a:xfrm>
            <a:prstGeom prst="rect">
              <a:avLst/>
            </a:prstGeom>
          </p:spPr>
          <p:txBody>
            <a:bodyPr anchor="ctr" rtlCol="false" tIns="0" lIns="0" bIns="0" rIns="0"/>
            <a:lstStyle/>
            <a:p>
              <a:pPr algn="ctr">
                <a:lnSpc>
                  <a:spcPts val="4799"/>
                </a:lnSpc>
              </a:pPr>
              <a:r>
                <a:rPr lang="en-US" sz="3999" b="true">
                  <a:solidFill>
                    <a:srgbClr val="1B2A4A"/>
                  </a:solidFill>
                  <a:latin typeface="Cambria Bold"/>
                  <a:ea typeface="Cambria Bold"/>
                  <a:cs typeface="Cambria Bold"/>
                  <a:sym typeface="Cambria Bold"/>
                </a:rPr>
                <a:t>Applications</a:t>
              </a:r>
            </a:p>
          </p:txBody>
        </p:sp>
      </p:grpSp>
      <p:grpSp>
        <p:nvGrpSpPr>
          <p:cNvPr name="Group 381" id="381"/>
          <p:cNvGrpSpPr/>
          <p:nvPr/>
        </p:nvGrpSpPr>
        <p:grpSpPr>
          <a:xfrm rot="0">
            <a:off x="11568146" y="28529280"/>
            <a:ext cx="365760" cy="365760"/>
            <a:chOff x="0" y="0"/>
            <a:chExt cx="487680" cy="487680"/>
          </a:xfrm>
        </p:grpSpPr>
        <p:sp>
          <p:nvSpPr>
            <p:cNvPr name="Freeform 382" id="382"/>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1D5DA6"/>
            </a:solidFill>
          </p:spPr>
        </p:sp>
      </p:grpSp>
      <p:grpSp>
        <p:nvGrpSpPr>
          <p:cNvPr name="Group 383" id="383"/>
          <p:cNvGrpSpPr/>
          <p:nvPr/>
        </p:nvGrpSpPr>
        <p:grpSpPr>
          <a:xfrm rot="0">
            <a:off x="12207240" y="28250198"/>
            <a:ext cx="9052560" cy="1042416"/>
            <a:chOff x="0" y="0"/>
            <a:chExt cx="12070080" cy="1389888"/>
          </a:xfrm>
        </p:grpSpPr>
        <p:sp>
          <p:nvSpPr>
            <p:cNvPr name="Freeform 384" id="384"/>
            <p:cNvSpPr/>
            <p:nvPr/>
          </p:nvSpPr>
          <p:spPr>
            <a:xfrm flipH="false" flipV="false" rot="0">
              <a:off x="0" y="0"/>
              <a:ext cx="12070080" cy="1389888"/>
            </a:xfrm>
            <a:custGeom>
              <a:avLst/>
              <a:gdLst/>
              <a:ahLst/>
              <a:cxnLst/>
              <a:rect r="r" b="b" t="t" l="l"/>
              <a:pathLst>
                <a:path h="1389888" w="12070080">
                  <a:moveTo>
                    <a:pt x="0" y="0"/>
                  </a:moveTo>
                  <a:lnTo>
                    <a:pt x="12070080" y="0"/>
                  </a:lnTo>
                  <a:lnTo>
                    <a:pt x="12070080" y="1389888"/>
                  </a:lnTo>
                  <a:lnTo>
                    <a:pt x="0" y="1389888"/>
                  </a:lnTo>
                  <a:close/>
                </a:path>
              </a:pathLst>
            </a:custGeom>
            <a:blipFill>
              <a:blip r:embed="rId3">
                <a:alphaModFix amt="0"/>
              </a:blip>
              <a:stretch>
                <a:fillRect l="0" t="-119212" r="0" b="-119212"/>
              </a:stretch>
            </a:blipFill>
          </p:spPr>
        </p:sp>
        <p:sp>
          <p:nvSpPr>
            <p:cNvPr name="TextBox 385" id="385"/>
            <p:cNvSpPr txBox="true"/>
            <p:nvPr/>
          </p:nvSpPr>
          <p:spPr>
            <a:xfrm>
              <a:off x="0" y="-114300"/>
              <a:ext cx="12070080" cy="1504188"/>
            </a:xfrm>
            <a:prstGeom prst="rect">
              <a:avLst/>
            </a:prstGeom>
          </p:spPr>
          <p:txBody>
            <a:bodyPr anchor="ctr" rtlCol="false" tIns="0" lIns="0" bIns="0" rIns="0"/>
            <a:lstStyle/>
            <a:p>
              <a:pPr algn="l">
                <a:lnSpc>
                  <a:spcPts val="4569"/>
                </a:lnSpc>
              </a:pPr>
              <a:r>
                <a:rPr lang="en-US" sz="3399">
                  <a:solidFill>
                    <a:srgbClr val="1B2A4A"/>
                  </a:solidFill>
                  <a:latin typeface="Calibri (MS)"/>
                  <a:ea typeface="Calibri (MS)"/>
                  <a:cs typeface="Calibri (MS)"/>
                  <a:sym typeface="Calibri (MS)"/>
                </a:rPr>
                <a:t>HR: compensation planning &amp; benchmarking</a:t>
              </a:r>
            </a:p>
          </p:txBody>
        </p:sp>
      </p:grpSp>
      <p:grpSp>
        <p:nvGrpSpPr>
          <p:cNvPr name="Group 386" id="386"/>
          <p:cNvGrpSpPr/>
          <p:nvPr/>
        </p:nvGrpSpPr>
        <p:grpSpPr>
          <a:xfrm rot="0">
            <a:off x="11568146" y="29681929"/>
            <a:ext cx="365760" cy="365760"/>
            <a:chOff x="0" y="0"/>
            <a:chExt cx="487680" cy="487680"/>
          </a:xfrm>
        </p:grpSpPr>
        <p:sp>
          <p:nvSpPr>
            <p:cNvPr name="Freeform 387" id="387"/>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1D5DA6"/>
            </a:solidFill>
          </p:spPr>
        </p:sp>
      </p:grpSp>
      <p:grpSp>
        <p:nvGrpSpPr>
          <p:cNvPr name="Group 388" id="388"/>
          <p:cNvGrpSpPr/>
          <p:nvPr/>
        </p:nvGrpSpPr>
        <p:grpSpPr>
          <a:xfrm rot="0">
            <a:off x="12207240" y="29553783"/>
            <a:ext cx="9052560" cy="1042416"/>
            <a:chOff x="0" y="0"/>
            <a:chExt cx="12070080" cy="1389888"/>
          </a:xfrm>
        </p:grpSpPr>
        <p:sp>
          <p:nvSpPr>
            <p:cNvPr name="Freeform 389" id="389"/>
            <p:cNvSpPr/>
            <p:nvPr/>
          </p:nvSpPr>
          <p:spPr>
            <a:xfrm flipH="false" flipV="false" rot="0">
              <a:off x="0" y="0"/>
              <a:ext cx="12070080" cy="1389888"/>
            </a:xfrm>
            <a:custGeom>
              <a:avLst/>
              <a:gdLst/>
              <a:ahLst/>
              <a:cxnLst/>
              <a:rect r="r" b="b" t="t" l="l"/>
              <a:pathLst>
                <a:path h="1389888" w="12070080">
                  <a:moveTo>
                    <a:pt x="0" y="0"/>
                  </a:moveTo>
                  <a:lnTo>
                    <a:pt x="12070080" y="0"/>
                  </a:lnTo>
                  <a:lnTo>
                    <a:pt x="12070080" y="1389888"/>
                  </a:lnTo>
                  <a:lnTo>
                    <a:pt x="0" y="1389888"/>
                  </a:lnTo>
                  <a:close/>
                </a:path>
              </a:pathLst>
            </a:custGeom>
            <a:blipFill>
              <a:blip r:embed="rId3">
                <a:alphaModFix amt="0"/>
              </a:blip>
              <a:stretch>
                <a:fillRect l="0" t="-119212" r="0" b="-119212"/>
              </a:stretch>
            </a:blipFill>
          </p:spPr>
        </p:sp>
        <p:sp>
          <p:nvSpPr>
            <p:cNvPr name="TextBox 390" id="390"/>
            <p:cNvSpPr txBox="true"/>
            <p:nvPr/>
          </p:nvSpPr>
          <p:spPr>
            <a:xfrm>
              <a:off x="0" y="-114300"/>
              <a:ext cx="12070080" cy="1504188"/>
            </a:xfrm>
            <a:prstGeom prst="rect">
              <a:avLst/>
            </a:prstGeom>
          </p:spPr>
          <p:txBody>
            <a:bodyPr anchor="ctr" rtlCol="false" tIns="0" lIns="0" bIns="0" rIns="0"/>
            <a:lstStyle/>
            <a:p>
              <a:pPr algn="l">
                <a:lnSpc>
                  <a:spcPts val="4569"/>
                </a:lnSpc>
              </a:pPr>
              <a:r>
                <a:rPr lang="en-US" sz="3399">
                  <a:solidFill>
                    <a:srgbClr val="1B2A4A"/>
                  </a:solidFill>
                  <a:latin typeface="Calibri (MS)"/>
                  <a:ea typeface="Calibri (MS)"/>
                  <a:cs typeface="Calibri (MS)"/>
                  <a:sym typeface="Calibri (MS)"/>
                </a:rPr>
                <a:t>HR: workforce budgeting</a:t>
              </a:r>
            </a:p>
          </p:txBody>
        </p:sp>
      </p:grpSp>
      <p:grpSp>
        <p:nvGrpSpPr>
          <p:cNvPr name="Group 391" id="391"/>
          <p:cNvGrpSpPr/>
          <p:nvPr/>
        </p:nvGrpSpPr>
        <p:grpSpPr>
          <a:xfrm rot="0">
            <a:off x="11612880" y="30998160"/>
            <a:ext cx="365760" cy="365760"/>
            <a:chOff x="0" y="0"/>
            <a:chExt cx="487680" cy="487680"/>
          </a:xfrm>
        </p:grpSpPr>
        <p:sp>
          <p:nvSpPr>
            <p:cNvPr name="Freeform 392" id="392"/>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1D5DA6"/>
            </a:solidFill>
          </p:spPr>
        </p:sp>
      </p:grpSp>
      <p:grpSp>
        <p:nvGrpSpPr>
          <p:cNvPr name="Group 393" id="393"/>
          <p:cNvGrpSpPr/>
          <p:nvPr/>
        </p:nvGrpSpPr>
        <p:grpSpPr>
          <a:xfrm rot="0">
            <a:off x="12207240" y="30622107"/>
            <a:ext cx="9052560" cy="1042416"/>
            <a:chOff x="0" y="0"/>
            <a:chExt cx="12070080" cy="1389888"/>
          </a:xfrm>
        </p:grpSpPr>
        <p:sp>
          <p:nvSpPr>
            <p:cNvPr name="Freeform 394" id="394"/>
            <p:cNvSpPr/>
            <p:nvPr/>
          </p:nvSpPr>
          <p:spPr>
            <a:xfrm flipH="false" flipV="false" rot="0">
              <a:off x="0" y="0"/>
              <a:ext cx="12070080" cy="1389888"/>
            </a:xfrm>
            <a:custGeom>
              <a:avLst/>
              <a:gdLst/>
              <a:ahLst/>
              <a:cxnLst/>
              <a:rect r="r" b="b" t="t" l="l"/>
              <a:pathLst>
                <a:path h="1389888" w="12070080">
                  <a:moveTo>
                    <a:pt x="0" y="0"/>
                  </a:moveTo>
                  <a:lnTo>
                    <a:pt x="12070080" y="0"/>
                  </a:lnTo>
                  <a:lnTo>
                    <a:pt x="12070080" y="1389888"/>
                  </a:lnTo>
                  <a:lnTo>
                    <a:pt x="0" y="1389888"/>
                  </a:lnTo>
                  <a:close/>
                </a:path>
              </a:pathLst>
            </a:custGeom>
            <a:blipFill>
              <a:blip r:embed="rId3">
                <a:alphaModFix amt="0"/>
              </a:blip>
              <a:stretch>
                <a:fillRect l="0" t="-119212" r="0" b="-119212"/>
              </a:stretch>
            </a:blipFill>
          </p:spPr>
        </p:sp>
        <p:sp>
          <p:nvSpPr>
            <p:cNvPr name="TextBox 395" id="395"/>
            <p:cNvSpPr txBox="true"/>
            <p:nvPr/>
          </p:nvSpPr>
          <p:spPr>
            <a:xfrm>
              <a:off x="0" y="-114300"/>
              <a:ext cx="12070080" cy="1504188"/>
            </a:xfrm>
            <a:prstGeom prst="rect">
              <a:avLst/>
            </a:prstGeom>
          </p:spPr>
          <p:txBody>
            <a:bodyPr anchor="ctr" rtlCol="false" tIns="0" lIns="0" bIns="0" rIns="0"/>
            <a:lstStyle/>
            <a:p>
              <a:pPr algn="l">
                <a:lnSpc>
                  <a:spcPts val="4569"/>
                </a:lnSpc>
              </a:pPr>
              <a:r>
                <a:rPr lang="en-US" sz="3399">
                  <a:solidFill>
                    <a:srgbClr val="1B2A4A"/>
                  </a:solidFill>
                  <a:latin typeface="Calibri (MS)"/>
                  <a:ea typeface="Calibri (MS)"/>
                  <a:cs typeface="Calibri (MS)"/>
                  <a:sym typeface="Calibri (MS)"/>
                </a:rPr>
                <a:t>Analytics: salary trend identification</a:t>
              </a:r>
            </a:p>
          </p:txBody>
        </p:sp>
      </p:grpSp>
      <p:grpSp>
        <p:nvGrpSpPr>
          <p:cNvPr name="Group 396" id="396"/>
          <p:cNvGrpSpPr/>
          <p:nvPr/>
        </p:nvGrpSpPr>
        <p:grpSpPr>
          <a:xfrm rot="0">
            <a:off x="11612880" y="32068008"/>
            <a:ext cx="365760" cy="365760"/>
            <a:chOff x="0" y="0"/>
            <a:chExt cx="487680" cy="487680"/>
          </a:xfrm>
        </p:grpSpPr>
        <p:sp>
          <p:nvSpPr>
            <p:cNvPr name="Freeform 397" id="397"/>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1D5DA6"/>
            </a:solidFill>
          </p:spPr>
        </p:sp>
      </p:grpSp>
      <p:grpSp>
        <p:nvGrpSpPr>
          <p:cNvPr name="Group 398" id="398"/>
          <p:cNvGrpSpPr/>
          <p:nvPr/>
        </p:nvGrpSpPr>
        <p:grpSpPr>
          <a:xfrm rot="0">
            <a:off x="12207240" y="31729680"/>
            <a:ext cx="9052560" cy="1042416"/>
            <a:chOff x="0" y="0"/>
            <a:chExt cx="12070080" cy="1389888"/>
          </a:xfrm>
        </p:grpSpPr>
        <p:sp>
          <p:nvSpPr>
            <p:cNvPr name="Freeform 399" id="399"/>
            <p:cNvSpPr/>
            <p:nvPr/>
          </p:nvSpPr>
          <p:spPr>
            <a:xfrm flipH="false" flipV="false" rot="0">
              <a:off x="0" y="0"/>
              <a:ext cx="12070080" cy="1389888"/>
            </a:xfrm>
            <a:custGeom>
              <a:avLst/>
              <a:gdLst/>
              <a:ahLst/>
              <a:cxnLst/>
              <a:rect r="r" b="b" t="t" l="l"/>
              <a:pathLst>
                <a:path h="1389888" w="12070080">
                  <a:moveTo>
                    <a:pt x="0" y="0"/>
                  </a:moveTo>
                  <a:lnTo>
                    <a:pt x="12070080" y="0"/>
                  </a:lnTo>
                  <a:lnTo>
                    <a:pt x="12070080" y="1389888"/>
                  </a:lnTo>
                  <a:lnTo>
                    <a:pt x="0" y="1389888"/>
                  </a:lnTo>
                  <a:close/>
                </a:path>
              </a:pathLst>
            </a:custGeom>
            <a:blipFill>
              <a:blip r:embed="rId3">
                <a:alphaModFix amt="0"/>
              </a:blip>
              <a:stretch>
                <a:fillRect l="0" t="-119212" r="0" b="-119212"/>
              </a:stretch>
            </a:blipFill>
          </p:spPr>
        </p:sp>
        <p:sp>
          <p:nvSpPr>
            <p:cNvPr name="TextBox 400" id="400"/>
            <p:cNvSpPr txBox="true"/>
            <p:nvPr/>
          </p:nvSpPr>
          <p:spPr>
            <a:xfrm>
              <a:off x="0" y="-114300"/>
              <a:ext cx="12070080" cy="1504188"/>
            </a:xfrm>
            <a:prstGeom prst="rect">
              <a:avLst/>
            </a:prstGeom>
          </p:spPr>
          <p:txBody>
            <a:bodyPr anchor="ctr" rtlCol="false" tIns="0" lIns="0" bIns="0" rIns="0"/>
            <a:lstStyle/>
            <a:p>
              <a:pPr algn="l">
                <a:lnSpc>
                  <a:spcPts val="4569"/>
                </a:lnSpc>
              </a:pPr>
              <a:r>
                <a:rPr lang="en-US" sz="3399">
                  <a:solidFill>
                    <a:srgbClr val="1B2A4A"/>
                  </a:solidFill>
                  <a:latin typeface="Calibri (MS)"/>
                  <a:ea typeface="Calibri (MS)"/>
                  <a:cs typeface="Calibri (MS)"/>
                  <a:sym typeface="Calibri (MS)"/>
                </a:rPr>
                <a:t>Analytics: resource allocation &amp; optimization</a:t>
              </a:r>
            </a:p>
          </p:txBody>
        </p:sp>
      </p:grpSp>
      <p:grpSp>
        <p:nvGrpSpPr>
          <p:cNvPr name="Group 401" id="401"/>
          <p:cNvGrpSpPr/>
          <p:nvPr/>
        </p:nvGrpSpPr>
        <p:grpSpPr>
          <a:xfrm rot="0">
            <a:off x="11530584" y="33082992"/>
            <a:ext cx="365760" cy="365760"/>
            <a:chOff x="0" y="0"/>
            <a:chExt cx="487680" cy="487680"/>
          </a:xfrm>
        </p:grpSpPr>
        <p:sp>
          <p:nvSpPr>
            <p:cNvPr name="Freeform 402" id="402"/>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1D5DA6"/>
            </a:solidFill>
          </p:spPr>
        </p:sp>
      </p:grpSp>
      <p:grpSp>
        <p:nvGrpSpPr>
          <p:cNvPr name="Group 403" id="403"/>
          <p:cNvGrpSpPr/>
          <p:nvPr/>
        </p:nvGrpSpPr>
        <p:grpSpPr>
          <a:xfrm rot="0">
            <a:off x="12207240" y="32772096"/>
            <a:ext cx="9052560" cy="1042416"/>
            <a:chOff x="0" y="0"/>
            <a:chExt cx="12070080" cy="1389888"/>
          </a:xfrm>
        </p:grpSpPr>
        <p:sp>
          <p:nvSpPr>
            <p:cNvPr name="Freeform 404" id="404"/>
            <p:cNvSpPr/>
            <p:nvPr/>
          </p:nvSpPr>
          <p:spPr>
            <a:xfrm flipH="false" flipV="false" rot="0">
              <a:off x="0" y="0"/>
              <a:ext cx="12070080" cy="1389888"/>
            </a:xfrm>
            <a:custGeom>
              <a:avLst/>
              <a:gdLst/>
              <a:ahLst/>
              <a:cxnLst/>
              <a:rect r="r" b="b" t="t" l="l"/>
              <a:pathLst>
                <a:path h="1389888" w="12070080">
                  <a:moveTo>
                    <a:pt x="0" y="0"/>
                  </a:moveTo>
                  <a:lnTo>
                    <a:pt x="12070080" y="0"/>
                  </a:lnTo>
                  <a:lnTo>
                    <a:pt x="12070080" y="1389888"/>
                  </a:lnTo>
                  <a:lnTo>
                    <a:pt x="0" y="1389888"/>
                  </a:lnTo>
                  <a:close/>
                </a:path>
              </a:pathLst>
            </a:custGeom>
            <a:blipFill>
              <a:blip r:embed="rId3">
                <a:alphaModFix amt="0"/>
              </a:blip>
              <a:stretch>
                <a:fillRect l="0" t="-119212" r="0" b="-119212"/>
              </a:stretch>
            </a:blipFill>
          </p:spPr>
        </p:sp>
        <p:sp>
          <p:nvSpPr>
            <p:cNvPr name="TextBox 405" id="405"/>
            <p:cNvSpPr txBox="true"/>
            <p:nvPr/>
          </p:nvSpPr>
          <p:spPr>
            <a:xfrm>
              <a:off x="0" y="-114300"/>
              <a:ext cx="12070080" cy="1504188"/>
            </a:xfrm>
            <a:prstGeom prst="rect">
              <a:avLst/>
            </a:prstGeom>
          </p:spPr>
          <p:txBody>
            <a:bodyPr anchor="ctr" rtlCol="false" tIns="0" lIns="0" bIns="0" rIns="0"/>
            <a:lstStyle/>
            <a:p>
              <a:pPr algn="l">
                <a:lnSpc>
                  <a:spcPts val="4569"/>
                </a:lnSpc>
              </a:pPr>
              <a:r>
                <a:rPr lang="en-US" sz="3399">
                  <a:solidFill>
                    <a:srgbClr val="1B2A4A"/>
                  </a:solidFill>
                  <a:latin typeface="Calibri (MS)"/>
                  <a:ea typeface="Calibri (MS)"/>
                  <a:cs typeface="Calibri (MS)"/>
                  <a:sym typeface="Calibri (MS)"/>
                </a:rPr>
                <a:t>Data Science: reporting &amp; decision support</a:t>
              </a:r>
            </a:p>
          </p:txBody>
        </p:sp>
      </p:grpSp>
      <p:grpSp>
        <p:nvGrpSpPr>
          <p:cNvPr name="Group 406" id="406"/>
          <p:cNvGrpSpPr/>
          <p:nvPr/>
        </p:nvGrpSpPr>
        <p:grpSpPr>
          <a:xfrm rot="0">
            <a:off x="22122127" y="27791407"/>
            <a:ext cx="10253977" cy="6596377"/>
            <a:chOff x="0" y="0"/>
            <a:chExt cx="13671969" cy="8795169"/>
          </a:xfrm>
        </p:grpSpPr>
        <p:sp>
          <p:nvSpPr>
            <p:cNvPr name="Freeform 407" id="407"/>
            <p:cNvSpPr/>
            <p:nvPr/>
          </p:nvSpPr>
          <p:spPr>
            <a:xfrm flipH="false" flipV="false" rot="0">
              <a:off x="0" y="0"/>
              <a:ext cx="13672058" cy="8795258"/>
            </a:xfrm>
            <a:custGeom>
              <a:avLst/>
              <a:gdLst/>
              <a:ahLst/>
              <a:cxnLst/>
              <a:rect r="r" b="b" t="t" l="l"/>
              <a:pathLst>
                <a:path h="8795258" w="13672058">
                  <a:moveTo>
                    <a:pt x="0" y="109982"/>
                  </a:moveTo>
                  <a:cubicBezTo>
                    <a:pt x="0" y="49276"/>
                    <a:pt x="49276" y="0"/>
                    <a:pt x="109982" y="0"/>
                  </a:cubicBezTo>
                  <a:lnTo>
                    <a:pt x="13562076" y="0"/>
                  </a:lnTo>
                  <a:cubicBezTo>
                    <a:pt x="13622782" y="0"/>
                    <a:pt x="13672058" y="49276"/>
                    <a:pt x="13672058" y="109982"/>
                  </a:cubicBezTo>
                  <a:lnTo>
                    <a:pt x="13672058" y="8685276"/>
                  </a:lnTo>
                  <a:cubicBezTo>
                    <a:pt x="13672058" y="8745982"/>
                    <a:pt x="13622782" y="8795258"/>
                    <a:pt x="13562076" y="8795258"/>
                  </a:cubicBezTo>
                  <a:lnTo>
                    <a:pt x="109982" y="8795258"/>
                  </a:lnTo>
                  <a:cubicBezTo>
                    <a:pt x="49276" y="8795258"/>
                    <a:pt x="0" y="8745982"/>
                    <a:pt x="0" y="8685276"/>
                  </a:cubicBezTo>
                  <a:close/>
                </a:path>
              </a:pathLst>
            </a:custGeom>
            <a:solidFill>
              <a:srgbClr val="FCE7E8"/>
            </a:solidFill>
            <a:ln w="12700" cap="sq">
              <a:solidFill>
                <a:srgbClr val="FFFFFF"/>
              </a:solidFill>
              <a:prstDash val="solid"/>
              <a:miter/>
            </a:ln>
          </p:spPr>
        </p:sp>
      </p:grpSp>
      <p:grpSp>
        <p:nvGrpSpPr>
          <p:cNvPr name="Group 408" id="408"/>
          <p:cNvGrpSpPr/>
          <p:nvPr/>
        </p:nvGrpSpPr>
        <p:grpSpPr>
          <a:xfrm rot="0">
            <a:off x="29992320" y="32004000"/>
            <a:ext cx="2103120" cy="2103120"/>
            <a:chOff x="0" y="0"/>
            <a:chExt cx="2804160" cy="2804160"/>
          </a:xfrm>
        </p:grpSpPr>
        <p:sp>
          <p:nvSpPr>
            <p:cNvPr name="Freeform 409" id="409"/>
            <p:cNvSpPr/>
            <p:nvPr/>
          </p:nvSpPr>
          <p:spPr>
            <a:xfrm flipH="false" flipV="false" rot="0">
              <a:off x="0" y="0"/>
              <a:ext cx="2804160" cy="2804160"/>
            </a:xfrm>
            <a:custGeom>
              <a:avLst/>
              <a:gdLst/>
              <a:ahLst/>
              <a:cxnLst/>
              <a:rect r="r" b="b" t="t" l="l"/>
              <a:pathLst>
                <a:path h="2804160" w="2804160">
                  <a:moveTo>
                    <a:pt x="0" y="0"/>
                  </a:moveTo>
                  <a:lnTo>
                    <a:pt x="2804160" y="0"/>
                  </a:lnTo>
                  <a:lnTo>
                    <a:pt x="2804160" y="2804160"/>
                  </a:lnTo>
                  <a:lnTo>
                    <a:pt x="0" y="2804160"/>
                  </a:lnTo>
                  <a:close/>
                </a:path>
              </a:pathLst>
            </a:custGeom>
            <a:blipFill>
              <a:blip r:embed="rId3">
                <a:alphaModFix amt="0"/>
              </a:blip>
              <a:stretch>
                <a:fillRect l="-78303" t="0" r="-78303" b="0"/>
              </a:stretch>
            </a:blipFill>
          </p:spPr>
        </p:sp>
        <p:sp>
          <p:nvSpPr>
            <p:cNvPr name="TextBox 410" id="410"/>
            <p:cNvSpPr txBox="true"/>
            <p:nvPr/>
          </p:nvSpPr>
          <p:spPr>
            <a:xfrm>
              <a:off x="0" y="-66675"/>
              <a:ext cx="2804160" cy="2870835"/>
            </a:xfrm>
            <a:prstGeom prst="rect">
              <a:avLst/>
            </a:prstGeom>
          </p:spPr>
          <p:txBody>
            <a:bodyPr anchor="ctr" rtlCol="false" tIns="0" lIns="0" bIns="0" rIns="0"/>
            <a:lstStyle/>
            <a:p>
              <a:pPr algn="ctr">
                <a:lnSpc>
                  <a:spcPts val="4079"/>
                </a:lnSpc>
              </a:pPr>
              <a:r>
                <a:rPr lang="en-US" sz="3399">
                  <a:solidFill>
                    <a:srgbClr val="000000"/>
                  </a:solidFill>
                  <a:latin typeface="Calibri (MS)"/>
                  <a:ea typeface="Calibri (MS)"/>
                  <a:cs typeface="Calibri (MS)"/>
                  <a:sym typeface="Calibri (MS)"/>
                </a:rPr>
                <a:t>🏁</a:t>
              </a:r>
            </a:p>
          </p:txBody>
        </p:sp>
      </p:grpSp>
      <p:grpSp>
        <p:nvGrpSpPr>
          <p:cNvPr name="Group 411" id="411"/>
          <p:cNvGrpSpPr/>
          <p:nvPr/>
        </p:nvGrpSpPr>
        <p:grpSpPr>
          <a:xfrm rot="0">
            <a:off x="22402800" y="28053792"/>
            <a:ext cx="566928" cy="566928"/>
            <a:chOff x="0" y="0"/>
            <a:chExt cx="755904" cy="755904"/>
          </a:xfrm>
        </p:grpSpPr>
        <p:sp>
          <p:nvSpPr>
            <p:cNvPr name="Freeform 412" id="412"/>
            <p:cNvSpPr/>
            <p:nvPr/>
          </p:nvSpPr>
          <p:spPr>
            <a:xfrm flipH="false" flipV="false" rot="0">
              <a:off x="0" y="0"/>
              <a:ext cx="755904" cy="755904"/>
            </a:xfrm>
            <a:custGeom>
              <a:avLst/>
              <a:gdLst/>
              <a:ahLst/>
              <a:cxnLst/>
              <a:rect r="r" b="b" t="t" l="l"/>
              <a:pathLst>
                <a:path h="755904" w="755904">
                  <a:moveTo>
                    <a:pt x="0" y="377952"/>
                  </a:moveTo>
                  <a:cubicBezTo>
                    <a:pt x="0" y="169164"/>
                    <a:pt x="169164" y="0"/>
                    <a:pt x="377952" y="0"/>
                  </a:cubicBezTo>
                  <a:cubicBezTo>
                    <a:pt x="586740" y="0"/>
                    <a:pt x="755904" y="169164"/>
                    <a:pt x="755904" y="377952"/>
                  </a:cubicBezTo>
                  <a:cubicBezTo>
                    <a:pt x="755904" y="586740"/>
                    <a:pt x="586740" y="755904"/>
                    <a:pt x="377952" y="755904"/>
                  </a:cubicBezTo>
                  <a:cubicBezTo>
                    <a:pt x="169164" y="755904"/>
                    <a:pt x="0" y="586740"/>
                    <a:pt x="0" y="377952"/>
                  </a:cubicBezTo>
                  <a:close/>
                </a:path>
              </a:pathLst>
            </a:custGeom>
            <a:solidFill>
              <a:srgbClr val="D64550"/>
            </a:solidFill>
          </p:spPr>
        </p:sp>
      </p:grpSp>
      <p:grpSp>
        <p:nvGrpSpPr>
          <p:cNvPr name="Group 413" id="413"/>
          <p:cNvGrpSpPr/>
          <p:nvPr/>
        </p:nvGrpSpPr>
        <p:grpSpPr>
          <a:xfrm rot="0">
            <a:off x="22402800" y="28053792"/>
            <a:ext cx="566928" cy="681968"/>
            <a:chOff x="0" y="0"/>
            <a:chExt cx="755904" cy="909290"/>
          </a:xfrm>
        </p:grpSpPr>
        <p:sp>
          <p:nvSpPr>
            <p:cNvPr name="Freeform 414" id="414"/>
            <p:cNvSpPr/>
            <p:nvPr/>
          </p:nvSpPr>
          <p:spPr>
            <a:xfrm flipH="false" flipV="false" rot="0">
              <a:off x="0" y="0"/>
              <a:ext cx="755904" cy="909290"/>
            </a:xfrm>
            <a:custGeom>
              <a:avLst/>
              <a:gdLst/>
              <a:ahLst/>
              <a:cxnLst/>
              <a:rect r="r" b="b" t="t" l="l"/>
              <a:pathLst>
                <a:path h="909290" w="755904">
                  <a:moveTo>
                    <a:pt x="0" y="0"/>
                  </a:moveTo>
                  <a:lnTo>
                    <a:pt x="755904" y="0"/>
                  </a:lnTo>
                  <a:lnTo>
                    <a:pt x="755904" y="909290"/>
                  </a:lnTo>
                  <a:lnTo>
                    <a:pt x="0" y="909290"/>
                  </a:lnTo>
                  <a:close/>
                </a:path>
              </a:pathLst>
            </a:custGeom>
            <a:blipFill>
              <a:blip r:embed="rId3">
                <a:alphaModFix amt="0"/>
              </a:blip>
              <a:stretch>
                <a:fillRect l="-78303" t="0" r="-78303" b="16868"/>
              </a:stretch>
            </a:blipFill>
          </p:spPr>
        </p:sp>
        <p:sp>
          <p:nvSpPr>
            <p:cNvPr name="TextBox 415" id="415"/>
            <p:cNvSpPr txBox="true"/>
            <p:nvPr/>
          </p:nvSpPr>
          <p:spPr>
            <a:xfrm>
              <a:off x="0" y="-66675"/>
              <a:ext cx="755904" cy="975965"/>
            </a:xfrm>
            <a:prstGeom prst="rect">
              <a:avLst/>
            </a:prstGeom>
          </p:spPr>
          <p:txBody>
            <a:bodyPr anchor="ctr" rtlCol="false" tIns="0" lIns="0" bIns="0" rIns="0"/>
            <a:lstStyle/>
            <a:p>
              <a:pPr algn="ctr">
                <a:lnSpc>
                  <a:spcPts val="4079"/>
                </a:lnSpc>
              </a:pPr>
              <a:r>
                <a:rPr lang="en-US" sz="3399">
                  <a:solidFill>
                    <a:srgbClr val="FFFFFF"/>
                  </a:solidFill>
                  <a:latin typeface="Calibri (MS)"/>
                  <a:ea typeface="Calibri (MS)"/>
                  <a:cs typeface="Calibri (MS)"/>
                  <a:sym typeface="Calibri (MS)"/>
                </a:rPr>
                <a:t>🏁</a:t>
              </a:r>
            </a:p>
          </p:txBody>
        </p:sp>
      </p:grpSp>
      <p:grpSp>
        <p:nvGrpSpPr>
          <p:cNvPr name="Group 416" id="416"/>
          <p:cNvGrpSpPr/>
          <p:nvPr/>
        </p:nvGrpSpPr>
        <p:grpSpPr>
          <a:xfrm rot="0">
            <a:off x="22302216" y="27152611"/>
            <a:ext cx="8961120" cy="2492237"/>
            <a:chOff x="0" y="0"/>
            <a:chExt cx="11948160" cy="3322983"/>
          </a:xfrm>
        </p:grpSpPr>
        <p:sp>
          <p:nvSpPr>
            <p:cNvPr name="Freeform 417" id="417"/>
            <p:cNvSpPr/>
            <p:nvPr/>
          </p:nvSpPr>
          <p:spPr>
            <a:xfrm flipH="false" flipV="false" rot="0">
              <a:off x="0" y="0"/>
              <a:ext cx="11948160" cy="3322983"/>
            </a:xfrm>
            <a:custGeom>
              <a:avLst/>
              <a:gdLst/>
              <a:ahLst/>
              <a:cxnLst/>
              <a:rect r="r" b="b" t="t" l="l"/>
              <a:pathLst>
                <a:path h="3322983" w="11948160">
                  <a:moveTo>
                    <a:pt x="0" y="0"/>
                  </a:moveTo>
                  <a:lnTo>
                    <a:pt x="11948160" y="0"/>
                  </a:lnTo>
                  <a:lnTo>
                    <a:pt x="11948160" y="3322983"/>
                  </a:lnTo>
                  <a:lnTo>
                    <a:pt x="0" y="3322983"/>
                  </a:lnTo>
                  <a:close/>
                </a:path>
              </a:pathLst>
            </a:custGeom>
            <a:blipFill>
              <a:blip r:embed="rId3">
                <a:alphaModFix amt="0"/>
              </a:blip>
              <a:stretch>
                <a:fillRect l="0" t="-57586" r="0" b="17464"/>
              </a:stretch>
            </a:blipFill>
          </p:spPr>
        </p:sp>
        <p:sp>
          <p:nvSpPr>
            <p:cNvPr name="TextBox 418" id="418"/>
            <p:cNvSpPr txBox="true"/>
            <p:nvPr/>
          </p:nvSpPr>
          <p:spPr>
            <a:xfrm>
              <a:off x="0" y="-9525"/>
              <a:ext cx="11948160" cy="3332508"/>
            </a:xfrm>
            <a:prstGeom prst="rect">
              <a:avLst/>
            </a:prstGeom>
          </p:spPr>
          <p:txBody>
            <a:bodyPr anchor="ctr" rtlCol="false" tIns="0" lIns="0" bIns="0" rIns="0"/>
            <a:lstStyle/>
            <a:p>
              <a:pPr algn="ctr">
                <a:lnSpc>
                  <a:spcPts val="4079"/>
                </a:lnSpc>
              </a:pPr>
              <a:r>
                <a:rPr lang="en-US" sz="3399" b="true">
                  <a:solidFill>
                    <a:srgbClr val="1B2A4A"/>
                  </a:solidFill>
                  <a:latin typeface="Cambria Bold"/>
                  <a:ea typeface="Cambria Bold"/>
                  <a:cs typeface="Cambria Bold"/>
                  <a:sym typeface="Cambria Bold"/>
                </a:rPr>
                <a:t>Conclusion</a:t>
              </a:r>
            </a:p>
          </p:txBody>
        </p:sp>
      </p:grpSp>
      <p:sp>
        <p:nvSpPr>
          <p:cNvPr name="TextBox 419" id="419"/>
          <p:cNvSpPr txBox="true"/>
          <p:nvPr/>
        </p:nvSpPr>
        <p:spPr>
          <a:xfrm rot="0">
            <a:off x="22402800" y="28656915"/>
            <a:ext cx="9692640" cy="5079111"/>
          </a:xfrm>
          <a:prstGeom prst="rect">
            <a:avLst/>
          </a:prstGeom>
        </p:spPr>
        <p:txBody>
          <a:bodyPr anchor="t" rtlCol="false" tIns="0" lIns="0" bIns="0" rIns="0">
            <a:spAutoFit/>
          </a:bodyPr>
          <a:lstStyle/>
          <a:p>
            <a:pPr algn="l">
              <a:lnSpc>
                <a:spcPts val="5742"/>
              </a:lnSpc>
            </a:pPr>
            <a:r>
              <a:rPr lang="en-US" sz="3300">
                <a:solidFill>
                  <a:srgbClr val="1B2A4A"/>
                </a:solidFill>
                <a:latin typeface="Calibri (MS)"/>
                <a:ea typeface="Calibri (MS)"/>
                <a:cs typeface="Calibri (MS)"/>
                <a:sym typeface="Calibri (MS)"/>
              </a:rPr>
              <a:t>This study successfully applied fundamental statistical techniques to employee salary data. Mean and variance provided insights into salary distribution, while visualizations revealed relationships between salary, experience, education, and department — demonstrating how basic data science methods support HR decision-making and organizational planning.</a:t>
            </a:r>
          </a:p>
        </p:txBody>
      </p:sp>
      <p:grpSp>
        <p:nvGrpSpPr>
          <p:cNvPr name="Group 420" id="420"/>
          <p:cNvGrpSpPr/>
          <p:nvPr/>
        </p:nvGrpSpPr>
        <p:grpSpPr>
          <a:xfrm rot="0">
            <a:off x="32912047" y="27791407"/>
            <a:ext cx="10436857" cy="6596377"/>
            <a:chOff x="0" y="0"/>
            <a:chExt cx="13915809" cy="8795169"/>
          </a:xfrm>
        </p:grpSpPr>
        <p:sp>
          <p:nvSpPr>
            <p:cNvPr name="Freeform 421" id="421"/>
            <p:cNvSpPr/>
            <p:nvPr/>
          </p:nvSpPr>
          <p:spPr>
            <a:xfrm flipH="false" flipV="false" rot="0">
              <a:off x="0" y="0"/>
              <a:ext cx="13915898" cy="8795258"/>
            </a:xfrm>
            <a:custGeom>
              <a:avLst/>
              <a:gdLst/>
              <a:ahLst/>
              <a:cxnLst/>
              <a:rect r="r" b="b" t="t" l="l"/>
              <a:pathLst>
                <a:path h="8795258" w="13915898">
                  <a:moveTo>
                    <a:pt x="0" y="109982"/>
                  </a:moveTo>
                  <a:cubicBezTo>
                    <a:pt x="0" y="49276"/>
                    <a:pt x="49276" y="0"/>
                    <a:pt x="109982" y="0"/>
                  </a:cubicBezTo>
                  <a:lnTo>
                    <a:pt x="13805915" y="0"/>
                  </a:lnTo>
                  <a:cubicBezTo>
                    <a:pt x="13866622" y="0"/>
                    <a:pt x="13915898" y="49276"/>
                    <a:pt x="13915898" y="109982"/>
                  </a:cubicBezTo>
                  <a:lnTo>
                    <a:pt x="13915898" y="8685276"/>
                  </a:lnTo>
                  <a:cubicBezTo>
                    <a:pt x="13915898" y="8745982"/>
                    <a:pt x="13866622" y="8795258"/>
                    <a:pt x="13805915" y="8795258"/>
                  </a:cubicBezTo>
                  <a:lnTo>
                    <a:pt x="109982" y="8795258"/>
                  </a:lnTo>
                  <a:cubicBezTo>
                    <a:pt x="49276" y="8795258"/>
                    <a:pt x="0" y="8745982"/>
                    <a:pt x="0" y="8685276"/>
                  </a:cubicBezTo>
                  <a:close/>
                </a:path>
              </a:pathLst>
            </a:custGeom>
            <a:solidFill>
              <a:srgbClr val="EDE6F5"/>
            </a:solidFill>
            <a:ln w="12700" cap="sq">
              <a:solidFill>
                <a:srgbClr val="FFFFFF"/>
              </a:solidFill>
              <a:prstDash val="solid"/>
              <a:miter/>
            </a:ln>
          </p:spPr>
        </p:sp>
      </p:grpSp>
      <p:grpSp>
        <p:nvGrpSpPr>
          <p:cNvPr name="Group 422" id="422"/>
          <p:cNvGrpSpPr/>
          <p:nvPr/>
        </p:nvGrpSpPr>
        <p:grpSpPr>
          <a:xfrm rot="0">
            <a:off x="40965120" y="32004000"/>
            <a:ext cx="2103120" cy="2103120"/>
            <a:chOff x="0" y="0"/>
            <a:chExt cx="2804160" cy="2804160"/>
          </a:xfrm>
        </p:grpSpPr>
        <p:sp>
          <p:nvSpPr>
            <p:cNvPr name="Freeform 423" id="423"/>
            <p:cNvSpPr/>
            <p:nvPr/>
          </p:nvSpPr>
          <p:spPr>
            <a:xfrm flipH="false" flipV="false" rot="0">
              <a:off x="0" y="0"/>
              <a:ext cx="2804160" cy="2804160"/>
            </a:xfrm>
            <a:custGeom>
              <a:avLst/>
              <a:gdLst/>
              <a:ahLst/>
              <a:cxnLst/>
              <a:rect r="r" b="b" t="t" l="l"/>
              <a:pathLst>
                <a:path h="2804160" w="2804160">
                  <a:moveTo>
                    <a:pt x="0" y="0"/>
                  </a:moveTo>
                  <a:lnTo>
                    <a:pt x="2804160" y="0"/>
                  </a:lnTo>
                  <a:lnTo>
                    <a:pt x="2804160" y="2804160"/>
                  </a:lnTo>
                  <a:lnTo>
                    <a:pt x="0" y="2804160"/>
                  </a:lnTo>
                  <a:close/>
                </a:path>
              </a:pathLst>
            </a:custGeom>
            <a:blipFill>
              <a:blip r:embed="rId3">
                <a:alphaModFix amt="0"/>
              </a:blip>
              <a:stretch>
                <a:fillRect l="-78303" t="0" r="-78303" b="0"/>
              </a:stretch>
            </a:blipFill>
          </p:spPr>
        </p:sp>
        <p:sp>
          <p:nvSpPr>
            <p:cNvPr name="TextBox 424" id="424"/>
            <p:cNvSpPr txBox="true"/>
            <p:nvPr/>
          </p:nvSpPr>
          <p:spPr>
            <a:xfrm>
              <a:off x="0" y="-66675"/>
              <a:ext cx="2804160" cy="2870835"/>
            </a:xfrm>
            <a:prstGeom prst="rect">
              <a:avLst/>
            </a:prstGeom>
          </p:spPr>
          <p:txBody>
            <a:bodyPr anchor="ctr" rtlCol="false" tIns="0" lIns="0" bIns="0" rIns="0"/>
            <a:lstStyle/>
            <a:p>
              <a:pPr algn="ctr">
                <a:lnSpc>
                  <a:spcPts val="3959"/>
                </a:lnSpc>
              </a:pPr>
              <a:r>
                <a:rPr lang="en-US" sz="3299">
                  <a:solidFill>
                    <a:srgbClr val="000000"/>
                  </a:solidFill>
                  <a:latin typeface="Calibri (MS)"/>
                  <a:ea typeface="Calibri (MS)"/>
                  <a:cs typeface="Calibri (MS)"/>
                  <a:sym typeface="Calibri (MS)"/>
                </a:rPr>
                <a:t>🚀</a:t>
              </a:r>
            </a:p>
          </p:txBody>
        </p:sp>
      </p:grpSp>
      <p:grpSp>
        <p:nvGrpSpPr>
          <p:cNvPr name="Group 425" id="425"/>
          <p:cNvGrpSpPr/>
          <p:nvPr/>
        </p:nvGrpSpPr>
        <p:grpSpPr>
          <a:xfrm rot="0">
            <a:off x="33192720" y="28053792"/>
            <a:ext cx="566928" cy="566928"/>
            <a:chOff x="0" y="0"/>
            <a:chExt cx="755904" cy="755904"/>
          </a:xfrm>
        </p:grpSpPr>
        <p:sp>
          <p:nvSpPr>
            <p:cNvPr name="Freeform 426" id="426"/>
            <p:cNvSpPr/>
            <p:nvPr/>
          </p:nvSpPr>
          <p:spPr>
            <a:xfrm flipH="false" flipV="false" rot="0">
              <a:off x="0" y="0"/>
              <a:ext cx="755904" cy="755904"/>
            </a:xfrm>
            <a:custGeom>
              <a:avLst/>
              <a:gdLst/>
              <a:ahLst/>
              <a:cxnLst/>
              <a:rect r="r" b="b" t="t" l="l"/>
              <a:pathLst>
                <a:path h="755904" w="755904">
                  <a:moveTo>
                    <a:pt x="0" y="377952"/>
                  </a:moveTo>
                  <a:cubicBezTo>
                    <a:pt x="0" y="169164"/>
                    <a:pt x="169164" y="0"/>
                    <a:pt x="377952" y="0"/>
                  </a:cubicBezTo>
                  <a:cubicBezTo>
                    <a:pt x="586740" y="0"/>
                    <a:pt x="755904" y="169164"/>
                    <a:pt x="755904" y="377952"/>
                  </a:cubicBezTo>
                  <a:cubicBezTo>
                    <a:pt x="755904" y="586740"/>
                    <a:pt x="586740" y="755904"/>
                    <a:pt x="377952" y="755904"/>
                  </a:cubicBezTo>
                  <a:cubicBezTo>
                    <a:pt x="169164" y="755904"/>
                    <a:pt x="0" y="586740"/>
                    <a:pt x="0" y="377952"/>
                  </a:cubicBezTo>
                  <a:close/>
                </a:path>
              </a:pathLst>
            </a:custGeom>
            <a:solidFill>
              <a:srgbClr val="6A4C93"/>
            </a:solidFill>
          </p:spPr>
        </p:sp>
      </p:grpSp>
      <p:grpSp>
        <p:nvGrpSpPr>
          <p:cNvPr name="Group 427" id="427"/>
          <p:cNvGrpSpPr/>
          <p:nvPr/>
        </p:nvGrpSpPr>
        <p:grpSpPr>
          <a:xfrm rot="0">
            <a:off x="33192720" y="28053792"/>
            <a:ext cx="566928" cy="657987"/>
            <a:chOff x="0" y="0"/>
            <a:chExt cx="755904" cy="877316"/>
          </a:xfrm>
        </p:grpSpPr>
        <p:sp>
          <p:nvSpPr>
            <p:cNvPr name="Freeform 428" id="428"/>
            <p:cNvSpPr/>
            <p:nvPr/>
          </p:nvSpPr>
          <p:spPr>
            <a:xfrm flipH="false" flipV="false" rot="0">
              <a:off x="0" y="0"/>
              <a:ext cx="755904" cy="877316"/>
            </a:xfrm>
            <a:custGeom>
              <a:avLst/>
              <a:gdLst/>
              <a:ahLst/>
              <a:cxnLst/>
              <a:rect r="r" b="b" t="t" l="l"/>
              <a:pathLst>
                <a:path h="877316" w="755904">
                  <a:moveTo>
                    <a:pt x="0" y="0"/>
                  </a:moveTo>
                  <a:lnTo>
                    <a:pt x="755904" y="0"/>
                  </a:lnTo>
                  <a:lnTo>
                    <a:pt x="755904" y="877316"/>
                  </a:lnTo>
                  <a:lnTo>
                    <a:pt x="0" y="877316"/>
                  </a:lnTo>
                  <a:close/>
                </a:path>
              </a:pathLst>
            </a:custGeom>
            <a:blipFill>
              <a:blip r:embed="rId3">
                <a:alphaModFix amt="0"/>
              </a:blip>
              <a:stretch>
                <a:fillRect l="-78303" t="0" r="-78303" b="13839"/>
              </a:stretch>
            </a:blipFill>
          </p:spPr>
        </p:sp>
        <p:sp>
          <p:nvSpPr>
            <p:cNvPr name="TextBox 429" id="429"/>
            <p:cNvSpPr txBox="true"/>
            <p:nvPr/>
          </p:nvSpPr>
          <p:spPr>
            <a:xfrm>
              <a:off x="0" y="-66675"/>
              <a:ext cx="755904" cy="943991"/>
            </a:xfrm>
            <a:prstGeom prst="rect">
              <a:avLst/>
            </a:prstGeom>
          </p:spPr>
          <p:txBody>
            <a:bodyPr anchor="ctr" rtlCol="false" tIns="0" lIns="0" bIns="0" rIns="0"/>
            <a:lstStyle/>
            <a:p>
              <a:pPr algn="ctr">
                <a:lnSpc>
                  <a:spcPts val="3959"/>
                </a:lnSpc>
              </a:pPr>
              <a:r>
                <a:rPr lang="en-US" sz="3299">
                  <a:solidFill>
                    <a:srgbClr val="FFFFFF"/>
                  </a:solidFill>
                  <a:latin typeface="Calibri (MS)"/>
                  <a:ea typeface="Calibri (MS)"/>
                  <a:cs typeface="Calibri (MS)"/>
                  <a:sym typeface="Calibri (MS)"/>
                </a:rPr>
                <a:t>🚀</a:t>
              </a:r>
            </a:p>
          </p:txBody>
        </p:sp>
      </p:grpSp>
      <p:grpSp>
        <p:nvGrpSpPr>
          <p:cNvPr name="Group 430" id="430"/>
          <p:cNvGrpSpPr/>
          <p:nvPr/>
        </p:nvGrpSpPr>
        <p:grpSpPr>
          <a:xfrm rot="0">
            <a:off x="32817816" y="27138776"/>
            <a:ext cx="9144000" cy="2415007"/>
            <a:chOff x="0" y="0"/>
            <a:chExt cx="12192000" cy="3220009"/>
          </a:xfrm>
        </p:grpSpPr>
        <p:sp>
          <p:nvSpPr>
            <p:cNvPr name="Freeform 431" id="431"/>
            <p:cNvSpPr/>
            <p:nvPr/>
          </p:nvSpPr>
          <p:spPr>
            <a:xfrm flipH="false" flipV="false" rot="0">
              <a:off x="0" y="0"/>
              <a:ext cx="12192000" cy="3220009"/>
            </a:xfrm>
            <a:custGeom>
              <a:avLst/>
              <a:gdLst/>
              <a:ahLst/>
              <a:cxnLst/>
              <a:rect r="r" b="b" t="t" l="l"/>
              <a:pathLst>
                <a:path h="3220009" w="12192000">
                  <a:moveTo>
                    <a:pt x="0" y="0"/>
                  </a:moveTo>
                  <a:lnTo>
                    <a:pt x="12192000" y="0"/>
                  </a:lnTo>
                  <a:lnTo>
                    <a:pt x="12192000" y="3220009"/>
                  </a:lnTo>
                  <a:lnTo>
                    <a:pt x="0" y="3220009"/>
                  </a:lnTo>
                  <a:close/>
                </a:path>
              </a:pathLst>
            </a:custGeom>
            <a:blipFill>
              <a:blip r:embed="rId3">
                <a:alphaModFix amt="0"/>
              </a:blip>
              <a:stretch>
                <a:fillRect l="0" t="-60903" r="0" b="13349"/>
              </a:stretch>
            </a:blipFill>
          </p:spPr>
        </p:sp>
        <p:sp>
          <p:nvSpPr>
            <p:cNvPr name="TextBox 432" id="432"/>
            <p:cNvSpPr txBox="true"/>
            <p:nvPr/>
          </p:nvSpPr>
          <p:spPr>
            <a:xfrm>
              <a:off x="0" y="-9525"/>
              <a:ext cx="12192000" cy="3229534"/>
            </a:xfrm>
            <a:prstGeom prst="rect">
              <a:avLst/>
            </a:prstGeom>
          </p:spPr>
          <p:txBody>
            <a:bodyPr anchor="ctr" rtlCol="false" tIns="0" lIns="0" bIns="0" rIns="0"/>
            <a:lstStyle/>
            <a:p>
              <a:pPr algn="ctr">
                <a:lnSpc>
                  <a:spcPts val="3959"/>
                </a:lnSpc>
              </a:pPr>
              <a:r>
                <a:rPr lang="en-US" sz="3299" b="true">
                  <a:solidFill>
                    <a:srgbClr val="1B2A4A"/>
                  </a:solidFill>
                  <a:latin typeface="Cambria Bold"/>
                  <a:ea typeface="Cambria Bold"/>
                  <a:cs typeface="Cambria Bold"/>
                  <a:sym typeface="Cambria Bold"/>
                </a:rPr>
                <a:t>Future Scope</a:t>
              </a:r>
            </a:p>
          </p:txBody>
        </p:sp>
      </p:grpSp>
      <p:grpSp>
        <p:nvGrpSpPr>
          <p:cNvPr name="Group 433" id="433"/>
          <p:cNvGrpSpPr/>
          <p:nvPr/>
        </p:nvGrpSpPr>
        <p:grpSpPr>
          <a:xfrm rot="0">
            <a:off x="33192720" y="29279088"/>
            <a:ext cx="365760" cy="365760"/>
            <a:chOff x="0" y="0"/>
            <a:chExt cx="487680" cy="487680"/>
          </a:xfrm>
        </p:grpSpPr>
        <p:sp>
          <p:nvSpPr>
            <p:cNvPr name="Freeform 434" id="434"/>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6A4C93"/>
            </a:solidFill>
          </p:spPr>
        </p:sp>
      </p:grpSp>
      <p:grpSp>
        <p:nvGrpSpPr>
          <p:cNvPr name="Group 435" id="435"/>
          <p:cNvGrpSpPr/>
          <p:nvPr/>
        </p:nvGrpSpPr>
        <p:grpSpPr>
          <a:xfrm rot="0">
            <a:off x="33787080" y="28940760"/>
            <a:ext cx="9235440" cy="1042416"/>
            <a:chOff x="0" y="0"/>
            <a:chExt cx="12313920" cy="1389888"/>
          </a:xfrm>
        </p:grpSpPr>
        <p:sp>
          <p:nvSpPr>
            <p:cNvPr name="Freeform 436" id="436"/>
            <p:cNvSpPr/>
            <p:nvPr/>
          </p:nvSpPr>
          <p:spPr>
            <a:xfrm flipH="false" flipV="false" rot="0">
              <a:off x="0" y="0"/>
              <a:ext cx="12313920" cy="1389888"/>
            </a:xfrm>
            <a:custGeom>
              <a:avLst/>
              <a:gdLst/>
              <a:ahLst/>
              <a:cxnLst/>
              <a:rect r="r" b="b" t="t" l="l"/>
              <a:pathLst>
                <a:path h="1389888" w="12313920">
                  <a:moveTo>
                    <a:pt x="0" y="0"/>
                  </a:moveTo>
                  <a:lnTo>
                    <a:pt x="12313920" y="0"/>
                  </a:lnTo>
                  <a:lnTo>
                    <a:pt x="12313920" y="1389888"/>
                  </a:lnTo>
                  <a:lnTo>
                    <a:pt x="0" y="1389888"/>
                  </a:lnTo>
                  <a:close/>
                </a:path>
              </a:pathLst>
            </a:custGeom>
            <a:blipFill>
              <a:blip r:embed="rId3">
                <a:alphaModFix amt="0"/>
              </a:blip>
              <a:stretch>
                <a:fillRect l="0" t="-122630" r="0" b="-122630"/>
              </a:stretch>
            </a:blipFill>
          </p:spPr>
        </p:sp>
        <p:sp>
          <p:nvSpPr>
            <p:cNvPr name="TextBox 437" id="437"/>
            <p:cNvSpPr txBox="true"/>
            <p:nvPr/>
          </p:nvSpPr>
          <p:spPr>
            <a:xfrm>
              <a:off x="0" y="-114300"/>
              <a:ext cx="12313920" cy="1504188"/>
            </a:xfrm>
            <a:prstGeom prst="rect">
              <a:avLst/>
            </a:prstGeom>
          </p:spPr>
          <p:txBody>
            <a:bodyPr anchor="ctr" rtlCol="false" tIns="0" lIns="0" bIns="0" rIns="0"/>
            <a:lstStyle/>
            <a:p>
              <a:pPr algn="l">
                <a:lnSpc>
                  <a:spcPts val="4435"/>
                </a:lnSpc>
              </a:pPr>
              <a:r>
                <a:rPr lang="en-US" sz="3299">
                  <a:solidFill>
                    <a:srgbClr val="1B2A4A"/>
                  </a:solidFill>
                  <a:latin typeface="Calibri (MS)"/>
                  <a:ea typeface="Calibri (MS)"/>
                  <a:cs typeface="Calibri (MS)"/>
                  <a:sym typeface="Calibri (MS)"/>
                </a:rPr>
                <a:t>Salary prediction using Machine Learning</a:t>
              </a:r>
            </a:p>
          </p:txBody>
        </p:sp>
      </p:grpSp>
      <p:grpSp>
        <p:nvGrpSpPr>
          <p:cNvPr name="Group 438" id="438"/>
          <p:cNvGrpSpPr/>
          <p:nvPr/>
        </p:nvGrpSpPr>
        <p:grpSpPr>
          <a:xfrm rot="0">
            <a:off x="33192720" y="30321504"/>
            <a:ext cx="365760" cy="365760"/>
            <a:chOff x="0" y="0"/>
            <a:chExt cx="487680" cy="487680"/>
          </a:xfrm>
        </p:grpSpPr>
        <p:sp>
          <p:nvSpPr>
            <p:cNvPr name="Freeform 439" id="439"/>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6A4C93"/>
            </a:solidFill>
          </p:spPr>
        </p:sp>
      </p:grpSp>
      <p:grpSp>
        <p:nvGrpSpPr>
          <p:cNvPr name="Group 440" id="440"/>
          <p:cNvGrpSpPr/>
          <p:nvPr/>
        </p:nvGrpSpPr>
        <p:grpSpPr>
          <a:xfrm rot="0">
            <a:off x="33787080" y="29983176"/>
            <a:ext cx="9235440" cy="1042416"/>
            <a:chOff x="0" y="0"/>
            <a:chExt cx="12313920" cy="1389888"/>
          </a:xfrm>
        </p:grpSpPr>
        <p:sp>
          <p:nvSpPr>
            <p:cNvPr name="Freeform 441" id="441"/>
            <p:cNvSpPr/>
            <p:nvPr/>
          </p:nvSpPr>
          <p:spPr>
            <a:xfrm flipH="false" flipV="false" rot="0">
              <a:off x="0" y="0"/>
              <a:ext cx="12313920" cy="1389888"/>
            </a:xfrm>
            <a:custGeom>
              <a:avLst/>
              <a:gdLst/>
              <a:ahLst/>
              <a:cxnLst/>
              <a:rect r="r" b="b" t="t" l="l"/>
              <a:pathLst>
                <a:path h="1389888" w="12313920">
                  <a:moveTo>
                    <a:pt x="0" y="0"/>
                  </a:moveTo>
                  <a:lnTo>
                    <a:pt x="12313920" y="0"/>
                  </a:lnTo>
                  <a:lnTo>
                    <a:pt x="12313920" y="1389888"/>
                  </a:lnTo>
                  <a:lnTo>
                    <a:pt x="0" y="1389888"/>
                  </a:lnTo>
                  <a:close/>
                </a:path>
              </a:pathLst>
            </a:custGeom>
            <a:blipFill>
              <a:blip r:embed="rId3">
                <a:alphaModFix amt="0"/>
              </a:blip>
              <a:stretch>
                <a:fillRect l="0" t="-122630" r="0" b="-122630"/>
              </a:stretch>
            </a:blipFill>
          </p:spPr>
        </p:sp>
        <p:sp>
          <p:nvSpPr>
            <p:cNvPr name="TextBox 442" id="442"/>
            <p:cNvSpPr txBox="true"/>
            <p:nvPr/>
          </p:nvSpPr>
          <p:spPr>
            <a:xfrm>
              <a:off x="0" y="-114300"/>
              <a:ext cx="12313920" cy="1504188"/>
            </a:xfrm>
            <a:prstGeom prst="rect">
              <a:avLst/>
            </a:prstGeom>
          </p:spPr>
          <p:txBody>
            <a:bodyPr anchor="ctr" rtlCol="false" tIns="0" lIns="0" bIns="0" rIns="0"/>
            <a:lstStyle/>
            <a:p>
              <a:pPr algn="l">
                <a:lnSpc>
                  <a:spcPts val="4435"/>
                </a:lnSpc>
              </a:pPr>
              <a:r>
                <a:rPr lang="en-US" sz="3299">
                  <a:solidFill>
                    <a:srgbClr val="1B2A4A"/>
                  </a:solidFill>
                  <a:latin typeface="Calibri (MS)"/>
                  <a:ea typeface="Calibri (MS)"/>
                  <a:cs typeface="Calibri (MS)"/>
                  <a:sym typeface="Calibri (MS)"/>
                </a:rPr>
                <a:t>Performance-based compensation analysis</a:t>
              </a:r>
            </a:p>
          </p:txBody>
        </p:sp>
      </p:grpSp>
      <p:grpSp>
        <p:nvGrpSpPr>
          <p:cNvPr name="Group 443" id="443"/>
          <p:cNvGrpSpPr/>
          <p:nvPr/>
        </p:nvGrpSpPr>
        <p:grpSpPr>
          <a:xfrm rot="0">
            <a:off x="33192720" y="31363920"/>
            <a:ext cx="365760" cy="365760"/>
            <a:chOff x="0" y="0"/>
            <a:chExt cx="487680" cy="487680"/>
          </a:xfrm>
        </p:grpSpPr>
        <p:sp>
          <p:nvSpPr>
            <p:cNvPr name="Freeform 444" id="444"/>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6A4C93"/>
            </a:solidFill>
          </p:spPr>
        </p:sp>
      </p:grpSp>
      <p:grpSp>
        <p:nvGrpSpPr>
          <p:cNvPr name="Group 445" id="445"/>
          <p:cNvGrpSpPr/>
          <p:nvPr/>
        </p:nvGrpSpPr>
        <p:grpSpPr>
          <a:xfrm rot="0">
            <a:off x="33787080" y="31025592"/>
            <a:ext cx="9235440" cy="1042416"/>
            <a:chOff x="0" y="0"/>
            <a:chExt cx="12313920" cy="1389888"/>
          </a:xfrm>
        </p:grpSpPr>
        <p:sp>
          <p:nvSpPr>
            <p:cNvPr name="Freeform 446" id="446"/>
            <p:cNvSpPr/>
            <p:nvPr/>
          </p:nvSpPr>
          <p:spPr>
            <a:xfrm flipH="false" flipV="false" rot="0">
              <a:off x="0" y="0"/>
              <a:ext cx="12313920" cy="1389888"/>
            </a:xfrm>
            <a:custGeom>
              <a:avLst/>
              <a:gdLst/>
              <a:ahLst/>
              <a:cxnLst/>
              <a:rect r="r" b="b" t="t" l="l"/>
              <a:pathLst>
                <a:path h="1389888" w="12313920">
                  <a:moveTo>
                    <a:pt x="0" y="0"/>
                  </a:moveTo>
                  <a:lnTo>
                    <a:pt x="12313920" y="0"/>
                  </a:lnTo>
                  <a:lnTo>
                    <a:pt x="12313920" y="1389888"/>
                  </a:lnTo>
                  <a:lnTo>
                    <a:pt x="0" y="1389888"/>
                  </a:lnTo>
                  <a:close/>
                </a:path>
              </a:pathLst>
            </a:custGeom>
            <a:blipFill>
              <a:blip r:embed="rId3">
                <a:alphaModFix amt="0"/>
              </a:blip>
              <a:stretch>
                <a:fillRect l="0" t="-122630" r="0" b="-122630"/>
              </a:stretch>
            </a:blipFill>
          </p:spPr>
        </p:sp>
        <p:sp>
          <p:nvSpPr>
            <p:cNvPr name="TextBox 447" id="447"/>
            <p:cNvSpPr txBox="true"/>
            <p:nvPr/>
          </p:nvSpPr>
          <p:spPr>
            <a:xfrm>
              <a:off x="0" y="-114300"/>
              <a:ext cx="12313920" cy="1504188"/>
            </a:xfrm>
            <a:prstGeom prst="rect">
              <a:avLst/>
            </a:prstGeom>
          </p:spPr>
          <p:txBody>
            <a:bodyPr anchor="ctr" rtlCol="false" tIns="0" lIns="0" bIns="0" rIns="0"/>
            <a:lstStyle/>
            <a:p>
              <a:pPr algn="l">
                <a:lnSpc>
                  <a:spcPts val="4435"/>
                </a:lnSpc>
              </a:pPr>
              <a:r>
                <a:rPr lang="en-US" sz="3299">
                  <a:solidFill>
                    <a:srgbClr val="1B2A4A"/>
                  </a:solidFill>
                  <a:latin typeface="Calibri (MS)"/>
                  <a:ea typeface="Calibri (MS)"/>
                  <a:cs typeface="Calibri (MS)"/>
                  <a:sym typeface="Calibri (MS)"/>
                </a:rPr>
                <a:t>Salary forecasting with regression models</a:t>
              </a:r>
            </a:p>
          </p:txBody>
        </p:sp>
      </p:grpSp>
      <p:grpSp>
        <p:nvGrpSpPr>
          <p:cNvPr name="Group 448" id="448"/>
          <p:cNvGrpSpPr/>
          <p:nvPr/>
        </p:nvGrpSpPr>
        <p:grpSpPr>
          <a:xfrm rot="0">
            <a:off x="33192720" y="32406336"/>
            <a:ext cx="365760" cy="365760"/>
            <a:chOff x="0" y="0"/>
            <a:chExt cx="487680" cy="487680"/>
          </a:xfrm>
        </p:grpSpPr>
        <p:sp>
          <p:nvSpPr>
            <p:cNvPr name="Freeform 449" id="449"/>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6A4C93"/>
            </a:solidFill>
          </p:spPr>
        </p:sp>
      </p:grpSp>
      <p:grpSp>
        <p:nvGrpSpPr>
          <p:cNvPr name="Group 450" id="450"/>
          <p:cNvGrpSpPr/>
          <p:nvPr/>
        </p:nvGrpSpPr>
        <p:grpSpPr>
          <a:xfrm rot="0">
            <a:off x="33787080" y="32068008"/>
            <a:ext cx="9235440" cy="1042416"/>
            <a:chOff x="0" y="0"/>
            <a:chExt cx="12313920" cy="1389888"/>
          </a:xfrm>
        </p:grpSpPr>
        <p:sp>
          <p:nvSpPr>
            <p:cNvPr name="Freeform 451" id="451"/>
            <p:cNvSpPr/>
            <p:nvPr/>
          </p:nvSpPr>
          <p:spPr>
            <a:xfrm flipH="false" flipV="false" rot="0">
              <a:off x="0" y="0"/>
              <a:ext cx="12313920" cy="1389888"/>
            </a:xfrm>
            <a:custGeom>
              <a:avLst/>
              <a:gdLst/>
              <a:ahLst/>
              <a:cxnLst/>
              <a:rect r="r" b="b" t="t" l="l"/>
              <a:pathLst>
                <a:path h="1389888" w="12313920">
                  <a:moveTo>
                    <a:pt x="0" y="0"/>
                  </a:moveTo>
                  <a:lnTo>
                    <a:pt x="12313920" y="0"/>
                  </a:lnTo>
                  <a:lnTo>
                    <a:pt x="12313920" y="1389888"/>
                  </a:lnTo>
                  <a:lnTo>
                    <a:pt x="0" y="1389888"/>
                  </a:lnTo>
                  <a:close/>
                </a:path>
              </a:pathLst>
            </a:custGeom>
            <a:blipFill>
              <a:blip r:embed="rId3">
                <a:alphaModFix amt="0"/>
              </a:blip>
              <a:stretch>
                <a:fillRect l="0" t="-122630" r="0" b="-122630"/>
              </a:stretch>
            </a:blipFill>
          </p:spPr>
        </p:sp>
        <p:sp>
          <p:nvSpPr>
            <p:cNvPr name="TextBox 452" id="452"/>
            <p:cNvSpPr txBox="true"/>
            <p:nvPr/>
          </p:nvSpPr>
          <p:spPr>
            <a:xfrm>
              <a:off x="0" y="-114300"/>
              <a:ext cx="12313920" cy="1504188"/>
            </a:xfrm>
            <a:prstGeom prst="rect">
              <a:avLst/>
            </a:prstGeom>
          </p:spPr>
          <p:txBody>
            <a:bodyPr anchor="ctr" rtlCol="false" tIns="0" lIns="0" bIns="0" rIns="0"/>
            <a:lstStyle/>
            <a:p>
              <a:pPr algn="l">
                <a:lnSpc>
                  <a:spcPts val="4435"/>
                </a:lnSpc>
              </a:pPr>
              <a:r>
                <a:rPr lang="en-US" sz="3299">
                  <a:solidFill>
                    <a:srgbClr val="1B2A4A"/>
                  </a:solidFill>
                  <a:latin typeface="Calibri (MS)"/>
                  <a:ea typeface="Calibri (MS)"/>
                  <a:cs typeface="Calibri (MS)"/>
                  <a:sym typeface="Calibri (MS)"/>
                </a:rPr>
                <a:t>Interactive HR dashboard development</a:t>
              </a:r>
            </a:p>
          </p:txBody>
        </p:sp>
      </p:grpSp>
      <p:grpSp>
        <p:nvGrpSpPr>
          <p:cNvPr name="Group 453" id="453"/>
          <p:cNvGrpSpPr/>
          <p:nvPr/>
        </p:nvGrpSpPr>
        <p:grpSpPr>
          <a:xfrm rot="0">
            <a:off x="33192720" y="33448752"/>
            <a:ext cx="365760" cy="365760"/>
            <a:chOff x="0" y="0"/>
            <a:chExt cx="487680" cy="487680"/>
          </a:xfrm>
        </p:grpSpPr>
        <p:sp>
          <p:nvSpPr>
            <p:cNvPr name="Freeform 454" id="454"/>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6A4C93"/>
            </a:solidFill>
          </p:spPr>
        </p:sp>
      </p:grpSp>
      <p:grpSp>
        <p:nvGrpSpPr>
          <p:cNvPr name="Group 455" id="455"/>
          <p:cNvGrpSpPr/>
          <p:nvPr/>
        </p:nvGrpSpPr>
        <p:grpSpPr>
          <a:xfrm rot="0">
            <a:off x="33787080" y="33110424"/>
            <a:ext cx="9235440" cy="1042416"/>
            <a:chOff x="0" y="0"/>
            <a:chExt cx="12313920" cy="1389888"/>
          </a:xfrm>
        </p:grpSpPr>
        <p:sp>
          <p:nvSpPr>
            <p:cNvPr name="Freeform 456" id="456"/>
            <p:cNvSpPr/>
            <p:nvPr/>
          </p:nvSpPr>
          <p:spPr>
            <a:xfrm flipH="false" flipV="false" rot="0">
              <a:off x="0" y="0"/>
              <a:ext cx="12313920" cy="1389888"/>
            </a:xfrm>
            <a:custGeom>
              <a:avLst/>
              <a:gdLst/>
              <a:ahLst/>
              <a:cxnLst/>
              <a:rect r="r" b="b" t="t" l="l"/>
              <a:pathLst>
                <a:path h="1389888" w="12313920">
                  <a:moveTo>
                    <a:pt x="0" y="0"/>
                  </a:moveTo>
                  <a:lnTo>
                    <a:pt x="12313920" y="0"/>
                  </a:lnTo>
                  <a:lnTo>
                    <a:pt x="12313920" y="1389888"/>
                  </a:lnTo>
                  <a:lnTo>
                    <a:pt x="0" y="1389888"/>
                  </a:lnTo>
                  <a:close/>
                </a:path>
              </a:pathLst>
            </a:custGeom>
            <a:blipFill>
              <a:blip r:embed="rId3">
                <a:alphaModFix amt="0"/>
              </a:blip>
              <a:stretch>
                <a:fillRect l="0" t="-122630" r="0" b="-122630"/>
              </a:stretch>
            </a:blipFill>
          </p:spPr>
        </p:sp>
        <p:sp>
          <p:nvSpPr>
            <p:cNvPr name="TextBox 457" id="457"/>
            <p:cNvSpPr txBox="true"/>
            <p:nvPr/>
          </p:nvSpPr>
          <p:spPr>
            <a:xfrm>
              <a:off x="0" y="-114300"/>
              <a:ext cx="12313920" cy="1504188"/>
            </a:xfrm>
            <a:prstGeom prst="rect">
              <a:avLst/>
            </a:prstGeom>
          </p:spPr>
          <p:txBody>
            <a:bodyPr anchor="ctr" rtlCol="false" tIns="0" lIns="0" bIns="0" rIns="0"/>
            <a:lstStyle/>
            <a:p>
              <a:pPr algn="l">
                <a:lnSpc>
                  <a:spcPts val="4435"/>
                </a:lnSpc>
              </a:pPr>
              <a:r>
                <a:rPr lang="en-US" sz="3299">
                  <a:solidFill>
                    <a:srgbClr val="1B2A4A"/>
                  </a:solidFill>
                  <a:latin typeface="Calibri (MS)"/>
                  <a:ea typeface="Calibri (MS)"/>
                  <a:cs typeface="Calibri (MS)"/>
                  <a:sym typeface="Calibri (MS)"/>
                </a:rPr>
                <a:t>Attrition &amp; retention analysis</a:t>
              </a:r>
            </a:p>
          </p:txBody>
        </p:sp>
      </p:grpSp>
      <p:grpSp>
        <p:nvGrpSpPr>
          <p:cNvPr name="Group 458" id="458"/>
          <p:cNvGrpSpPr/>
          <p:nvPr/>
        </p:nvGrpSpPr>
        <p:grpSpPr>
          <a:xfrm rot="0">
            <a:off x="40295606" y="60960"/>
            <a:ext cx="2720561" cy="3200400"/>
            <a:chOff x="0" y="0"/>
            <a:chExt cx="2147354" cy="2526094"/>
          </a:xfrm>
        </p:grpSpPr>
        <p:sp>
          <p:nvSpPr>
            <p:cNvPr name="Freeform 459" id="459"/>
            <p:cNvSpPr/>
            <p:nvPr/>
          </p:nvSpPr>
          <p:spPr>
            <a:xfrm flipH="false" flipV="false" rot="0">
              <a:off x="0" y="0"/>
              <a:ext cx="2147316" cy="2526157"/>
            </a:xfrm>
            <a:custGeom>
              <a:avLst/>
              <a:gdLst/>
              <a:ahLst/>
              <a:cxnLst/>
              <a:rect r="r" b="b" t="t" l="l"/>
              <a:pathLst>
                <a:path h="2526157" w="2147316">
                  <a:moveTo>
                    <a:pt x="0" y="0"/>
                  </a:moveTo>
                  <a:lnTo>
                    <a:pt x="2147316" y="0"/>
                  </a:lnTo>
                  <a:lnTo>
                    <a:pt x="2147316" y="2526157"/>
                  </a:lnTo>
                  <a:lnTo>
                    <a:pt x="0" y="2526157"/>
                  </a:lnTo>
                  <a:close/>
                </a:path>
              </a:pathLst>
            </a:custGeom>
            <a:blipFill>
              <a:blip r:embed="rId11"/>
              <a:stretch>
                <a:fillRect l="0" t="-59" r="-1" b="-56"/>
              </a:stretch>
            </a:blipFill>
          </p:spPr>
        </p:sp>
      </p:grpSp>
      <p:grpSp>
        <p:nvGrpSpPr>
          <p:cNvPr name="Group 460" id="460"/>
          <p:cNvGrpSpPr/>
          <p:nvPr/>
        </p:nvGrpSpPr>
        <p:grpSpPr>
          <a:xfrm rot="0">
            <a:off x="0" y="0"/>
            <a:ext cx="3786316" cy="3347187"/>
            <a:chOff x="0" y="0"/>
            <a:chExt cx="2857500" cy="2526094"/>
          </a:xfrm>
        </p:grpSpPr>
        <p:sp>
          <p:nvSpPr>
            <p:cNvPr name="Freeform 461" id="461"/>
            <p:cNvSpPr/>
            <p:nvPr/>
          </p:nvSpPr>
          <p:spPr>
            <a:xfrm flipH="false" flipV="false" rot="0">
              <a:off x="0" y="0"/>
              <a:ext cx="2857500" cy="2526157"/>
            </a:xfrm>
            <a:custGeom>
              <a:avLst/>
              <a:gdLst/>
              <a:ahLst/>
              <a:cxnLst/>
              <a:rect r="r" b="b" t="t" l="l"/>
              <a:pathLst>
                <a:path h="2526157" w="2857500">
                  <a:moveTo>
                    <a:pt x="0" y="0"/>
                  </a:moveTo>
                  <a:lnTo>
                    <a:pt x="2857500" y="0"/>
                  </a:lnTo>
                  <a:lnTo>
                    <a:pt x="2857500" y="2526157"/>
                  </a:lnTo>
                  <a:lnTo>
                    <a:pt x="0" y="2526157"/>
                  </a:lnTo>
                  <a:close/>
                </a:path>
              </a:pathLst>
            </a:custGeom>
            <a:blipFill>
              <a:blip r:embed="rId12"/>
              <a:stretch>
                <a:fillRect l="-39" t="0" r="-39" b="2"/>
              </a:stretch>
            </a:blipFill>
          </p:spPr>
        </p:sp>
      </p:grpSp>
      <p:sp>
        <p:nvSpPr>
          <p:cNvPr name="TextBox 462" id="462"/>
          <p:cNvSpPr txBox="true"/>
          <p:nvPr/>
        </p:nvSpPr>
        <p:spPr>
          <a:xfrm rot="0">
            <a:off x="4838700" y="2317041"/>
            <a:ext cx="14737081" cy="679451"/>
          </a:xfrm>
          <a:prstGeom prst="rect">
            <a:avLst/>
          </a:prstGeom>
        </p:spPr>
        <p:txBody>
          <a:bodyPr anchor="t" rtlCol="false" tIns="0" lIns="0" bIns="0" rIns="0">
            <a:spAutoFit/>
          </a:bodyPr>
          <a:lstStyle/>
          <a:p>
            <a:pPr algn="ctr">
              <a:lnSpc>
                <a:spcPts val="5599"/>
              </a:lnSpc>
            </a:pPr>
            <a:r>
              <a:rPr lang="en-US" sz="3999">
                <a:solidFill>
                  <a:srgbClr val="000000"/>
                </a:solidFill>
                <a:latin typeface="Guild A Display"/>
                <a:ea typeface="Guild A Display"/>
                <a:cs typeface="Guild A Display"/>
                <a:sym typeface="Guild A Display"/>
              </a:rPr>
              <a:t>Jeya Harshini R                          192424051                     B.tech AI&amp;DS           </a:t>
            </a:r>
          </a:p>
        </p:txBody>
      </p:sp>
      <p:sp>
        <p:nvSpPr>
          <p:cNvPr name="TextBox 463" id="463"/>
          <p:cNvSpPr txBox="true"/>
          <p:nvPr/>
        </p:nvSpPr>
        <p:spPr>
          <a:xfrm rot="0">
            <a:off x="16094750" y="221541"/>
            <a:ext cx="10282833" cy="672466"/>
          </a:xfrm>
          <a:prstGeom prst="rect">
            <a:avLst/>
          </a:prstGeom>
        </p:spPr>
        <p:txBody>
          <a:bodyPr anchor="t" rtlCol="false" tIns="0" lIns="0" bIns="0" rIns="0">
            <a:spAutoFit/>
          </a:bodyPr>
          <a:lstStyle/>
          <a:p>
            <a:pPr algn="ctr">
              <a:lnSpc>
                <a:spcPts val="5459"/>
              </a:lnSpc>
            </a:pPr>
            <a:r>
              <a:rPr lang="en-US" sz="3899" b="true">
                <a:solidFill>
                  <a:srgbClr val="000000"/>
                </a:solidFill>
                <a:latin typeface="Guild A Display Bold"/>
                <a:ea typeface="Guild A Display Bold"/>
                <a:cs typeface="Guild A Display Bold"/>
                <a:sym typeface="Guild A Display Bold"/>
              </a:rPr>
              <a:t>DSA0405- FUNDAMENTALS OF DATA SCIENCE</a:t>
            </a:r>
          </a:p>
        </p:txBody>
      </p:sp>
      <p:sp>
        <p:nvSpPr>
          <p:cNvPr name="TextBox 464" id="464"/>
          <p:cNvSpPr txBox="true"/>
          <p:nvPr/>
        </p:nvSpPr>
        <p:spPr>
          <a:xfrm rot="0">
            <a:off x="31446818" y="2317041"/>
            <a:ext cx="7670602" cy="679451"/>
          </a:xfrm>
          <a:prstGeom prst="rect">
            <a:avLst/>
          </a:prstGeom>
        </p:spPr>
        <p:txBody>
          <a:bodyPr anchor="t" rtlCol="false" tIns="0" lIns="0" bIns="0" rIns="0">
            <a:spAutoFit/>
          </a:bodyPr>
          <a:lstStyle/>
          <a:p>
            <a:pPr algn="ctr">
              <a:lnSpc>
                <a:spcPts val="5599"/>
              </a:lnSpc>
            </a:pPr>
            <a:r>
              <a:rPr lang="en-US" sz="3999">
                <a:solidFill>
                  <a:srgbClr val="000000"/>
                </a:solidFill>
                <a:latin typeface="Guild A Display"/>
                <a:ea typeface="Guild A Display"/>
                <a:cs typeface="Guild A Display"/>
                <a:sym typeface="Guild A Display"/>
              </a:rPr>
              <a:t>SUBMITTED TO: DR KRISHNARAJ 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DAHSn3rzynM</dc:identifier>
  <dcterms:modified xsi:type="dcterms:W3CDTF">2011-08-01T06:04:30Z</dcterms:modified>
  <cp:revision>1</cp:revision>
  <dc:title>Employee_Salary_Analysis_Poster (1).pptx</dc:title>
</cp:coreProperties>
</file>